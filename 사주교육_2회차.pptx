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82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429500" y="-1143000"/>
            <a:ext cx="5905500" cy="5905500"/>
          </a:xfrm>
          <a:prstGeom prst="ellipse">
            <a:avLst/>
          </a:prstGeom>
          <a:solidFill>
            <a:srgbClr val="C8B8E0">
              <a:alpha val="22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1524000" y="3619500"/>
            <a:ext cx="5334000" cy="5334000"/>
          </a:xfrm>
          <a:prstGeom prst="ellipse">
            <a:avLst/>
          </a:prstGeom>
          <a:solidFill>
            <a:srgbClr val="A7E5D3">
              <a:alpha val="18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5334000" y="2857500"/>
            <a:ext cx="4572000" cy="4572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</p:sp>
      <p:sp>
        <p:nvSpPr>
          <p:cNvPr id="5" name="Text 5"/>
          <p:cNvSpPr/>
          <p:nvPr/>
        </p:nvSpPr>
        <p:spPr>
          <a:xfrm>
            <a:off x="762000" y="5334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952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spc="400" dirty="0">
                <a:solidFill>
                  <a:srgbClr val="A7E5D3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SAJU TEACHER COURSE · SESSION 02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667000"/>
            <a:ext cx="10668000" cy="1809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시간의 흐름을 읽는 눈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대운과 세운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462915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운(運)은 사주라는 자동차가 달리는 길이다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5295900"/>
            <a:ext cx="4953000" cy="400050"/>
          </a:xfrm>
          <a:prstGeom prst="roundRect">
            <a:avLst>
              <a:gd name="adj" fmla="val 50000"/>
            </a:avLst>
          </a:prstGeom>
          <a:solidFill>
            <a:srgbClr val="1C1917"/>
          </a:solidFill>
          <a:ln/>
        </p:spPr>
      </p:sp>
      <p:sp>
        <p:nvSpPr>
          <p:cNvPr id="10" name="Text 10"/>
          <p:cNvSpPr/>
          <p:nvPr/>
        </p:nvSpPr>
        <p:spPr>
          <a:xfrm>
            <a:off x="762000" y="5295900"/>
            <a:ext cx="4953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spc="50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2회차 · 대운·세운 읽는 법</a:t>
            </a:r>
          </a:p>
        </p:txBody>
      </p:sp>
      <p:sp>
        <p:nvSpPr>
          <p:cNvPr id="11" name="Shape 1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 티처 양성과정</a:t>
            </a:r>
          </a:p>
        </p:txBody>
      </p:sp>
      <p:sp>
        <p:nvSpPr>
          <p:cNvPr id="13" name="Text 1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입문자 대상 · 전 3회차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AGENDA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COURSE OVERVIEW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2회차 강의 목차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오늘 따라갈 다섯 개의 흐름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50820"/>
            <a:ext cx="609600" cy="6096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</p:sp>
      <p:sp>
        <p:nvSpPr>
          <p:cNvPr id="9" name="Text 9"/>
          <p:cNvSpPr/>
          <p:nvPr/>
        </p:nvSpPr>
        <p:spPr>
          <a:xfrm>
            <a:off x="762000" y="27508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0" name="Text 10"/>
          <p:cNvSpPr/>
          <p:nvPr/>
        </p:nvSpPr>
        <p:spPr>
          <a:xfrm>
            <a:off x="1600200" y="274320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사주와 운의 관계</a:t>
            </a:r>
          </a:p>
        </p:txBody>
      </p:sp>
      <p:sp>
        <p:nvSpPr>
          <p:cNvPr id="11" name="Text 11"/>
          <p:cNvSpPr/>
          <p:nvPr/>
        </p:nvSpPr>
        <p:spPr>
          <a:xfrm>
            <a:off x="1600200" y="305562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원국은 자동차, 운은 도로 — 왜 운을 함께 봐야 하나</a:t>
            </a:r>
          </a:p>
        </p:txBody>
      </p:sp>
      <p:sp>
        <p:nvSpPr>
          <p:cNvPr id="12" name="Shape 12"/>
          <p:cNvSpPr/>
          <p:nvPr/>
        </p:nvSpPr>
        <p:spPr>
          <a:xfrm>
            <a:off x="1600200" y="340614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762000" y="3451860"/>
            <a:ext cx="609600" cy="6096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</p:sp>
      <p:sp>
        <p:nvSpPr>
          <p:cNvPr id="14" name="Text 14"/>
          <p:cNvSpPr/>
          <p:nvPr/>
        </p:nvSpPr>
        <p:spPr>
          <a:xfrm>
            <a:off x="762000" y="34518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5" name="Text 15"/>
          <p:cNvSpPr/>
          <p:nvPr/>
        </p:nvSpPr>
        <p:spPr>
          <a:xfrm>
            <a:off x="1600200" y="344424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대운(大運)</a:t>
            </a:r>
          </a:p>
        </p:txBody>
      </p:sp>
      <p:sp>
        <p:nvSpPr>
          <p:cNvPr id="16" name="Text 16"/>
          <p:cNvSpPr/>
          <p:nvPr/>
        </p:nvSpPr>
        <p:spPr>
          <a:xfrm>
            <a:off x="1600200" y="375666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10년마다 바뀌는 삶의 큰 환경</a:t>
            </a:r>
          </a:p>
        </p:txBody>
      </p:sp>
      <p:sp>
        <p:nvSpPr>
          <p:cNvPr id="17" name="Shape 17"/>
          <p:cNvSpPr/>
          <p:nvPr/>
        </p:nvSpPr>
        <p:spPr>
          <a:xfrm>
            <a:off x="1600200" y="410718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762000" y="4152900"/>
            <a:ext cx="609600" cy="6096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</p:sp>
      <p:sp>
        <p:nvSpPr>
          <p:cNvPr id="19" name="Text 19"/>
          <p:cNvSpPr/>
          <p:nvPr/>
        </p:nvSpPr>
        <p:spPr>
          <a:xfrm>
            <a:off x="762000" y="41529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0" name="Text 20"/>
          <p:cNvSpPr/>
          <p:nvPr/>
        </p:nvSpPr>
        <p:spPr>
          <a:xfrm>
            <a:off x="1600200" y="414528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세운(歲運)</a:t>
            </a:r>
          </a:p>
        </p:txBody>
      </p:sp>
      <p:sp>
        <p:nvSpPr>
          <p:cNvPr id="21" name="Text 21"/>
          <p:cNvSpPr/>
          <p:nvPr/>
        </p:nvSpPr>
        <p:spPr>
          <a:xfrm>
            <a:off x="1600200" y="445770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해마다 찾아오는 1년의 운 (예: 2026 병오년)</a:t>
            </a:r>
          </a:p>
        </p:txBody>
      </p:sp>
      <p:sp>
        <p:nvSpPr>
          <p:cNvPr id="22" name="Shape 22"/>
          <p:cNvSpPr/>
          <p:nvPr/>
        </p:nvSpPr>
        <p:spPr>
          <a:xfrm>
            <a:off x="1600200" y="480822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3" name="Shape 23"/>
          <p:cNvSpPr/>
          <p:nvPr/>
        </p:nvSpPr>
        <p:spPr>
          <a:xfrm>
            <a:off x="762000" y="485394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24" name="Text 24"/>
          <p:cNvSpPr/>
          <p:nvPr/>
        </p:nvSpPr>
        <p:spPr>
          <a:xfrm>
            <a:off x="762000" y="48539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</a:t>
            </a:r>
          </a:p>
        </p:txBody>
      </p:sp>
      <p:sp>
        <p:nvSpPr>
          <p:cNvPr id="25" name="Text 25"/>
          <p:cNvSpPr/>
          <p:nvPr/>
        </p:nvSpPr>
        <p:spPr>
          <a:xfrm>
            <a:off x="1600200" y="484632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만세력으로 직접 읽기</a:t>
            </a:r>
          </a:p>
        </p:txBody>
      </p:sp>
      <p:sp>
        <p:nvSpPr>
          <p:cNvPr id="26" name="Text 26"/>
          <p:cNvSpPr/>
          <p:nvPr/>
        </p:nvSpPr>
        <p:spPr>
          <a:xfrm>
            <a:off x="1600200" y="515874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대운수 · 대운 간지 · 올해 세운 찾기 (실습)</a:t>
            </a:r>
          </a:p>
        </p:txBody>
      </p:sp>
      <p:sp>
        <p:nvSpPr>
          <p:cNvPr id="27" name="Shape 27"/>
          <p:cNvSpPr/>
          <p:nvPr/>
        </p:nvSpPr>
        <p:spPr>
          <a:xfrm>
            <a:off x="1600200" y="550926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762000" y="5554980"/>
            <a:ext cx="609600" cy="6096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</p:sp>
      <p:sp>
        <p:nvSpPr>
          <p:cNvPr id="29" name="Text 29"/>
          <p:cNvSpPr/>
          <p:nvPr/>
        </p:nvSpPr>
        <p:spPr>
          <a:xfrm>
            <a:off x="762000" y="55549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5</a:t>
            </a:r>
          </a:p>
        </p:txBody>
      </p:sp>
      <p:sp>
        <p:nvSpPr>
          <p:cNvPr id="30" name="Text 30"/>
          <p:cNvSpPr/>
          <p:nvPr/>
        </p:nvSpPr>
        <p:spPr>
          <a:xfrm>
            <a:off x="1600200" y="554736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 해석의 기초</a:t>
            </a:r>
          </a:p>
        </p:txBody>
      </p:sp>
      <p:sp>
        <p:nvSpPr>
          <p:cNvPr id="31" name="Text 31"/>
          <p:cNvSpPr/>
          <p:nvPr/>
        </p:nvSpPr>
        <p:spPr>
          <a:xfrm>
            <a:off x="1600200" y="585978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생극제화로 길흉의 방향 읽기</a:t>
            </a:r>
          </a:p>
        </p:txBody>
      </p:sp>
      <p:sp>
        <p:nvSpPr>
          <p:cNvPr id="32" name="Shape 32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4" name="Text 34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GOALS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LEARNING GOALS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이번 회차 학습 목표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끝나면 이 세 가지를 할 수 있습니다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1047750" y="3028950"/>
            <a:ext cx="685800" cy="685800"/>
          </a:xfrm>
          <a:prstGeom prst="ellipse">
            <a:avLst/>
          </a:prstGeom>
          <a:solidFill>
            <a:srgbClr val="A7E5D3">
              <a:alpha val="85000"/>
            </a:srgbClr>
          </a:solidFill>
          <a:ln/>
        </p:spPr>
      </p:sp>
      <p:sp>
        <p:nvSpPr>
          <p:cNvPr id="11" name="Text 11"/>
          <p:cNvSpPr/>
          <p:nvPr/>
        </p:nvSpPr>
        <p:spPr>
          <a:xfrm>
            <a:off x="1047750" y="30289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運</a:t>
            </a:r>
          </a:p>
        </p:txBody>
      </p:sp>
      <p:sp>
        <p:nvSpPr>
          <p:cNvPr id="12" name="Text 12"/>
          <p:cNvSpPr/>
          <p:nvPr/>
        </p:nvSpPr>
        <p:spPr>
          <a:xfrm>
            <a:off x="1047750" y="38671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운의 관점 잡기</a:t>
            </a:r>
          </a:p>
        </p:txBody>
      </p:sp>
      <p:sp>
        <p:nvSpPr>
          <p:cNvPr id="13" name="Text 13"/>
          <p:cNvSpPr/>
          <p:nvPr/>
        </p:nvSpPr>
        <p:spPr>
          <a:xfrm>
            <a:off x="1047750" y="4286250"/>
            <a:ext cx="28321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원국(사주)은 고정된 차, 운은 그 차가 달리는 길 — 이 관점을 이해한다.</a:t>
            </a:r>
          </a:p>
        </p:txBody>
      </p:sp>
      <p:sp>
        <p:nvSpPr>
          <p:cNvPr id="14" name="Shape 14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4679950" y="3028950"/>
            <a:ext cx="685800" cy="685800"/>
          </a:xfrm>
          <a:prstGeom prst="ellipse">
            <a:avLst/>
          </a:prstGeom>
          <a:solidFill>
            <a:srgbClr val="A8C8E8">
              <a:alpha val="85000"/>
            </a:srgbClr>
          </a:solidFill>
          <a:ln/>
        </p:spPr>
      </p:sp>
      <p:sp>
        <p:nvSpPr>
          <p:cNvPr id="16" name="Text 16"/>
          <p:cNvSpPr/>
          <p:nvPr/>
        </p:nvSpPr>
        <p:spPr>
          <a:xfrm>
            <a:off x="4679950" y="30289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期</a:t>
            </a:r>
          </a:p>
        </p:txBody>
      </p:sp>
      <p:sp>
        <p:nvSpPr>
          <p:cNvPr id="17" name="Text 17"/>
          <p:cNvSpPr/>
          <p:nvPr/>
        </p:nvSpPr>
        <p:spPr>
          <a:xfrm>
            <a:off x="4679950" y="38671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대운·세운 구분</a:t>
            </a:r>
          </a:p>
        </p:txBody>
      </p:sp>
      <p:sp>
        <p:nvSpPr>
          <p:cNvPr id="18" name="Text 18"/>
          <p:cNvSpPr/>
          <p:nvPr/>
        </p:nvSpPr>
        <p:spPr>
          <a:xfrm>
            <a:off x="4679950" y="4286250"/>
            <a:ext cx="28321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단위 대운과 1년 단위 세운이 각각 무엇인지 설명할 수 있다.</a:t>
            </a:r>
          </a:p>
        </p:txBody>
      </p:sp>
      <p:sp>
        <p:nvSpPr>
          <p:cNvPr id="19" name="Shape 19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20"/>
          <p:cNvSpPr/>
          <p:nvPr/>
        </p:nvSpPr>
        <p:spPr>
          <a:xfrm>
            <a:off x="8312150" y="3028950"/>
            <a:ext cx="685800" cy="685800"/>
          </a:xfrm>
          <a:prstGeom prst="ellipse">
            <a:avLst/>
          </a:prstGeom>
          <a:solidFill>
            <a:srgbClr val="F4C5A8">
              <a:alpha val="85000"/>
            </a:srgbClr>
          </a:solidFill>
          <a:ln/>
        </p:spPr>
      </p:sp>
      <p:sp>
        <p:nvSpPr>
          <p:cNvPr id="21" name="Text 21"/>
          <p:cNvSpPr/>
          <p:nvPr/>
        </p:nvSpPr>
        <p:spPr>
          <a:xfrm>
            <a:off x="8312150" y="30289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讀</a:t>
            </a:r>
          </a:p>
        </p:txBody>
      </p:sp>
      <p:sp>
        <p:nvSpPr>
          <p:cNvPr id="22" name="Text 22"/>
          <p:cNvSpPr/>
          <p:nvPr/>
        </p:nvSpPr>
        <p:spPr>
          <a:xfrm>
            <a:off x="8312150" y="38671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만세력 판독</a:t>
            </a:r>
          </a:p>
        </p:txBody>
      </p:sp>
      <p:sp>
        <p:nvSpPr>
          <p:cNvPr id="23" name="Text 23"/>
          <p:cNvSpPr/>
          <p:nvPr/>
        </p:nvSpPr>
        <p:spPr>
          <a:xfrm>
            <a:off x="8312150" y="4286250"/>
            <a:ext cx="28321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만세력에서 대운수·대운 간지·올해 세운을 스스로 찾아 읽는다.</a:t>
            </a:r>
          </a:p>
        </p:txBody>
      </p:sp>
      <p:sp>
        <p:nvSpPr>
          <p:cNvPr id="24" name="Shape 24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5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줄 요약</a:t>
            </a:r>
          </a:p>
        </p:txBody>
      </p:sp>
      <p:sp>
        <p:nvSpPr>
          <p:cNvPr id="26" name="Text 26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“원국이 어떤 차인지 알았다면, 이제 그 차가 지금 어떤 길 위에 있는지를 읽는다.”</a:t>
            </a:r>
          </a:p>
        </p:txBody>
      </p:sp>
      <p:sp>
        <p:nvSpPr>
          <p:cNvPr id="27" name="Shape 27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8" name="Text 28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9" name="Text 29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RECAP · 1회차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BRIDGE FROM SESSION 01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잠깐, 원국 복습부터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운을 읽으려면 먼저 내 “차”를 알아야 한다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ORIGIN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여덟 글자(팔자)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연·월·일·시 네 기둥 × 천간+지지. 태어나며 정해져 평생 고정된다.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BALANCE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오행의 균형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목·화·토·금·수 다섯 기운의 많고 적음이 나의 강점과 결핍을 만든다.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ME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일간(日干) = 나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일주의 천간이 사주의 주인공. 운의 좋고 나쁨은 이 일간을 기준으로 본다.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연결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원국은 “무엇을 타고났나”. 이번 시간엔 그 위를 흐르는 “운”을 얹습니다.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18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01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01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사주와 운의 관계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FIXED CHART vs FLOWING LUCK</a:t>
            </a:r>
          </a:p>
        </p:txBody>
      </p:sp>
      <p:sp>
        <p:nvSpPr>
          <p:cNvPr id="9" name="Text 9"/>
          <p:cNvSpPr/>
          <p:nvPr/>
        </p:nvSpPr>
        <p:spPr>
          <a:xfrm>
            <a:off x="761999" y="4191000"/>
            <a:ext cx="9352671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원국은 바뀌지 않는 “나”, 운은 시간에 따라 흐르는 “환경”입니다. 이 둘이 만나 비로소 실제 삶의 장면이 만들어집니다.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사주와 운의 관계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원국은 고정, 운은 흐름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타고난 것과 흘러오는 것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43200"/>
            <a:ext cx="51816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7620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7E5D3"/>
          </a:solidFill>
          <a:ln/>
        </p:spPr>
      </p:sp>
      <p:sp>
        <p:nvSpPr>
          <p:cNvPr id="11" name="Text 11"/>
          <p:cNvSpPr/>
          <p:nvPr/>
        </p:nvSpPr>
        <p:spPr>
          <a:xfrm>
            <a:off x="11049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ORIGIN · 원국</a:t>
            </a:r>
          </a:p>
        </p:txBody>
      </p:sp>
      <p:sp>
        <p:nvSpPr>
          <p:cNvPr id="12" name="Text 12"/>
          <p:cNvSpPr/>
          <p:nvPr/>
        </p:nvSpPr>
        <p:spPr>
          <a:xfrm>
            <a:off x="11049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바뀌지 않는 나</a:t>
            </a:r>
          </a:p>
        </p:txBody>
      </p:sp>
      <p:sp>
        <p:nvSpPr>
          <p:cNvPr id="13" name="Shape 13"/>
          <p:cNvSpPr/>
          <p:nvPr/>
        </p:nvSpPr>
        <p:spPr>
          <a:xfrm>
            <a:off x="11049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1104900" y="4000500"/>
            <a:ext cx="4495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태어난 순간 확정된 여덟 글자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평생 그대로 — 그릇·성향·강약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“어떤 차인가”를 결정</a:t>
            </a:r>
          </a:p>
        </p:txBody>
      </p:sp>
      <p:sp>
        <p:nvSpPr>
          <p:cNvPr id="15" name="Shape 15"/>
          <p:cNvSpPr/>
          <p:nvPr/>
        </p:nvSpPr>
        <p:spPr>
          <a:xfrm>
            <a:off x="6248400" y="2743200"/>
            <a:ext cx="51816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6"/>
          <p:cNvSpPr/>
          <p:nvPr/>
        </p:nvSpPr>
        <p:spPr>
          <a:xfrm>
            <a:off x="62484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8C8E8"/>
          </a:solidFill>
          <a:ln/>
        </p:spPr>
      </p:sp>
      <p:sp>
        <p:nvSpPr>
          <p:cNvPr id="17" name="Text 17"/>
          <p:cNvSpPr/>
          <p:nvPr/>
        </p:nvSpPr>
        <p:spPr>
          <a:xfrm>
            <a:off x="65913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LUCK · 운</a:t>
            </a:r>
          </a:p>
        </p:txBody>
      </p:sp>
      <p:sp>
        <p:nvSpPr>
          <p:cNvPr id="18" name="Text 18"/>
          <p:cNvSpPr/>
          <p:nvPr/>
        </p:nvSpPr>
        <p:spPr>
          <a:xfrm>
            <a:off x="65913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흘러가는 환경</a:t>
            </a:r>
          </a:p>
        </p:txBody>
      </p:sp>
      <p:sp>
        <p:nvSpPr>
          <p:cNvPr id="19" name="Shape 19"/>
          <p:cNvSpPr/>
          <p:nvPr/>
        </p:nvSpPr>
        <p:spPr>
          <a:xfrm>
            <a:off x="65913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0" name="Text 20"/>
          <p:cNvSpPr/>
          <p:nvPr/>
        </p:nvSpPr>
        <p:spPr>
          <a:xfrm>
            <a:off x="6591300" y="4000500"/>
            <a:ext cx="4495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시간에 따라 계속 바뀐다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10년 대운 · 1년 세운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“지금 어떤 길 위인가”를 결정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3" name="Text 2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사주와 운의 관계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자동차와 도로의 비유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같은 차라도 길이 다르면 결과가 다르다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5219700" cy="2209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047750" y="2930478"/>
            <a:ext cx="685800" cy="685800"/>
          </a:xfrm>
          <a:prstGeom prst="ellipse">
            <a:avLst/>
          </a:prstGeom>
          <a:solidFill>
            <a:srgbClr val="A7E5D3">
              <a:alpha val="85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1047750" y="293047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車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628003"/>
            <a:ext cx="4648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사주 = 자동차</a:t>
            </a:r>
          </a:p>
        </p:txBody>
      </p:sp>
      <p:sp>
        <p:nvSpPr>
          <p:cNvPr id="12" name="Text 12"/>
          <p:cNvSpPr/>
          <p:nvPr/>
        </p:nvSpPr>
        <p:spPr>
          <a:xfrm>
            <a:off x="1047750" y="3976763"/>
            <a:ext cx="46482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경차·트럭·스포츠카처럼 타고난 “차종”.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성능(그릇)은 태어나며 정해진다.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힘으로 못 바꾸는 기본기.</a:t>
            </a:r>
          </a:p>
        </p:txBody>
      </p:sp>
      <p:sp>
        <p:nvSpPr>
          <p:cNvPr id="13" name="Shape 13"/>
          <p:cNvSpPr/>
          <p:nvPr/>
        </p:nvSpPr>
        <p:spPr>
          <a:xfrm>
            <a:off x="6210300" y="2743200"/>
            <a:ext cx="5219700" cy="2209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4"/>
          <p:cNvSpPr/>
          <p:nvPr/>
        </p:nvSpPr>
        <p:spPr>
          <a:xfrm>
            <a:off x="6496050" y="2930478"/>
            <a:ext cx="685800" cy="685800"/>
          </a:xfrm>
          <a:prstGeom prst="ellipse">
            <a:avLst/>
          </a:prstGeom>
          <a:solidFill>
            <a:srgbClr val="A8C8E8">
              <a:alpha val="85000"/>
            </a:srgbClr>
          </a:solidFill>
          <a:ln/>
        </p:spPr>
      </p:sp>
      <p:sp>
        <p:nvSpPr>
          <p:cNvPr id="15" name="Text 15"/>
          <p:cNvSpPr/>
          <p:nvPr/>
        </p:nvSpPr>
        <p:spPr>
          <a:xfrm>
            <a:off x="6496050" y="293047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路</a:t>
            </a:r>
          </a:p>
        </p:txBody>
      </p:sp>
      <p:sp>
        <p:nvSpPr>
          <p:cNvPr id="16" name="Text 16"/>
          <p:cNvSpPr/>
          <p:nvPr/>
        </p:nvSpPr>
        <p:spPr>
          <a:xfrm>
            <a:off x="6496050" y="3628003"/>
            <a:ext cx="4648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 = 도로</a:t>
            </a:r>
          </a:p>
        </p:txBody>
      </p:sp>
      <p:sp>
        <p:nvSpPr>
          <p:cNvPr id="17" name="Text 17"/>
          <p:cNvSpPr/>
          <p:nvPr/>
        </p:nvSpPr>
        <p:spPr>
          <a:xfrm>
            <a:off x="6496050" y="3976763"/>
            <a:ext cx="46482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고속도로·자갈길·빙판길처럼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그때의 “길 상태”가 계속 바뀐다.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차도 길 따라 결과가 달라진다.</a:t>
            </a:r>
          </a:p>
        </p:txBody>
      </p:sp>
      <p:sp>
        <p:nvSpPr>
          <p:cNvPr id="18" name="Shape 18"/>
          <p:cNvSpPr/>
          <p:nvPr/>
        </p:nvSpPr>
        <p:spPr>
          <a:xfrm>
            <a:off x="762000" y="5105400"/>
            <a:ext cx="10668000" cy="9906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1066800" y="5105400"/>
            <a:ext cx="15240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핵심</a:t>
            </a:r>
          </a:p>
        </p:txBody>
      </p:sp>
      <p:sp>
        <p:nvSpPr>
          <p:cNvPr id="20" name="Text 20"/>
          <p:cNvSpPr/>
          <p:nvPr/>
        </p:nvSpPr>
        <p:spPr>
          <a:xfrm>
            <a:off x="2590800" y="5105400"/>
            <a:ext cx="85344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 상담은 “차종”과 “지금 길”을 함께 봐야 완성됩니다.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원국만 봐도, 운만 봐도 반쪽짜리 해석이에요.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3" name="Text 2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3238500"/>
            <a:ext cx="3429000" cy="3429000"/>
          </a:xfrm>
          <a:prstGeom prst="ellipse">
            <a:avLst/>
          </a:prstGeom>
          <a:solidFill>
            <a:srgbClr val="E8B8C4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사주와 운의 관계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왜 운을 알아야 할까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좋은 차도 빙판길에선 미끄러진다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5219700" cy="2209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047750" y="2930476"/>
            <a:ext cx="685800" cy="685800"/>
          </a:xfrm>
          <a:prstGeom prst="ellipse">
            <a:avLst/>
          </a:prstGeom>
          <a:solidFill>
            <a:srgbClr val="A8C8E8">
              <a:alpha val="85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1047750" y="29304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氷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698336"/>
            <a:ext cx="4648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좋은 차 + 빙판길</a:t>
            </a:r>
          </a:p>
        </p:txBody>
      </p:sp>
      <p:sp>
        <p:nvSpPr>
          <p:cNvPr id="12" name="Text 12"/>
          <p:cNvSpPr/>
          <p:nvPr/>
        </p:nvSpPr>
        <p:spPr>
          <a:xfrm>
            <a:off x="1047750" y="4117436"/>
            <a:ext cx="46482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뛰어난 사주라도 운이 나쁘면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 실력을 못 낸다 — 무리하면 </a:t>
            </a:r>
            <a:r>
              <a:rPr lang="en-US" sz="1250" dirty="0" err="1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</a:t>
            </a: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→ 이런 때는 “지키는” 전략.</a:t>
            </a:r>
          </a:p>
        </p:txBody>
      </p:sp>
      <p:sp>
        <p:nvSpPr>
          <p:cNvPr id="13" name="Shape 13"/>
          <p:cNvSpPr/>
          <p:nvPr/>
        </p:nvSpPr>
        <p:spPr>
          <a:xfrm>
            <a:off x="6210300" y="2743200"/>
            <a:ext cx="5219700" cy="2209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4"/>
          <p:cNvSpPr/>
          <p:nvPr/>
        </p:nvSpPr>
        <p:spPr>
          <a:xfrm>
            <a:off x="6496050" y="2930476"/>
            <a:ext cx="685800" cy="685800"/>
          </a:xfrm>
          <a:prstGeom prst="ellipse">
            <a:avLst/>
          </a:prstGeom>
          <a:solidFill>
            <a:srgbClr val="A7E5D3">
              <a:alpha val="85000"/>
            </a:srgbClr>
          </a:solidFill>
          <a:ln/>
        </p:spPr>
      </p:sp>
      <p:sp>
        <p:nvSpPr>
          <p:cNvPr id="15" name="Text 15"/>
          <p:cNvSpPr/>
          <p:nvPr/>
        </p:nvSpPr>
        <p:spPr>
          <a:xfrm>
            <a:off x="6496050" y="29304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高</a:t>
            </a:r>
          </a:p>
        </p:txBody>
      </p:sp>
      <p:sp>
        <p:nvSpPr>
          <p:cNvPr id="16" name="Text 16"/>
          <p:cNvSpPr/>
          <p:nvPr/>
        </p:nvSpPr>
        <p:spPr>
          <a:xfrm>
            <a:off x="6496050" y="3698336"/>
            <a:ext cx="4648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낡은 차 + 고속도로</a:t>
            </a:r>
          </a:p>
        </p:txBody>
      </p:sp>
      <p:sp>
        <p:nvSpPr>
          <p:cNvPr id="17" name="Text 17"/>
          <p:cNvSpPr/>
          <p:nvPr/>
        </p:nvSpPr>
        <p:spPr>
          <a:xfrm>
            <a:off x="6496050" y="4117436"/>
            <a:ext cx="46482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평범한 사주라도 운이 받쳐주면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거침없이 뻗어 </a:t>
            </a:r>
            <a:r>
              <a:rPr lang="en-US" sz="1250" dirty="0" err="1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나간다</a:t>
            </a: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→ 이런 때는 “나아가는” 전략.</a:t>
            </a:r>
          </a:p>
        </p:txBody>
      </p:sp>
      <p:sp>
        <p:nvSpPr>
          <p:cNvPr id="18" name="Shape 18"/>
          <p:cNvSpPr/>
          <p:nvPr/>
        </p:nvSpPr>
        <p:spPr>
          <a:xfrm>
            <a:off x="762000" y="5105400"/>
            <a:ext cx="10668000" cy="9906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1066800" y="5105400"/>
            <a:ext cx="15240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그래서</a:t>
            </a:r>
          </a:p>
        </p:txBody>
      </p:sp>
      <p:sp>
        <p:nvSpPr>
          <p:cNvPr id="20" name="Text 20"/>
          <p:cNvSpPr/>
          <p:nvPr/>
        </p:nvSpPr>
        <p:spPr>
          <a:xfrm>
            <a:off x="2590800" y="5105400"/>
            <a:ext cx="853440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운을 알면 언제 밟고(가속) 언제 브레이크를 밟을지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“타이밍”을 잡을 수 있습니다. 그게 사주 상담의 힘이에요.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3" name="Text 2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01 · 사주와 운의 관계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운은 층층이 쌓인다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 위에 대운, 그 위에 세운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57500"/>
            <a:ext cx="32893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318868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평생 고정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39823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원국</a:t>
            </a:r>
          </a:p>
        </p:txBody>
      </p:sp>
      <p:sp>
        <p:nvSpPr>
          <p:cNvPr id="11" name="Text 11"/>
          <p:cNvSpPr/>
          <p:nvPr/>
        </p:nvSpPr>
        <p:spPr>
          <a:xfrm>
            <a:off x="762000" y="393163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타고난 나</a:t>
            </a:r>
          </a:p>
        </p:txBody>
      </p:sp>
      <p:sp>
        <p:nvSpPr>
          <p:cNvPr id="12" name="Text 12"/>
          <p:cNvSpPr/>
          <p:nvPr/>
        </p:nvSpPr>
        <p:spPr>
          <a:xfrm>
            <a:off x="4051300" y="2857500"/>
            <a:ext cx="40005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</a:p>
        </p:txBody>
      </p:sp>
      <p:sp>
        <p:nvSpPr>
          <p:cNvPr id="13" name="Shape 13"/>
          <p:cNvSpPr/>
          <p:nvPr/>
        </p:nvSpPr>
        <p:spPr>
          <a:xfrm>
            <a:off x="4451350" y="2857500"/>
            <a:ext cx="32893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451350" y="318868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10년 단위</a:t>
            </a:r>
          </a:p>
        </p:txBody>
      </p:sp>
      <p:sp>
        <p:nvSpPr>
          <p:cNvPr id="15" name="Text 15"/>
          <p:cNvSpPr/>
          <p:nvPr/>
        </p:nvSpPr>
        <p:spPr>
          <a:xfrm>
            <a:off x="4451350" y="339823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</a:t>
            </a:r>
          </a:p>
        </p:txBody>
      </p:sp>
      <p:sp>
        <p:nvSpPr>
          <p:cNvPr id="16" name="Text 16"/>
          <p:cNvSpPr/>
          <p:nvPr/>
        </p:nvSpPr>
        <p:spPr>
          <a:xfrm>
            <a:off x="4451350" y="393163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환경</a:t>
            </a:r>
          </a:p>
        </p:txBody>
      </p:sp>
      <p:sp>
        <p:nvSpPr>
          <p:cNvPr id="17" name="Text 17"/>
          <p:cNvSpPr/>
          <p:nvPr/>
        </p:nvSpPr>
        <p:spPr>
          <a:xfrm>
            <a:off x="7740650" y="2857500"/>
            <a:ext cx="40005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</a:p>
        </p:txBody>
      </p:sp>
      <p:sp>
        <p:nvSpPr>
          <p:cNvPr id="18" name="Shape 18"/>
          <p:cNvSpPr/>
          <p:nvPr/>
        </p:nvSpPr>
        <p:spPr>
          <a:xfrm>
            <a:off x="8140700" y="2857500"/>
            <a:ext cx="32893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8140700" y="318868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1년 단위</a:t>
            </a:r>
          </a:p>
        </p:txBody>
      </p:sp>
      <p:sp>
        <p:nvSpPr>
          <p:cNvPr id="20" name="Text 20"/>
          <p:cNvSpPr/>
          <p:nvPr/>
        </p:nvSpPr>
        <p:spPr>
          <a:xfrm>
            <a:off x="8140700" y="339823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세운</a:t>
            </a:r>
          </a:p>
        </p:txBody>
      </p:sp>
      <p:sp>
        <p:nvSpPr>
          <p:cNvPr id="21" name="Text 21"/>
          <p:cNvSpPr/>
          <p:nvPr/>
        </p:nvSpPr>
        <p:spPr>
          <a:xfrm>
            <a:off x="8140700" y="393163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그해 사건</a:t>
            </a:r>
          </a:p>
        </p:txBody>
      </p:sp>
      <p:sp>
        <p:nvSpPr>
          <p:cNvPr id="22" name="Shape 22"/>
          <p:cNvSpPr/>
          <p:nvPr/>
        </p:nvSpPr>
        <p:spPr>
          <a:xfrm>
            <a:off x="762000" y="4724400"/>
            <a:ext cx="10668000" cy="12192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3"/>
          <p:cNvSpPr/>
          <p:nvPr/>
        </p:nvSpPr>
        <p:spPr>
          <a:xfrm>
            <a:off x="1066800" y="4724400"/>
            <a:ext cx="1524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비유</a:t>
            </a:r>
          </a:p>
        </p:txBody>
      </p:sp>
      <p:sp>
        <p:nvSpPr>
          <p:cNvPr id="24" name="Text 24"/>
          <p:cNvSpPr/>
          <p:nvPr/>
        </p:nvSpPr>
        <p:spPr>
          <a:xfrm>
            <a:off x="2590800" y="4724400"/>
            <a:ext cx="85344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원국 = 차 · 대운 = 10년째 달리는 큰 도로 · 세운 = 올해 그 도로의 날씨.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여기에 월운(月運) = 이번 달 노면까지 더하면 흐름이 더 촘촘해집니다.</a:t>
            </a:r>
          </a:p>
        </p:txBody>
      </p:sp>
      <p:sp>
        <p:nvSpPr>
          <p:cNvPr id="25" name="Shape 25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7" name="Text 27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02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02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 — 10년의 큰 환경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THE TEN-YEAR CYCLE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대운은 10년마다 갈아타는 “큰 도로”입니다. 대박운이 아니라, 삶의 배경이 통째로 바뀌는 큰 줄기예요.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 · 대운(大運)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대운(大運)이란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10년마다 바뀌는 삶의 큰 배경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주기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10년 단위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대운이 약 10년간 이어진다. 10년마다 새 도로로 갈아탄다.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성격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큰 줄기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“대박 운”이 아니라 환경·무대의 큰 흐름. 길흉은 원국과의 관계로 따로 본다.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범위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배경 전체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직업·관계·건강의 배경이 통째로 바뀌는 긴 파도 같은 것.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오해 주의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大運의 “大”는 “크다(긴 주기)”는 뜻일 뿐. 대운=좋은 운이 아니라, 길흉은 따로 봅니다.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 · 대운(大運)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대운수 — 대운이 시작되는 나이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첫 대운이 몇 살에 시작되나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662321"/>
            <a:ext cx="10668000" cy="7239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66800" y="2705100"/>
            <a:ext cx="16764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대운수란</a:t>
            </a:r>
          </a:p>
        </p:txBody>
      </p:sp>
      <p:sp>
        <p:nvSpPr>
          <p:cNvPr id="10" name="Text 10"/>
          <p:cNvSpPr/>
          <p:nvPr/>
        </p:nvSpPr>
        <p:spPr>
          <a:xfrm>
            <a:off x="2743200" y="2705100"/>
            <a:ext cx="8382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대운이 시작되는 나이. 사람마다 다르고, 이후 10년마다 다음 대운으로 넘어간다.</a:t>
            </a:r>
          </a:p>
        </p:txBody>
      </p:sp>
      <p:sp>
        <p:nvSpPr>
          <p:cNvPr id="11" name="Shape 11"/>
          <p:cNvSpPr/>
          <p:nvPr/>
        </p:nvSpPr>
        <p:spPr>
          <a:xfrm>
            <a:off x="762000" y="3600450"/>
            <a:ext cx="10668000" cy="679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1028700" y="3635375"/>
            <a:ext cx="609600" cy="609600"/>
          </a:xfrm>
          <a:prstGeom prst="ellipse">
            <a:avLst/>
          </a:prstGeom>
          <a:solidFill>
            <a:srgbClr val="A7E5D3">
              <a:alpha val="90000"/>
            </a:srgbClr>
          </a:solidFill>
          <a:ln/>
        </p:spPr>
      </p:sp>
      <p:sp>
        <p:nvSpPr>
          <p:cNvPr id="13" name="Text 13"/>
          <p:cNvSpPr/>
          <p:nvPr/>
        </p:nvSpPr>
        <p:spPr>
          <a:xfrm>
            <a:off x="1028700" y="3635375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4" name="Text 14"/>
          <p:cNvSpPr/>
          <p:nvPr/>
        </p:nvSpPr>
        <p:spPr>
          <a:xfrm>
            <a:off x="1905000" y="3734678"/>
            <a:ext cx="9220200" cy="271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태어난 날 → 가까운 절기까지 날짜를 센다</a:t>
            </a:r>
          </a:p>
        </p:txBody>
      </p:sp>
      <p:sp>
        <p:nvSpPr>
          <p:cNvPr id="15" name="Text 15"/>
          <p:cNvSpPr/>
          <p:nvPr/>
        </p:nvSpPr>
        <p:spPr>
          <a:xfrm>
            <a:off x="1905000" y="3912997"/>
            <a:ext cx="9220200" cy="312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순행이면 다음 절기, 역행이면 지난 절기까지의 일수.</a:t>
            </a:r>
          </a:p>
        </p:txBody>
      </p:sp>
      <p:sp>
        <p:nvSpPr>
          <p:cNvPr id="16" name="Shape 16"/>
          <p:cNvSpPr/>
          <p:nvPr/>
        </p:nvSpPr>
        <p:spPr>
          <a:xfrm>
            <a:off x="762000" y="4432300"/>
            <a:ext cx="10668000" cy="679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1028700" y="4467225"/>
            <a:ext cx="609600" cy="609600"/>
          </a:xfrm>
          <a:prstGeom prst="ellipse">
            <a:avLst/>
          </a:prstGeom>
          <a:solidFill>
            <a:srgbClr val="A8C8E8">
              <a:alpha val="90000"/>
            </a:srgbClr>
          </a:solidFill>
          <a:ln/>
        </p:spPr>
      </p:sp>
      <p:sp>
        <p:nvSpPr>
          <p:cNvPr id="18" name="Text 18"/>
          <p:cNvSpPr/>
          <p:nvPr/>
        </p:nvSpPr>
        <p:spPr>
          <a:xfrm>
            <a:off x="1028700" y="4467225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9" name="Text 19"/>
          <p:cNvSpPr/>
          <p:nvPr/>
        </p:nvSpPr>
        <p:spPr>
          <a:xfrm>
            <a:off x="1905000" y="4566528"/>
            <a:ext cx="9220200" cy="271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그 일수를 3으로 나눈다</a:t>
            </a:r>
          </a:p>
        </p:txBody>
      </p:sp>
      <p:sp>
        <p:nvSpPr>
          <p:cNvPr id="20" name="Text 20"/>
          <p:cNvSpPr/>
          <p:nvPr/>
        </p:nvSpPr>
        <p:spPr>
          <a:xfrm>
            <a:off x="1905000" y="4730779"/>
            <a:ext cx="9220200" cy="312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사주에서 3일 ≈ 1년. 나눈 몫이 곧 대운수.</a:t>
            </a:r>
          </a:p>
        </p:txBody>
      </p:sp>
      <p:sp>
        <p:nvSpPr>
          <p:cNvPr id="21" name="Shape 21"/>
          <p:cNvSpPr/>
          <p:nvPr/>
        </p:nvSpPr>
        <p:spPr>
          <a:xfrm>
            <a:off x="762000" y="5264150"/>
            <a:ext cx="10668000" cy="679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2"/>
          <p:cNvSpPr/>
          <p:nvPr/>
        </p:nvSpPr>
        <p:spPr>
          <a:xfrm>
            <a:off x="1028700" y="5299075"/>
            <a:ext cx="609600" cy="609600"/>
          </a:xfrm>
          <a:prstGeom prst="ellipse">
            <a:avLst/>
          </a:prstGeom>
          <a:solidFill>
            <a:srgbClr val="F4C5A8">
              <a:alpha val="90000"/>
            </a:srgbClr>
          </a:solidFill>
          <a:ln/>
        </p:spPr>
      </p:sp>
      <p:sp>
        <p:nvSpPr>
          <p:cNvPr id="23" name="Text 23"/>
          <p:cNvSpPr/>
          <p:nvPr/>
        </p:nvSpPr>
        <p:spPr>
          <a:xfrm>
            <a:off x="1028700" y="5299075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4" name="Text 24"/>
          <p:cNvSpPr/>
          <p:nvPr/>
        </p:nvSpPr>
        <p:spPr>
          <a:xfrm>
            <a:off x="1905000" y="5398378"/>
            <a:ext cx="9220200" cy="271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그 나이부터 10년 주기로 진행</a:t>
            </a:r>
          </a:p>
        </p:txBody>
      </p:sp>
      <p:sp>
        <p:nvSpPr>
          <p:cNvPr id="25" name="Text 25"/>
          <p:cNvSpPr/>
          <p:nvPr/>
        </p:nvSpPr>
        <p:spPr>
          <a:xfrm>
            <a:off x="1905000" y="5562629"/>
            <a:ext cx="9220200" cy="312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대운수 8 → 8·18·28·38세마다 새 대운.</a:t>
            </a:r>
          </a:p>
        </p:txBody>
      </p:sp>
      <p:sp>
        <p:nvSpPr>
          <p:cNvPr id="26" name="Text 26"/>
          <p:cNvSpPr/>
          <p:nvPr/>
        </p:nvSpPr>
        <p:spPr>
          <a:xfrm>
            <a:off x="762000" y="6030600"/>
            <a:ext cx="1066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실제 대운수는 만세력이 자동 계산합니다 — 우리는 “왜 그런지” 원리만 이해하면 충분해요.</a:t>
            </a:r>
          </a:p>
        </p:txBody>
      </p:sp>
      <p:sp>
        <p:nvSpPr>
          <p:cNvPr id="27" name="Shape 27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8" name="Text 28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9" name="Text 29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 · 대운(大運)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순행과 역행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대운이 나아가는 방향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7620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7E5D3"/>
          </a:solidFill>
          <a:ln/>
        </p:spPr>
      </p:sp>
      <p:sp>
        <p:nvSpPr>
          <p:cNvPr id="10" name="Text 10"/>
          <p:cNvSpPr/>
          <p:nvPr/>
        </p:nvSpPr>
        <p:spPr>
          <a:xfrm>
            <a:off x="11049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順行 · 순행</a:t>
            </a:r>
          </a:p>
        </p:txBody>
      </p:sp>
      <p:sp>
        <p:nvSpPr>
          <p:cNvPr id="11" name="Text 11"/>
          <p:cNvSpPr/>
          <p:nvPr/>
        </p:nvSpPr>
        <p:spPr>
          <a:xfrm>
            <a:off x="11049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간지가 앞으로</a:t>
            </a:r>
          </a:p>
        </p:txBody>
      </p:sp>
      <p:sp>
        <p:nvSpPr>
          <p:cNvPr id="12" name="Shape 12"/>
          <p:cNvSpPr/>
          <p:nvPr/>
        </p:nvSpPr>
        <p:spPr>
          <a:xfrm>
            <a:off x="11049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11049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월주 다음 간지부터 順방향으로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양남(陽男) · 음녀(陰女)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달력을 앞으로 넘기듯</a:t>
            </a:r>
          </a:p>
        </p:txBody>
      </p:sp>
      <p:sp>
        <p:nvSpPr>
          <p:cNvPr id="14" name="Shape 14"/>
          <p:cNvSpPr/>
          <p:nvPr/>
        </p:nvSpPr>
        <p:spPr>
          <a:xfrm>
            <a:off x="62484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62484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8C8E8"/>
          </a:solidFill>
          <a:ln/>
        </p:spPr>
      </p:sp>
      <p:sp>
        <p:nvSpPr>
          <p:cNvPr id="16" name="Text 16"/>
          <p:cNvSpPr/>
          <p:nvPr/>
        </p:nvSpPr>
        <p:spPr>
          <a:xfrm>
            <a:off x="65913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逆行 · 역행</a:t>
            </a:r>
          </a:p>
        </p:txBody>
      </p:sp>
      <p:sp>
        <p:nvSpPr>
          <p:cNvPr id="17" name="Text 17"/>
          <p:cNvSpPr/>
          <p:nvPr/>
        </p:nvSpPr>
        <p:spPr>
          <a:xfrm>
            <a:off x="65913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간지가 거꾸로</a:t>
            </a:r>
          </a:p>
        </p:txBody>
      </p:sp>
      <p:sp>
        <p:nvSpPr>
          <p:cNvPr id="18" name="Shape 18"/>
          <p:cNvSpPr/>
          <p:nvPr/>
        </p:nvSpPr>
        <p:spPr>
          <a:xfrm>
            <a:off x="65913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5913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월주 이전 간지부터 逆방향으로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음남(陰男) · 양녀(陽女)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달력을 뒤로 넘기듯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판별법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태어난 해 천간의 음양과 성별로 결정됩니다. “양남음녀는 순행, 음남양녀는 역행”으로 외우면 쉬워요.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3238500"/>
            <a:ext cx="3429000" cy="3429000"/>
          </a:xfrm>
          <a:prstGeom prst="ellipse">
            <a:avLst/>
          </a:prstGeom>
          <a:solidFill>
            <a:srgbClr val="E8B8C4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02 · 대운(大運)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 간지 읽는 법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한 기둥(2글자)을 앞·뒤 5년으로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간지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두 글자가 한 칸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 한 칸은 천간+지지 2글자. 이 둘의 오행이 10년의 색을 정한다.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앞 5년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천간이 주도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 초반 5년은 위 글자(천간)의 기운이 더 세게 작용한다.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뒤 5년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지지가 주도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후반 5년은 아래 글자(지지)의 기운이 더 강해진다.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실전 팁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 간지의 오행이 원국에 “필요한 오행”이면 순풍, “부담되는 오행”이면 역풍으로 봅니다.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E8B8C4">
              <a:alpha val="16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03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03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세운 — 1년의 사건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THE YEARLY LUCK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세운은 해마다 모두에게 찾아오는 1년짜리 운입니다. 대운이라는 무대 위에서 벌어지는 “그해의 사건”이죠.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세운(歲運)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세운(歲運)이란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매년 바뀌는 1년의 간지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477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주기</a:t>
            </a:r>
          </a:p>
        </p:txBody>
      </p:sp>
      <p:sp>
        <p:nvSpPr>
          <p:cNvPr id="10" name="Text 10"/>
          <p:cNvSpPr/>
          <p:nvPr/>
        </p:nvSpPr>
        <p:spPr>
          <a:xfrm>
            <a:off x="10477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1년 단위</a:t>
            </a:r>
          </a:p>
        </p:txBody>
      </p:sp>
      <p:sp>
        <p:nvSpPr>
          <p:cNvPr id="11" name="Text 11"/>
          <p:cNvSpPr/>
          <p:nvPr/>
        </p:nvSpPr>
        <p:spPr>
          <a:xfrm>
            <a:off x="10477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매년(입춘 기준)마다 새 간지로 바뀐다. 대운보다 훨씬 촘촘한 흐름.</a:t>
            </a:r>
          </a:p>
        </p:txBody>
      </p:sp>
      <p:sp>
        <p:nvSpPr>
          <p:cNvPr id="12" name="Shape 12"/>
          <p:cNvSpPr/>
          <p:nvPr/>
        </p:nvSpPr>
        <p:spPr>
          <a:xfrm>
            <a:off x="43942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6799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공통</a:t>
            </a:r>
          </a:p>
        </p:txBody>
      </p:sp>
      <p:sp>
        <p:nvSpPr>
          <p:cNvPr id="14" name="Text 14"/>
          <p:cNvSpPr/>
          <p:nvPr/>
        </p:nvSpPr>
        <p:spPr>
          <a:xfrm>
            <a:off x="46799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모두에게 동일</a:t>
            </a:r>
          </a:p>
        </p:txBody>
      </p:sp>
      <p:sp>
        <p:nvSpPr>
          <p:cNvPr id="15" name="Text 15"/>
          <p:cNvSpPr/>
          <p:nvPr/>
        </p:nvSpPr>
        <p:spPr>
          <a:xfrm>
            <a:off x="46799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그해의 간지는 온 세상이 공유한다. 예) 2026년은 누구에게나 병오년.</a:t>
            </a:r>
          </a:p>
        </p:txBody>
      </p:sp>
      <p:sp>
        <p:nvSpPr>
          <p:cNvPr id="16" name="Shape 16"/>
          <p:cNvSpPr/>
          <p:nvPr/>
        </p:nvSpPr>
        <p:spPr>
          <a:xfrm>
            <a:off x="8026400" y="2743200"/>
            <a:ext cx="34036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12150" y="3028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개인차</a:t>
            </a:r>
          </a:p>
        </p:txBody>
      </p:sp>
      <p:sp>
        <p:nvSpPr>
          <p:cNvPr id="18" name="Text 18"/>
          <p:cNvSpPr/>
          <p:nvPr/>
        </p:nvSpPr>
        <p:spPr>
          <a:xfrm>
            <a:off x="8312150" y="3257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해석은 제각각</a:t>
            </a:r>
          </a:p>
        </p:txBody>
      </p:sp>
      <p:sp>
        <p:nvSpPr>
          <p:cNvPr id="19" name="Text 19"/>
          <p:cNvSpPr/>
          <p:nvPr/>
        </p:nvSpPr>
        <p:spPr>
          <a:xfrm>
            <a:off x="8312150" y="3676650"/>
            <a:ext cx="28321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병오년이라도 내 원국·대운과 만나 좋고 나쁨이 달라진다.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올해 예시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2026년은 병오년(丙午年) — 천간 병(丙)·지지 오(午)가 모두 강한 불(火)의 해입니다.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세운(歲運)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대운 vs 세운 한눈에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무대냐, 사건이냐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05100"/>
            <a:ext cx="10668000" cy="33813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10"/>
          <p:cNvSpPr/>
          <p:nvPr/>
        </p:nvSpPr>
        <p:spPr>
          <a:xfrm>
            <a:off x="1066800" y="2705100"/>
            <a:ext cx="1615440" cy="52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구분</a:t>
            </a:r>
          </a:p>
        </p:txBody>
      </p:sp>
      <p:sp>
        <p:nvSpPr>
          <p:cNvPr id="11" name="Text 11"/>
          <p:cNvSpPr/>
          <p:nvPr/>
        </p:nvSpPr>
        <p:spPr>
          <a:xfrm>
            <a:off x="2834640" y="2705100"/>
            <a:ext cx="4069080" cy="52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대운(大運)</a:t>
            </a:r>
          </a:p>
        </p:txBody>
      </p:sp>
      <p:sp>
        <p:nvSpPr>
          <p:cNvPr id="12" name="Text 12"/>
          <p:cNvSpPr/>
          <p:nvPr/>
        </p:nvSpPr>
        <p:spPr>
          <a:xfrm>
            <a:off x="7208520" y="2705100"/>
            <a:ext cx="4069080" cy="52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세운(歲運)</a:t>
            </a:r>
          </a:p>
        </p:txBody>
      </p:sp>
      <p:sp>
        <p:nvSpPr>
          <p:cNvPr id="13" name="Shape 13"/>
          <p:cNvSpPr/>
          <p:nvPr/>
        </p:nvSpPr>
        <p:spPr>
          <a:xfrm>
            <a:off x="914400" y="3228975"/>
            <a:ext cx="103632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1066800" y="3228975"/>
            <a:ext cx="16154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주기</a:t>
            </a:r>
          </a:p>
        </p:txBody>
      </p:sp>
      <p:sp>
        <p:nvSpPr>
          <p:cNvPr id="15" name="Text 15"/>
          <p:cNvSpPr/>
          <p:nvPr/>
        </p:nvSpPr>
        <p:spPr>
          <a:xfrm>
            <a:off x="2834640" y="32289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</a:t>
            </a:r>
          </a:p>
        </p:txBody>
      </p:sp>
      <p:sp>
        <p:nvSpPr>
          <p:cNvPr id="16" name="Text 16"/>
          <p:cNvSpPr/>
          <p:nvPr/>
        </p:nvSpPr>
        <p:spPr>
          <a:xfrm>
            <a:off x="7208520" y="32289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</a:t>
            </a:r>
          </a:p>
        </p:txBody>
      </p:sp>
      <p:sp>
        <p:nvSpPr>
          <p:cNvPr id="17" name="Shape 17"/>
          <p:cNvSpPr/>
          <p:nvPr/>
        </p:nvSpPr>
        <p:spPr>
          <a:xfrm>
            <a:off x="914400" y="3800475"/>
            <a:ext cx="103632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1066800" y="3800475"/>
            <a:ext cx="16154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역할</a:t>
            </a:r>
          </a:p>
        </p:txBody>
      </p:sp>
      <p:sp>
        <p:nvSpPr>
          <p:cNvPr id="19" name="Text 19"/>
          <p:cNvSpPr/>
          <p:nvPr/>
        </p:nvSpPr>
        <p:spPr>
          <a:xfrm>
            <a:off x="2834640" y="38004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무대 · 환경(배경)</a:t>
            </a:r>
          </a:p>
        </p:txBody>
      </p:sp>
      <p:sp>
        <p:nvSpPr>
          <p:cNvPr id="20" name="Text 20"/>
          <p:cNvSpPr/>
          <p:nvPr/>
        </p:nvSpPr>
        <p:spPr>
          <a:xfrm>
            <a:off x="7208520" y="38004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위에서 벌어지는 사건 · 결과</a:t>
            </a:r>
          </a:p>
        </p:txBody>
      </p:sp>
      <p:sp>
        <p:nvSpPr>
          <p:cNvPr id="21" name="Shape 21"/>
          <p:cNvSpPr/>
          <p:nvPr/>
        </p:nvSpPr>
        <p:spPr>
          <a:xfrm>
            <a:off x="914400" y="4371975"/>
            <a:ext cx="103632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1066800" y="4371975"/>
            <a:ext cx="16154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비유</a:t>
            </a:r>
          </a:p>
        </p:txBody>
      </p:sp>
      <p:sp>
        <p:nvSpPr>
          <p:cNvPr id="23" name="Text 23"/>
          <p:cNvSpPr/>
          <p:nvPr/>
        </p:nvSpPr>
        <p:spPr>
          <a:xfrm>
            <a:off x="2834640" y="43719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달리는 큰 도로</a:t>
            </a:r>
          </a:p>
        </p:txBody>
      </p:sp>
      <p:sp>
        <p:nvSpPr>
          <p:cNvPr id="24" name="Text 24"/>
          <p:cNvSpPr/>
          <p:nvPr/>
        </p:nvSpPr>
        <p:spPr>
          <a:xfrm>
            <a:off x="7208520" y="43719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올해 그 도로의 날씨</a:t>
            </a:r>
          </a:p>
        </p:txBody>
      </p:sp>
      <p:sp>
        <p:nvSpPr>
          <p:cNvPr id="25" name="Shape 25"/>
          <p:cNvSpPr/>
          <p:nvPr/>
        </p:nvSpPr>
        <p:spPr>
          <a:xfrm>
            <a:off x="914400" y="4943475"/>
            <a:ext cx="103632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1066800" y="4943475"/>
            <a:ext cx="16154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바뀜</a:t>
            </a:r>
          </a:p>
        </p:txBody>
      </p:sp>
      <p:sp>
        <p:nvSpPr>
          <p:cNvPr id="27" name="Text 27"/>
          <p:cNvSpPr/>
          <p:nvPr/>
        </p:nvSpPr>
        <p:spPr>
          <a:xfrm>
            <a:off x="2834640" y="49434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10년마다</a:t>
            </a:r>
          </a:p>
        </p:txBody>
      </p:sp>
      <p:sp>
        <p:nvSpPr>
          <p:cNvPr id="28" name="Text 28"/>
          <p:cNvSpPr/>
          <p:nvPr/>
        </p:nvSpPr>
        <p:spPr>
          <a:xfrm>
            <a:off x="7208520" y="49434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해마다</a:t>
            </a:r>
          </a:p>
        </p:txBody>
      </p:sp>
      <p:sp>
        <p:nvSpPr>
          <p:cNvPr id="29" name="Shape 29"/>
          <p:cNvSpPr/>
          <p:nvPr/>
        </p:nvSpPr>
        <p:spPr>
          <a:xfrm>
            <a:off x="914400" y="5514975"/>
            <a:ext cx="103632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1066800" y="5514975"/>
            <a:ext cx="16154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92524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관점</a:t>
            </a:r>
          </a:p>
        </p:txBody>
      </p:sp>
      <p:sp>
        <p:nvSpPr>
          <p:cNvPr id="31" name="Text 31"/>
          <p:cNvSpPr/>
          <p:nvPr/>
        </p:nvSpPr>
        <p:spPr>
          <a:xfrm>
            <a:off x="2834640" y="55149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방향 · 시기</a:t>
            </a:r>
          </a:p>
        </p:txBody>
      </p:sp>
      <p:sp>
        <p:nvSpPr>
          <p:cNvPr id="32" name="Text 32"/>
          <p:cNvSpPr/>
          <p:nvPr/>
        </p:nvSpPr>
        <p:spPr>
          <a:xfrm>
            <a:off x="7208520" y="5514975"/>
            <a:ext cx="40690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사건 · 타이밍</a:t>
            </a:r>
          </a:p>
        </p:txBody>
      </p:sp>
      <p:sp>
        <p:nvSpPr>
          <p:cNvPr id="33" name="Shape"/>
          <p:cNvSpPr/>
          <p:nvPr/>
        </p:nvSpPr>
        <p:spPr>
          <a:xfrm>
            <a:off x="2682240" y="2705194"/>
            <a:ext cx="0" cy="3381187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4" name="Shape"/>
          <p:cNvSpPr/>
          <p:nvPr/>
        </p:nvSpPr>
        <p:spPr>
          <a:xfrm>
            <a:off x="7056120" y="2705194"/>
            <a:ext cx="0" cy="3381187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5" name="Shape 35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6" name="Text 36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7" name="Text 37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03 · 세운(歲運)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세운 속의 월운(月運)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1년을 다시 12달로 쪼갠다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194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28194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1월</a:t>
            </a:r>
          </a:p>
        </p:txBody>
      </p:sp>
      <p:sp>
        <p:nvSpPr>
          <p:cNvPr id="10" name="Shape 10"/>
          <p:cNvSpPr/>
          <p:nvPr/>
        </p:nvSpPr>
        <p:spPr>
          <a:xfrm>
            <a:off x="2565400" y="28194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11"/>
          <p:cNvSpPr/>
          <p:nvPr/>
        </p:nvSpPr>
        <p:spPr>
          <a:xfrm>
            <a:off x="2565400" y="28194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2월</a:t>
            </a:r>
          </a:p>
        </p:txBody>
      </p:sp>
      <p:sp>
        <p:nvSpPr>
          <p:cNvPr id="12" name="Shape 12"/>
          <p:cNvSpPr/>
          <p:nvPr/>
        </p:nvSpPr>
        <p:spPr>
          <a:xfrm>
            <a:off x="4368800" y="28194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4368800" y="28194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3월</a:t>
            </a:r>
          </a:p>
        </p:txBody>
      </p:sp>
      <p:sp>
        <p:nvSpPr>
          <p:cNvPr id="14" name="Shape 14"/>
          <p:cNvSpPr/>
          <p:nvPr/>
        </p:nvSpPr>
        <p:spPr>
          <a:xfrm>
            <a:off x="6172200" y="28194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6172200" y="28194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4월</a:t>
            </a:r>
          </a:p>
        </p:txBody>
      </p:sp>
      <p:sp>
        <p:nvSpPr>
          <p:cNvPr id="16" name="Shape 16"/>
          <p:cNvSpPr/>
          <p:nvPr/>
        </p:nvSpPr>
        <p:spPr>
          <a:xfrm>
            <a:off x="7975600" y="28194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7975600" y="28194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5월</a:t>
            </a:r>
          </a:p>
        </p:txBody>
      </p:sp>
      <p:sp>
        <p:nvSpPr>
          <p:cNvPr id="18" name="Shape 18"/>
          <p:cNvSpPr/>
          <p:nvPr/>
        </p:nvSpPr>
        <p:spPr>
          <a:xfrm>
            <a:off x="9779000" y="28194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4C5A8"/>
          </a:solidFill>
          <a:ln w="12700">
            <a:solidFill>
              <a:srgbClr val="F4C5A8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9779000" y="28194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6월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36957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762000" y="36957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7월</a:t>
            </a:r>
          </a:p>
        </p:txBody>
      </p:sp>
      <p:sp>
        <p:nvSpPr>
          <p:cNvPr id="22" name="Shape 22"/>
          <p:cNvSpPr/>
          <p:nvPr/>
        </p:nvSpPr>
        <p:spPr>
          <a:xfrm>
            <a:off x="2565400" y="36957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3"/>
          <p:cNvSpPr/>
          <p:nvPr/>
        </p:nvSpPr>
        <p:spPr>
          <a:xfrm>
            <a:off x="2565400" y="36957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8월</a:t>
            </a:r>
          </a:p>
        </p:txBody>
      </p:sp>
      <p:sp>
        <p:nvSpPr>
          <p:cNvPr id="24" name="Shape 24"/>
          <p:cNvSpPr/>
          <p:nvPr/>
        </p:nvSpPr>
        <p:spPr>
          <a:xfrm>
            <a:off x="4368800" y="36957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5"/>
          <p:cNvSpPr/>
          <p:nvPr/>
        </p:nvSpPr>
        <p:spPr>
          <a:xfrm>
            <a:off x="4368800" y="36957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9월</a:t>
            </a:r>
          </a:p>
        </p:txBody>
      </p:sp>
      <p:sp>
        <p:nvSpPr>
          <p:cNvPr id="26" name="Shape 26"/>
          <p:cNvSpPr/>
          <p:nvPr/>
        </p:nvSpPr>
        <p:spPr>
          <a:xfrm>
            <a:off x="6172200" y="36957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7"/>
          <p:cNvSpPr/>
          <p:nvPr/>
        </p:nvSpPr>
        <p:spPr>
          <a:xfrm>
            <a:off x="6172200" y="36957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10월</a:t>
            </a:r>
          </a:p>
        </p:txBody>
      </p:sp>
      <p:sp>
        <p:nvSpPr>
          <p:cNvPr id="28" name="Shape 28"/>
          <p:cNvSpPr/>
          <p:nvPr/>
        </p:nvSpPr>
        <p:spPr>
          <a:xfrm>
            <a:off x="7975600" y="36957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9"/>
          <p:cNvSpPr/>
          <p:nvPr/>
        </p:nvSpPr>
        <p:spPr>
          <a:xfrm>
            <a:off x="7975600" y="36957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11월</a:t>
            </a:r>
          </a:p>
        </p:txBody>
      </p:sp>
      <p:sp>
        <p:nvSpPr>
          <p:cNvPr id="30" name="Shape 30"/>
          <p:cNvSpPr/>
          <p:nvPr/>
        </p:nvSpPr>
        <p:spPr>
          <a:xfrm>
            <a:off x="9779000" y="3695700"/>
            <a:ext cx="1651000" cy="723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31"/>
          <p:cNvSpPr/>
          <p:nvPr/>
        </p:nvSpPr>
        <p:spPr>
          <a:xfrm>
            <a:off x="9779000" y="3695700"/>
            <a:ext cx="1651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E4E4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12월</a:t>
            </a:r>
          </a:p>
        </p:txBody>
      </p:sp>
      <p:sp>
        <p:nvSpPr>
          <p:cNvPr id="32" name="Shape 32"/>
          <p:cNvSpPr/>
          <p:nvPr/>
        </p:nvSpPr>
        <p:spPr>
          <a:xfrm>
            <a:off x="762000" y="4800600"/>
            <a:ext cx="10668000" cy="1143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3"/>
          <p:cNvSpPr/>
          <p:nvPr/>
        </p:nvSpPr>
        <p:spPr>
          <a:xfrm>
            <a:off x="1066800" y="480060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쓰임</a:t>
            </a:r>
          </a:p>
        </p:txBody>
      </p:sp>
      <p:sp>
        <p:nvSpPr>
          <p:cNvPr id="34" name="Text 34"/>
          <p:cNvSpPr/>
          <p:nvPr/>
        </p:nvSpPr>
        <p:spPr>
          <a:xfrm>
            <a:off x="2438400" y="4800600"/>
            <a:ext cx="8686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월운은 세운을 12달로 나눈 더 촘촘한 흐름입니다.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“올해는 좋은데 몇 월이 고비일까?”처럼 시기를 좁힐 때 씁니다. (상세 계산은 3회차)</a:t>
            </a:r>
          </a:p>
        </p:txBody>
      </p:sp>
      <p:sp>
        <p:nvSpPr>
          <p:cNvPr id="35" name="Shape 35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6" name="Text 36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7" name="Text 37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04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04</a:t>
            </a:r>
          </a:p>
        </p:txBody>
      </p:sp>
      <p:sp>
        <p:nvSpPr>
          <p:cNvPr id="7" name="Text 7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만세력으로 직접 읽기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READING THE CHART · 실습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실제 만세력 화면에서 대운수 · 대운 간지 · 세운이 각각 어디에 있는지 직접 찾아봅니다.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2" name="Text 12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만세력으로 직접 읽기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만세력, 어디를 볼까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 · 대운 · 세운의 위치 (예시 화면)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05100"/>
            <a:ext cx="10668000" cy="33909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066800" y="3086100"/>
            <a:ext cx="533400" cy="533400"/>
          </a:xfrm>
          <a:prstGeom prst="ellipse">
            <a:avLst/>
          </a:prstGeom>
          <a:solidFill>
            <a:srgbClr val="A7E5D3">
              <a:alpha val="90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1066800" y="30861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1" name="Text 11"/>
          <p:cNvSpPr/>
          <p:nvPr/>
        </p:nvSpPr>
        <p:spPr>
          <a:xfrm>
            <a:off x="1676400" y="2857500"/>
            <a:ext cx="1676400" cy="5448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 (사주팔자)</a:t>
            </a:r>
          </a:p>
        </p:txBody>
      </p:sp>
      <p:sp>
        <p:nvSpPr>
          <p:cNvPr id="12" name="Text 12"/>
          <p:cNvSpPr/>
          <p:nvPr/>
        </p:nvSpPr>
        <p:spPr>
          <a:xfrm>
            <a:off x="1676400" y="3352800"/>
            <a:ext cx="1676400" cy="445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평생 고정 · 여덟 글자</a:t>
            </a:r>
          </a:p>
        </p:txBody>
      </p:sp>
      <p:sp>
        <p:nvSpPr>
          <p:cNvPr id="13" name="Text 13"/>
          <p:cNvSpPr/>
          <p:nvPr/>
        </p:nvSpPr>
        <p:spPr>
          <a:xfrm>
            <a:off x="3200400" y="2857500"/>
            <a:ext cx="185737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</a:t>
            </a:r>
          </a:p>
        </p:txBody>
      </p:sp>
      <p:sp>
        <p:nvSpPr>
          <p:cNvPr id="14" name="Shape 14"/>
          <p:cNvSpPr/>
          <p:nvPr/>
        </p:nvSpPr>
        <p:spPr>
          <a:xfrm>
            <a:off x="3200400" y="3067050"/>
            <a:ext cx="1857375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3200400" y="3105150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戊</a:t>
            </a:r>
          </a:p>
        </p:txBody>
      </p:sp>
      <p:sp>
        <p:nvSpPr>
          <p:cNvPr id="16" name="Text 16"/>
          <p:cNvSpPr/>
          <p:nvPr/>
        </p:nvSpPr>
        <p:spPr>
          <a:xfrm>
            <a:off x="3200400" y="3381375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E4E4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寅</a:t>
            </a:r>
          </a:p>
        </p:txBody>
      </p:sp>
      <p:sp>
        <p:nvSpPr>
          <p:cNvPr id="17" name="Text 17"/>
          <p:cNvSpPr/>
          <p:nvPr/>
        </p:nvSpPr>
        <p:spPr>
          <a:xfrm>
            <a:off x="5210175" y="2857500"/>
            <a:ext cx="185737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</a:t>
            </a:r>
          </a:p>
        </p:txBody>
      </p:sp>
      <p:sp>
        <p:nvSpPr>
          <p:cNvPr id="18" name="Shape 18"/>
          <p:cNvSpPr/>
          <p:nvPr/>
        </p:nvSpPr>
        <p:spPr>
          <a:xfrm>
            <a:off x="5210175" y="3067050"/>
            <a:ext cx="1857375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5210175" y="3105150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庚</a:t>
            </a:r>
          </a:p>
        </p:txBody>
      </p:sp>
      <p:sp>
        <p:nvSpPr>
          <p:cNvPr id="20" name="Text 20"/>
          <p:cNvSpPr/>
          <p:nvPr/>
        </p:nvSpPr>
        <p:spPr>
          <a:xfrm>
            <a:off x="5210175" y="3381375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E4E4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午</a:t>
            </a:r>
          </a:p>
        </p:txBody>
      </p:sp>
      <p:sp>
        <p:nvSpPr>
          <p:cNvPr id="21" name="Text 21"/>
          <p:cNvSpPr/>
          <p:nvPr/>
        </p:nvSpPr>
        <p:spPr>
          <a:xfrm>
            <a:off x="7219950" y="2857500"/>
            <a:ext cx="185737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</a:t>
            </a:r>
          </a:p>
        </p:txBody>
      </p:sp>
      <p:sp>
        <p:nvSpPr>
          <p:cNvPr id="22" name="Shape 22"/>
          <p:cNvSpPr/>
          <p:nvPr/>
        </p:nvSpPr>
        <p:spPr>
          <a:xfrm>
            <a:off x="7219950" y="3067050"/>
            <a:ext cx="1857375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7219950" y="3105150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丙</a:t>
            </a:r>
          </a:p>
        </p:txBody>
      </p:sp>
      <p:sp>
        <p:nvSpPr>
          <p:cNvPr id="24" name="Text 24"/>
          <p:cNvSpPr/>
          <p:nvPr/>
        </p:nvSpPr>
        <p:spPr>
          <a:xfrm>
            <a:off x="7219950" y="3381375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E4E4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子</a:t>
            </a:r>
          </a:p>
        </p:txBody>
      </p:sp>
      <p:sp>
        <p:nvSpPr>
          <p:cNvPr id="25" name="Text 25"/>
          <p:cNvSpPr/>
          <p:nvPr/>
        </p:nvSpPr>
        <p:spPr>
          <a:xfrm>
            <a:off x="9229725" y="2857500"/>
            <a:ext cx="185737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</a:t>
            </a:r>
          </a:p>
        </p:txBody>
      </p:sp>
      <p:sp>
        <p:nvSpPr>
          <p:cNvPr id="26" name="Shape 26"/>
          <p:cNvSpPr/>
          <p:nvPr/>
        </p:nvSpPr>
        <p:spPr>
          <a:xfrm>
            <a:off x="9229725" y="3067050"/>
            <a:ext cx="1857375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9229725" y="3105150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甲</a:t>
            </a:r>
          </a:p>
        </p:txBody>
      </p:sp>
      <p:sp>
        <p:nvSpPr>
          <p:cNvPr id="28" name="Text 28"/>
          <p:cNvSpPr/>
          <p:nvPr/>
        </p:nvSpPr>
        <p:spPr>
          <a:xfrm>
            <a:off x="9229725" y="3381375"/>
            <a:ext cx="1857375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E4E4E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戌</a:t>
            </a:r>
          </a:p>
        </p:txBody>
      </p:sp>
      <p:sp>
        <p:nvSpPr>
          <p:cNvPr id="29" name="Shape 29"/>
          <p:cNvSpPr/>
          <p:nvPr/>
        </p:nvSpPr>
        <p:spPr>
          <a:xfrm>
            <a:off x="1066800" y="4152900"/>
            <a:ext cx="533400" cy="533400"/>
          </a:xfrm>
          <a:prstGeom prst="ellipse">
            <a:avLst/>
          </a:prstGeom>
          <a:solidFill>
            <a:srgbClr val="A8C8E8">
              <a:alpha val="90000"/>
            </a:srgbClr>
          </a:solidFill>
          <a:ln/>
        </p:spPr>
      </p:sp>
      <p:sp>
        <p:nvSpPr>
          <p:cNvPr id="30" name="Text 30"/>
          <p:cNvSpPr/>
          <p:nvPr/>
        </p:nvSpPr>
        <p:spPr>
          <a:xfrm>
            <a:off x="1066800" y="41529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31" name="Text 31"/>
          <p:cNvSpPr/>
          <p:nvPr/>
        </p:nvSpPr>
        <p:spPr>
          <a:xfrm>
            <a:off x="1676400" y="3924300"/>
            <a:ext cx="1676400" cy="5448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 (10년 단위)</a:t>
            </a:r>
          </a:p>
        </p:txBody>
      </p:sp>
      <p:sp>
        <p:nvSpPr>
          <p:cNvPr id="32" name="Text 32"/>
          <p:cNvSpPr/>
          <p:nvPr/>
        </p:nvSpPr>
        <p:spPr>
          <a:xfrm>
            <a:off x="1676400" y="4419600"/>
            <a:ext cx="1676400" cy="445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대운수부터, 왼→오 진행</a:t>
            </a:r>
          </a:p>
        </p:txBody>
      </p:sp>
      <p:sp>
        <p:nvSpPr>
          <p:cNvPr id="33" name="Shape 33"/>
          <p:cNvSpPr/>
          <p:nvPr/>
        </p:nvSpPr>
        <p:spPr>
          <a:xfrm>
            <a:off x="3200400" y="4076700"/>
            <a:ext cx="145542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4" name="Text 34"/>
          <p:cNvSpPr/>
          <p:nvPr/>
        </p:nvSpPr>
        <p:spPr>
          <a:xfrm>
            <a:off x="3200400" y="4114800"/>
            <a:ext cx="1455420" cy="460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丁丑</a:t>
            </a:r>
          </a:p>
        </p:txBody>
      </p:sp>
      <p:sp>
        <p:nvSpPr>
          <p:cNvPr id="35" name="Text 35"/>
          <p:cNvSpPr/>
          <p:nvPr/>
        </p:nvSpPr>
        <p:spPr>
          <a:xfrm>
            <a:off x="3200400" y="4507611"/>
            <a:ext cx="14554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8세</a:t>
            </a:r>
          </a:p>
        </p:txBody>
      </p:sp>
      <p:sp>
        <p:nvSpPr>
          <p:cNvPr id="36" name="Shape 36"/>
          <p:cNvSpPr/>
          <p:nvPr/>
        </p:nvSpPr>
        <p:spPr>
          <a:xfrm>
            <a:off x="4808220" y="4076700"/>
            <a:ext cx="145542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7" name="Text 37"/>
          <p:cNvSpPr/>
          <p:nvPr/>
        </p:nvSpPr>
        <p:spPr>
          <a:xfrm>
            <a:off x="4808220" y="4114800"/>
            <a:ext cx="1455420" cy="460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戊寅</a:t>
            </a:r>
          </a:p>
        </p:txBody>
      </p:sp>
      <p:sp>
        <p:nvSpPr>
          <p:cNvPr id="38" name="Text 38"/>
          <p:cNvSpPr/>
          <p:nvPr/>
        </p:nvSpPr>
        <p:spPr>
          <a:xfrm>
            <a:off x="4808220" y="4507611"/>
            <a:ext cx="14554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18세</a:t>
            </a:r>
          </a:p>
        </p:txBody>
      </p:sp>
      <p:sp>
        <p:nvSpPr>
          <p:cNvPr id="39" name="Shape 39"/>
          <p:cNvSpPr/>
          <p:nvPr/>
        </p:nvSpPr>
        <p:spPr>
          <a:xfrm>
            <a:off x="6416040" y="4076700"/>
            <a:ext cx="145542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0" name="Text 40"/>
          <p:cNvSpPr/>
          <p:nvPr/>
        </p:nvSpPr>
        <p:spPr>
          <a:xfrm>
            <a:off x="6416040" y="4114800"/>
            <a:ext cx="1455420" cy="460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己卯</a:t>
            </a:r>
          </a:p>
        </p:txBody>
      </p:sp>
      <p:sp>
        <p:nvSpPr>
          <p:cNvPr id="41" name="Text 41"/>
          <p:cNvSpPr/>
          <p:nvPr/>
        </p:nvSpPr>
        <p:spPr>
          <a:xfrm>
            <a:off x="6416040" y="4507611"/>
            <a:ext cx="14554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28세</a:t>
            </a:r>
          </a:p>
        </p:txBody>
      </p:sp>
      <p:sp>
        <p:nvSpPr>
          <p:cNvPr id="42" name="Shape 42"/>
          <p:cNvSpPr/>
          <p:nvPr/>
        </p:nvSpPr>
        <p:spPr>
          <a:xfrm>
            <a:off x="8023860" y="4076700"/>
            <a:ext cx="145542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3" name="Text 43"/>
          <p:cNvSpPr/>
          <p:nvPr/>
        </p:nvSpPr>
        <p:spPr>
          <a:xfrm>
            <a:off x="8023860" y="4114800"/>
            <a:ext cx="1455420" cy="460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庚辰</a:t>
            </a:r>
          </a:p>
        </p:txBody>
      </p:sp>
      <p:sp>
        <p:nvSpPr>
          <p:cNvPr id="44" name="Text 44"/>
          <p:cNvSpPr/>
          <p:nvPr/>
        </p:nvSpPr>
        <p:spPr>
          <a:xfrm>
            <a:off x="8023860" y="4507611"/>
            <a:ext cx="14554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38세</a:t>
            </a:r>
          </a:p>
        </p:txBody>
      </p:sp>
      <p:sp>
        <p:nvSpPr>
          <p:cNvPr id="45" name="Shape 45"/>
          <p:cNvSpPr/>
          <p:nvPr/>
        </p:nvSpPr>
        <p:spPr>
          <a:xfrm>
            <a:off x="9631680" y="4076700"/>
            <a:ext cx="1455420" cy="742950"/>
          </a:xfrm>
          <a:prstGeom prst="roundRect">
            <a:avLst>
              <a:gd name="adj" fmla="val 12000"/>
            </a:avLst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6" name="Text 46"/>
          <p:cNvSpPr/>
          <p:nvPr/>
        </p:nvSpPr>
        <p:spPr>
          <a:xfrm>
            <a:off x="9631680" y="4114800"/>
            <a:ext cx="1455420" cy="460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辛巳</a:t>
            </a:r>
          </a:p>
        </p:txBody>
      </p:sp>
      <p:sp>
        <p:nvSpPr>
          <p:cNvPr id="47" name="Text 47"/>
          <p:cNvSpPr/>
          <p:nvPr/>
        </p:nvSpPr>
        <p:spPr>
          <a:xfrm>
            <a:off x="9631680" y="4507611"/>
            <a:ext cx="14554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48세</a:t>
            </a:r>
          </a:p>
        </p:txBody>
      </p:sp>
      <p:sp>
        <p:nvSpPr>
          <p:cNvPr id="48" name="Shape 48"/>
          <p:cNvSpPr/>
          <p:nvPr/>
        </p:nvSpPr>
        <p:spPr>
          <a:xfrm>
            <a:off x="1066800" y="5219700"/>
            <a:ext cx="533400" cy="533400"/>
          </a:xfrm>
          <a:prstGeom prst="ellipse">
            <a:avLst/>
          </a:prstGeom>
          <a:solidFill>
            <a:srgbClr val="F4C5A8">
              <a:alpha val="90000"/>
            </a:srgbClr>
          </a:solidFill>
          <a:ln/>
        </p:spPr>
      </p:sp>
      <p:sp>
        <p:nvSpPr>
          <p:cNvPr id="49" name="Text 49"/>
          <p:cNvSpPr/>
          <p:nvPr/>
        </p:nvSpPr>
        <p:spPr>
          <a:xfrm>
            <a:off x="1066800" y="5219700"/>
            <a:ext cx="5334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50" name="Text 50"/>
          <p:cNvSpPr/>
          <p:nvPr/>
        </p:nvSpPr>
        <p:spPr>
          <a:xfrm>
            <a:off x="1676400" y="4991100"/>
            <a:ext cx="1676400" cy="5448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세운 (올해)</a:t>
            </a:r>
          </a:p>
        </p:txBody>
      </p:sp>
      <p:sp>
        <p:nvSpPr>
          <p:cNvPr id="51" name="Text 51"/>
          <p:cNvSpPr/>
          <p:nvPr/>
        </p:nvSpPr>
        <p:spPr>
          <a:xfrm>
            <a:off x="1676400" y="5486400"/>
            <a:ext cx="1676400" cy="445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해마다 바뀌는 1년 간지</a:t>
            </a:r>
          </a:p>
        </p:txBody>
      </p:sp>
      <p:sp>
        <p:nvSpPr>
          <p:cNvPr id="52" name="Shape 52"/>
          <p:cNvSpPr/>
          <p:nvPr/>
        </p:nvSpPr>
        <p:spPr>
          <a:xfrm>
            <a:off x="3200400" y="5143500"/>
            <a:ext cx="25273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3" name="Text 53"/>
          <p:cNvSpPr/>
          <p:nvPr/>
        </p:nvSpPr>
        <p:spPr>
          <a:xfrm>
            <a:off x="3200400" y="5181600"/>
            <a:ext cx="2527300" cy="312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</a:p>
        </p:txBody>
      </p:sp>
      <p:sp>
        <p:nvSpPr>
          <p:cNvPr id="54" name="Text 54"/>
          <p:cNvSpPr/>
          <p:nvPr/>
        </p:nvSpPr>
        <p:spPr>
          <a:xfrm>
            <a:off x="3200400" y="5425821"/>
            <a:ext cx="2527300" cy="408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乙巳</a:t>
            </a:r>
          </a:p>
        </p:txBody>
      </p:sp>
      <p:sp>
        <p:nvSpPr>
          <p:cNvPr id="55" name="Shape 55"/>
          <p:cNvSpPr/>
          <p:nvPr/>
        </p:nvSpPr>
        <p:spPr>
          <a:xfrm>
            <a:off x="5880100" y="5143500"/>
            <a:ext cx="2527300" cy="742950"/>
          </a:xfrm>
          <a:prstGeom prst="roundRect">
            <a:avLst>
              <a:gd name="adj" fmla="val 12000"/>
            </a:avLst>
          </a:prstGeom>
          <a:solidFill>
            <a:srgbClr val="F4C5A8"/>
          </a:solidFill>
          <a:ln w="12700">
            <a:solidFill>
              <a:srgbClr val="F4C5A8"/>
            </a:solidFill>
            <a:prstDash val="solid"/>
          </a:ln>
        </p:spPr>
      </p:sp>
      <p:sp>
        <p:nvSpPr>
          <p:cNvPr id="56" name="Text 56"/>
          <p:cNvSpPr/>
          <p:nvPr/>
        </p:nvSpPr>
        <p:spPr>
          <a:xfrm>
            <a:off x="5880100" y="5181600"/>
            <a:ext cx="2527300" cy="312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</a:p>
        </p:txBody>
      </p:sp>
      <p:sp>
        <p:nvSpPr>
          <p:cNvPr id="57" name="Text 57"/>
          <p:cNvSpPr/>
          <p:nvPr/>
        </p:nvSpPr>
        <p:spPr>
          <a:xfrm>
            <a:off x="5880100" y="5425821"/>
            <a:ext cx="2527300" cy="408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丙午</a:t>
            </a:r>
          </a:p>
        </p:txBody>
      </p:sp>
      <p:sp>
        <p:nvSpPr>
          <p:cNvPr id="58" name="Shape 58"/>
          <p:cNvSpPr/>
          <p:nvPr/>
        </p:nvSpPr>
        <p:spPr>
          <a:xfrm>
            <a:off x="8559800" y="5143500"/>
            <a:ext cx="25273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9" name="Text 59"/>
          <p:cNvSpPr/>
          <p:nvPr/>
        </p:nvSpPr>
        <p:spPr>
          <a:xfrm>
            <a:off x="8559800" y="5181600"/>
            <a:ext cx="2527300" cy="312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</a:t>
            </a:r>
          </a:p>
        </p:txBody>
      </p:sp>
      <p:sp>
        <p:nvSpPr>
          <p:cNvPr id="60" name="Text 60"/>
          <p:cNvSpPr/>
          <p:nvPr/>
        </p:nvSpPr>
        <p:spPr>
          <a:xfrm>
            <a:off x="8559800" y="5425821"/>
            <a:ext cx="2527300" cy="408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丁未</a:t>
            </a:r>
          </a:p>
        </p:txBody>
      </p:sp>
      <p:sp>
        <p:nvSpPr>
          <p:cNvPr id="61" name="Shape 6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62" name="Text 62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63" name="Text 6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2667000"/>
            <a:ext cx="3429000" cy="3429000"/>
          </a:xfrm>
          <a:prstGeom prst="ellipse">
            <a:avLst/>
          </a:prstGeom>
          <a:solidFill>
            <a:srgbClr val="A8C8E8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만세력으로 직접 읽기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STEP 1 — 대운수와 대운 찾기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내 대운이 몇 살에 바뀌는지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1066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028700" y="2946400"/>
            <a:ext cx="609600" cy="609600"/>
          </a:xfrm>
          <a:prstGeom prst="ellipse">
            <a:avLst/>
          </a:prstGeom>
          <a:solidFill>
            <a:srgbClr val="A7E5D3">
              <a:alpha val="90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1028700" y="29464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1" name="Text 11"/>
          <p:cNvSpPr/>
          <p:nvPr/>
        </p:nvSpPr>
        <p:spPr>
          <a:xfrm>
            <a:off x="1905000" y="2933700"/>
            <a:ext cx="9220200" cy="406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대운수를 확인한다</a:t>
            </a:r>
          </a:p>
        </p:txBody>
      </p:sp>
      <p:sp>
        <p:nvSpPr>
          <p:cNvPr id="12" name="Text 12"/>
          <p:cNvSpPr/>
          <p:nvPr/>
        </p:nvSpPr>
        <p:spPr>
          <a:xfrm>
            <a:off x="1905000" y="3210560"/>
            <a:ext cx="922020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 줄 맨 앞(또는 위)의 숫자. 첫 대운이 시작되는 나이다.</a:t>
            </a:r>
          </a:p>
        </p:txBody>
      </p:sp>
      <p:sp>
        <p:nvSpPr>
          <p:cNvPr id="13" name="Shape 13"/>
          <p:cNvSpPr/>
          <p:nvPr/>
        </p:nvSpPr>
        <p:spPr>
          <a:xfrm>
            <a:off x="762000" y="3911600"/>
            <a:ext cx="1066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4"/>
          <p:cNvSpPr/>
          <p:nvPr/>
        </p:nvSpPr>
        <p:spPr>
          <a:xfrm>
            <a:off x="1028700" y="4114800"/>
            <a:ext cx="609600" cy="609600"/>
          </a:xfrm>
          <a:prstGeom prst="ellipse">
            <a:avLst/>
          </a:prstGeom>
          <a:solidFill>
            <a:srgbClr val="A8C8E8">
              <a:alpha val="90000"/>
            </a:srgbClr>
          </a:solidFill>
          <a:ln/>
        </p:spPr>
      </p:sp>
      <p:sp>
        <p:nvSpPr>
          <p:cNvPr id="15" name="Text 15"/>
          <p:cNvSpPr/>
          <p:nvPr/>
        </p:nvSpPr>
        <p:spPr>
          <a:xfrm>
            <a:off x="1028700" y="4114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6" name="Text 16"/>
          <p:cNvSpPr/>
          <p:nvPr/>
        </p:nvSpPr>
        <p:spPr>
          <a:xfrm>
            <a:off x="1905000" y="4102100"/>
            <a:ext cx="9220200" cy="406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지금 내 대운 칸을 찾는다</a:t>
            </a:r>
          </a:p>
        </p:txBody>
      </p:sp>
      <p:sp>
        <p:nvSpPr>
          <p:cNvPr id="17" name="Text 17"/>
          <p:cNvSpPr/>
          <p:nvPr/>
        </p:nvSpPr>
        <p:spPr>
          <a:xfrm>
            <a:off x="1905000" y="4378960"/>
            <a:ext cx="922020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나이가 포함된 대운 간지 한 칸. 예) 48세면 48~57세 칸.</a:t>
            </a:r>
          </a:p>
        </p:txBody>
      </p:sp>
      <p:sp>
        <p:nvSpPr>
          <p:cNvPr id="18" name="Shape 18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9"/>
          <p:cNvSpPr/>
          <p:nvPr/>
        </p:nvSpPr>
        <p:spPr>
          <a:xfrm>
            <a:off x="1028700" y="5283200"/>
            <a:ext cx="609600" cy="609600"/>
          </a:xfrm>
          <a:prstGeom prst="ellipse">
            <a:avLst/>
          </a:prstGeom>
          <a:solidFill>
            <a:srgbClr val="F4C5A8">
              <a:alpha val="90000"/>
            </a:srgbClr>
          </a:solidFill>
          <a:ln/>
        </p:spPr>
      </p:sp>
      <p:sp>
        <p:nvSpPr>
          <p:cNvPr id="20" name="Text 20"/>
          <p:cNvSpPr/>
          <p:nvPr/>
        </p:nvSpPr>
        <p:spPr>
          <a:xfrm>
            <a:off x="1028700" y="52832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1" name="Text 21"/>
          <p:cNvSpPr/>
          <p:nvPr/>
        </p:nvSpPr>
        <p:spPr>
          <a:xfrm>
            <a:off x="1905000" y="5270500"/>
            <a:ext cx="9220200" cy="406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그 간지의 오행을 본다</a:t>
            </a:r>
          </a:p>
        </p:txBody>
      </p:sp>
      <p:sp>
        <p:nvSpPr>
          <p:cNvPr id="22" name="Text 22"/>
          <p:cNvSpPr/>
          <p:nvPr/>
        </p:nvSpPr>
        <p:spPr>
          <a:xfrm>
            <a:off x="1905000" y="5547360"/>
            <a:ext cx="922020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천간·지지가 무슨 오행인지 확인 → 원국에 필요한 오행인지 판단한다.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만세력으로 직접 읽기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STEP 2 — 올해 세운 찾기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올해가 나에게 어떤 해인지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1066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028700" y="2946400"/>
            <a:ext cx="609600" cy="609600"/>
          </a:xfrm>
          <a:prstGeom prst="ellipse">
            <a:avLst/>
          </a:prstGeom>
          <a:solidFill>
            <a:srgbClr val="A7E5D3">
              <a:alpha val="90000"/>
            </a:srgbClr>
          </a:solidFill>
          <a:ln/>
        </p:spPr>
      </p:sp>
      <p:sp>
        <p:nvSpPr>
          <p:cNvPr id="10" name="Text 10"/>
          <p:cNvSpPr/>
          <p:nvPr/>
        </p:nvSpPr>
        <p:spPr>
          <a:xfrm>
            <a:off x="1028700" y="29464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1" name="Text 11"/>
          <p:cNvSpPr/>
          <p:nvPr/>
        </p:nvSpPr>
        <p:spPr>
          <a:xfrm>
            <a:off x="1905000" y="2933700"/>
            <a:ext cx="9220200" cy="406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올해 간지를 확인한다</a:t>
            </a:r>
          </a:p>
        </p:txBody>
      </p:sp>
      <p:sp>
        <p:nvSpPr>
          <p:cNvPr id="12" name="Text 12"/>
          <p:cNvSpPr/>
          <p:nvPr/>
        </p:nvSpPr>
        <p:spPr>
          <a:xfrm>
            <a:off x="1905000" y="3210560"/>
            <a:ext cx="922020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세운 줄에서 올해(예: 2026 병오년) 간지를 찾는다. 모두에게 공통이다.</a:t>
            </a:r>
          </a:p>
        </p:txBody>
      </p:sp>
      <p:sp>
        <p:nvSpPr>
          <p:cNvPr id="13" name="Shape 13"/>
          <p:cNvSpPr/>
          <p:nvPr/>
        </p:nvSpPr>
        <p:spPr>
          <a:xfrm>
            <a:off x="762000" y="3911600"/>
            <a:ext cx="1066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4"/>
          <p:cNvSpPr/>
          <p:nvPr/>
        </p:nvSpPr>
        <p:spPr>
          <a:xfrm>
            <a:off x="1028700" y="4114800"/>
            <a:ext cx="609600" cy="609600"/>
          </a:xfrm>
          <a:prstGeom prst="ellipse">
            <a:avLst/>
          </a:prstGeom>
          <a:solidFill>
            <a:srgbClr val="A8C8E8">
              <a:alpha val="90000"/>
            </a:srgbClr>
          </a:solidFill>
          <a:ln/>
        </p:spPr>
      </p:sp>
      <p:sp>
        <p:nvSpPr>
          <p:cNvPr id="15" name="Text 15"/>
          <p:cNvSpPr/>
          <p:nvPr/>
        </p:nvSpPr>
        <p:spPr>
          <a:xfrm>
            <a:off x="1028700" y="4114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6" name="Text 16"/>
          <p:cNvSpPr/>
          <p:nvPr/>
        </p:nvSpPr>
        <p:spPr>
          <a:xfrm>
            <a:off x="1905000" y="4102100"/>
            <a:ext cx="9220200" cy="406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오행 성분을 본다</a:t>
            </a:r>
          </a:p>
        </p:txBody>
      </p:sp>
      <p:sp>
        <p:nvSpPr>
          <p:cNvPr id="17" name="Text 17"/>
          <p:cNvSpPr/>
          <p:nvPr/>
        </p:nvSpPr>
        <p:spPr>
          <a:xfrm>
            <a:off x="1905000" y="4378960"/>
            <a:ext cx="922020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병오년이면 병(火)·오(火). 올해는 불(火) 기운이 강한 해다.</a:t>
            </a:r>
          </a:p>
        </p:txBody>
      </p:sp>
      <p:sp>
        <p:nvSpPr>
          <p:cNvPr id="18" name="Shape 18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9"/>
          <p:cNvSpPr/>
          <p:nvPr/>
        </p:nvSpPr>
        <p:spPr>
          <a:xfrm>
            <a:off x="1028700" y="5283200"/>
            <a:ext cx="609600" cy="609600"/>
          </a:xfrm>
          <a:prstGeom prst="ellipse">
            <a:avLst/>
          </a:prstGeom>
          <a:solidFill>
            <a:srgbClr val="F4C5A8">
              <a:alpha val="90000"/>
            </a:srgbClr>
          </a:solidFill>
          <a:ln/>
        </p:spPr>
      </p:sp>
      <p:sp>
        <p:nvSpPr>
          <p:cNvPr id="20" name="Text 20"/>
          <p:cNvSpPr/>
          <p:nvPr/>
        </p:nvSpPr>
        <p:spPr>
          <a:xfrm>
            <a:off x="1028700" y="52832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1" name="Text 21"/>
          <p:cNvSpPr/>
          <p:nvPr/>
        </p:nvSpPr>
        <p:spPr>
          <a:xfrm>
            <a:off x="1905000" y="5270500"/>
            <a:ext cx="9220200" cy="406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내 원국·대운과 대입한다</a:t>
            </a:r>
          </a:p>
        </p:txBody>
      </p:sp>
      <p:sp>
        <p:nvSpPr>
          <p:cNvPr id="22" name="Text 22"/>
          <p:cNvSpPr/>
          <p:nvPr/>
        </p:nvSpPr>
        <p:spPr>
          <a:xfrm>
            <a:off x="1905000" y="5547360"/>
            <a:ext cx="922020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불이 내게 필요한 기운인지, 부담인지 판단하면 올해 운이 보인다.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3238500"/>
            <a:ext cx="3429000" cy="3429000"/>
          </a:xfrm>
          <a:prstGeom prst="ellipse">
            <a:avLst/>
          </a:prstGeom>
          <a:solidFill>
            <a:srgbClr val="E8B8C4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04 · 만세력으로 직접 읽기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함께 읽어보기 — 예시 명식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겨울에 태어난 庚金의 사례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686050"/>
            <a:ext cx="10668000" cy="6858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1066800" y="2686050"/>
            <a:ext cx="167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예시 명식</a:t>
            </a:r>
          </a:p>
        </p:txBody>
      </p:sp>
      <p:sp>
        <p:nvSpPr>
          <p:cNvPr id="10" name="Text 10"/>
          <p:cNvSpPr/>
          <p:nvPr/>
        </p:nvSpPr>
        <p:spPr>
          <a:xfrm>
            <a:off x="2743200" y="2686050"/>
            <a:ext cx="838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 甲戌 · 월 丙子 · 일 庚午 · 시 戊寅 — 일간 庚(金), 겨울(子월) 출생 → 추운 사주, 필요오행 火.</a:t>
            </a:r>
          </a:p>
        </p:txBody>
      </p:sp>
      <p:sp>
        <p:nvSpPr>
          <p:cNvPr id="11" name="Shape 11"/>
          <p:cNvSpPr/>
          <p:nvPr/>
        </p:nvSpPr>
        <p:spPr>
          <a:xfrm>
            <a:off x="762000" y="3505200"/>
            <a:ext cx="3403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2"/>
          <p:cNvSpPr/>
          <p:nvPr/>
        </p:nvSpPr>
        <p:spPr>
          <a:xfrm>
            <a:off x="1047750" y="3790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</a:t>
            </a:r>
          </a:p>
        </p:txBody>
      </p:sp>
      <p:sp>
        <p:nvSpPr>
          <p:cNvPr id="13" name="Text 13"/>
          <p:cNvSpPr/>
          <p:nvPr/>
        </p:nvSpPr>
        <p:spPr>
          <a:xfrm>
            <a:off x="1047750" y="4019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타고난 나</a:t>
            </a:r>
          </a:p>
        </p:txBody>
      </p:sp>
      <p:sp>
        <p:nvSpPr>
          <p:cNvPr id="14" name="Text 14"/>
          <p:cNvSpPr/>
          <p:nvPr/>
        </p:nvSpPr>
        <p:spPr>
          <a:xfrm>
            <a:off x="1047750" y="4438650"/>
            <a:ext cx="28321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庚金 일간이 한겨울에 났다. 차갑게 굳은 금을 따뜻한 火로 녹여야 빛난다. (필요오행은 火)</a:t>
            </a:r>
          </a:p>
        </p:txBody>
      </p:sp>
      <p:sp>
        <p:nvSpPr>
          <p:cNvPr id="15" name="Shape 15"/>
          <p:cNvSpPr/>
          <p:nvPr/>
        </p:nvSpPr>
        <p:spPr>
          <a:xfrm>
            <a:off x="4394200" y="3505200"/>
            <a:ext cx="3403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6"/>
          <p:cNvSpPr/>
          <p:nvPr/>
        </p:nvSpPr>
        <p:spPr>
          <a:xfrm>
            <a:off x="4679950" y="3790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</a:t>
            </a:r>
          </a:p>
        </p:txBody>
      </p:sp>
      <p:sp>
        <p:nvSpPr>
          <p:cNvPr id="17" name="Text 17"/>
          <p:cNvSpPr/>
          <p:nvPr/>
        </p:nvSpPr>
        <p:spPr>
          <a:xfrm>
            <a:off x="4679950" y="4019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지금 대운</a:t>
            </a:r>
          </a:p>
        </p:txBody>
      </p:sp>
      <p:sp>
        <p:nvSpPr>
          <p:cNvPr id="18" name="Text 18"/>
          <p:cNvSpPr/>
          <p:nvPr/>
        </p:nvSpPr>
        <p:spPr>
          <a:xfrm>
            <a:off x="4679950" y="4438650"/>
            <a:ext cx="28321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48세 辛巳 대운. 지지 巳가 火 → 필요한 기운이 배경으로 들어오는 순풍의 10년.</a:t>
            </a:r>
          </a:p>
        </p:txBody>
      </p:sp>
      <p:sp>
        <p:nvSpPr>
          <p:cNvPr id="19" name="Shape 19"/>
          <p:cNvSpPr/>
          <p:nvPr/>
        </p:nvSpPr>
        <p:spPr>
          <a:xfrm>
            <a:off x="8026400" y="3505200"/>
            <a:ext cx="3403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20"/>
          <p:cNvSpPr/>
          <p:nvPr/>
        </p:nvSpPr>
        <p:spPr>
          <a:xfrm>
            <a:off x="8312150" y="3790950"/>
            <a:ext cx="28321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세운</a:t>
            </a:r>
          </a:p>
        </p:txBody>
      </p:sp>
      <p:sp>
        <p:nvSpPr>
          <p:cNvPr id="21" name="Text 21"/>
          <p:cNvSpPr/>
          <p:nvPr/>
        </p:nvSpPr>
        <p:spPr>
          <a:xfrm>
            <a:off x="8312150" y="4019550"/>
            <a:ext cx="2832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올해 세운</a:t>
            </a:r>
          </a:p>
        </p:txBody>
      </p:sp>
      <p:sp>
        <p:nvSpPr>
          <p:cNvPr id="22" name="Text 22"/>
          <p:cNvSpPr/>
          <p:nvPr/>
        </p:nvSpPr>
        <p:spPr>
          <a:xfrm>
            <a:off x="8312150" y="4438650"/>
            <a:ext cx="28321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병오년, 火가 강한 해. 대운(火)과 세운(火)이 겹쳐 조후가 채워지는 좋은 흐름.</a:t>
            </a:r>
          </a:p>
        </p:txBody>
      </p:sp>
      <p:sp>
        <p:nvSpPr>
          <p:cNvPr id="23" name="Text 23"/>
          <p:cNvSpPr/>
          <p:nvPr/>
        </p:nvSpPr>
        <p:spPr>
          <a:xfrm>
            <a:off x="762000" y="5867400"/>
            <a:ext cx="1066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간지는 이해를 돕기 위한 예시입니다. 실제 명식의 간지·대운은 만세력이 자동으로 계산합니다.</a:t>
            </a:r>
          </a:p>
        </p:txBody>
      </p:sp>
      <p:sp>
        <p:nvSpPr>
          <p:cNvPr id="24" name="Shape 24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6" name="Text 26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1428750" y="3429000"/>
            <a:ext cx="3429000" cy="34290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5" name="Text 5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6" name="Text 6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05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238125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5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SECTION 05</a:t>
            </a:r>
          </a:p>
        </p:txBody>
      </p:sp>
      <p:sp>
        <p:nvSpPr>
          <p:cNvPr id="8" name="Text 8"/>
          <p:cNvSpPr/>
          <p:nvPr/>
        </p:nvSpPr>
        <p:spPr>
          <a:xfrm>
            <a:off x="723900" y="2724150"/>
            <a:ext cx="106680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kern="0" spc="-1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운 해석의 기초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3733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HOW LUCK MEETS THE CHART · 생극제화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4191000"/>
            <a:ext cx="8382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들어오는 운의 글자가 내 원국과 만나면 생(生)하거나 극(剋)합니다. 생극제화로 길흉의 방향을 읽습니다.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13" name="Text 13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운 해석의 기초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생극제화 빠른 복습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오행이 서로 돕고 누르는 관계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7620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A7E5D3"/>
          </a:solidFill>
          <a:ln/>
        </p:spPr>
      </p:sp>
      <p:sp>
        <p:nvSpPr>
          <p:cNvPr id="10" name="Text 10"/>
          <p:cNvSpPr/>
          <p:nvPr/>
        </p:nvSpPr>
        <p:spPr>
          <a:xfrm>
            <a:off x="11049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相生 · 상생</a:t>
            </a:r>
          </a:p>
        </p:txBody>
      </p:sp>
      <p:sp>
        <p:nvSpPr>
          <p:cNvPr id="11" name="Text 11"/>
          <p:cNvSpPr/>
          <p:nvPr/>
        </p:nvSpPr>
        <p:spPr>
          <a:xfrm>
            <a:off x="11049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낳고 돕는다</a:t>
            </a:r>
          </a:p>
        </p:txBody>
      </p:sp>
      <p:sp>
        <p:nvSpPr>
          <p:cNvPr id="12" name="Shape 12"/>
          <p:cNvSpPr/>
          <p:nvPr/>
        </p:nvSpPr>
        <p:spPr>
          <a:xfrm>
            <a:off x="11049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11049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목 → 화 → 토 → 금 → 수 → 목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앞의 기운이 뒤의 기운을 살린다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운이 원국을 생하면 힘이 붙는다</a:t>
            </a:r>
          </a:p>
        </p:txBody>
      </p:sp>
      <p:sp>
        <p:nvSpPr>
          <p:cNvPr id="14" name="Shape 14"/>
          <p:cNvSpPr/>
          <p:nvPr/>
        </p:nvSpPr>
        <p:spPr>
          <a:xfrm>
            <a:off x="6248400" y="2743200"/>
            <a:ext cx="51816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6248400" y="2743200"/>
            <a:ext cx="5181600" cy="152400"/>
          </a:xfrm>
          <a:prstGeom prst="roundRect">
            <a:avLst>
              <a:gd name="adj" fmla="val 0"/>
            </a:avLst>
          </a:prstGeom>
          <a:solidFill>
            <a:srgbClr val="E8B8C4"/>
          </a:solidFill>
          <a:ln/>
        </p:spPr>
      </p:sp>
      <p:sp>
        <p:nvSpPr>
          <p:cNvPr id="16" name="Text 16"/>
          <p:cNvSpPr/>
          <p:nvPr/>
        </p:nvSpPr>
        <p:spPr>
          <a:xfrm>
            <a:off x="6591300" y="3048000"/>
            <a:ext cx="449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相剋 · 상극</a:t>
            </a:r>
          </a:p>
        </p:txBody>
      </p:sp>
      <p:sp>
        <p:nvSpPr>
          <p:cNvPr id="17" name="Text 17"/>
          <p:cNvSpPr/>
          <p:nvPr/>
        </p:nvSpPr>
        <p:spPr>
          <a:xfrm>
            <a:off x="6591300" y="3314700"/>
            <a:ext cx="449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누르고 통제</a:t>
            </a:r>
          </a:p>
        </p:txBody>
      </p:sp>
      <p:sp>
        <p:nvSpPr>
          <p:cNvPr id="18" name="Shape 18"/>
          <p:cNvSpPr/>
          <p:nvPr/>
        </p:nvSpPr>
        <p:spPr>
          <a:xfrm>
            <a:off x="6591300" y="3848100"/>
            <a:ext cx="4495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591300" y="4000500"/>
            <a:ext cx="449580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목 → 토 → 수 → 화 → 금 → 목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앞의 기운이 뒤의 기운을 억누른다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적당하면 절제, 과하면 손상</a:t>
            </a:r>
          </a:p>
        </p:txBody>
      </p:sp>
      <p:sp>
        <p:nvSpPr>
          <p:cNvPr id="20" name="Shape 2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 해석</a:t>
            </a:r>
          </a:p>
        </p:txBody>
      </p:sp>
      <p:sp>
        <p:nvSpPr>
          <p:cNvPr id="22" name="Text 22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운의 글자가 내게 필요한 오행을 “생”하면 길(吉), 필요한 걸 “극”해 빼앗으면 흉(凶)으로 봅니다.</a:t>
            </a:r>
          </a:p>
        </p:txBody>
      </p:sp>
      <p:sp>
        <p:nvSpPr>
          <p:cNvPr id="23" name="Shape 23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29750" y="2857500"/>
            <a:ext cx="3619500" cy="3619500"/>
          </a:xfrm>
          <a:prstGeom prst="ellipse">
            <a:avLst/>
          </a:prstGeom>
          <a:solidFill>
            <a:srgbClr val="A7E5D3">
              <a:alpha val="16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운 해석의 기초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필요한 오행이 들어올 때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용신(用神)을 만나는 상승기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필요 火</a:t>
            </a:r>
          </a:p>
        </p:txBody>
      </p:sp>
      <p:sp>
        <p:nvSpPr>
          <p:cNvPr id="11" name="Text 11"/>
          <p:cNvSpPr/>
          <p:nvPr/>
        </p:nvSpPr>
        <p:spPr>
          <a:xfrm>
            <a:off x="7620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추운 庚金</a:t>
            </a:r>
          </a:p>
        </p:txBody>
      </p:sp>
      <p:sp>
        <p:nvSpPr>
          <p:cNvPr id="12" name="Text 12"/>
          <p:cNvSpPr/>
          <p:nvPr/>
        </p:nvSpPr>
        <p:spPr>
          <a:xfrm>
            <a:off x="405130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</a:p>
        </p:txBody>
      </p:sp>
      <p:sp>
        <p:nvSpPr>
          <p:cNvPr id="13" name="Shape 13"/>
          <p:cNvSpPr/>
          <p:nvPr/>
        </p:nvSpPr>
        <p:spPr>
          <a:xfrm>
            <a:off x="445135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45135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</a:t>
            </a:r>
          </a:p>
        </p:txBody>
      </p:sp>
      <p:sp>
        <p:nvSpPr>
          <p:cNvPr id="15" name="Text 15"/>
          <p:cNvSpPr/>
          <p:nvPr/>
        </p:nvSpPr>
        <p:spPr>
          <a:xfrm>
            <a:off x="445135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火 운</a:t>
            </a:r>
          </a:p>
        </p:txBody>
      </p:sp>
      <p:sp>
        <p:nvSpPr>
          <p:cNvPr id="16" name="Text 16"/>
          <p:cNvSpPr/>
          <p:nvPr/>
        </p:nvSpPr>
        <p:spPr>
          <a:xfrm>
            <a:off x="445135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대운·세운에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巳·午·丙·丁</a:t>
            </a:r>
          </a:p>
        </p:txBody>
      </p:sp>
      <p:sp>
        <p:nvSpPr>
          <p:cNvPr id="17" name="Text 17"/>
          <p:cNvSpPr/>
          <p:nvPr/>
        </p:nvSpPr>
        <p:spPr>
          <a:xfrm>
            <a:off x="774065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</a:p>
        </p:txBody>
      </p:sp>
      <p:sp>
        <p:nvSpPr>
          <p:cNvPr id="18" name="Shape 18"/>
          <p:cNvSpPr/>
          <p:nvPr/>
        </p:nvSpPr>
        <p:spPr>
          <a:xfrm>
            <a:off x="81407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81407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결과</a:t>
            </a:r>
          </a:p>
        </p:txBody>
      </p:sp>
      <p:sp>
        <p:nvSpPr>
          <p:cNvPr id="20" name="Text 20"/>
          <p:cNvSpPr/>
          <p:nvPr/>
        </p:nvSpPr>
        <p:spPr>
          <a:xfrm>
            <a:off x="81407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순풍</a:t>
            </a:r>
          </a:p>
        </p:txBody>
      </p:sp>
      <p:sp>
        <p:nvSpPr>
          <p:cNvPr id="21" name="Text 21"/>
          <p:cNvSpPr/>
          <p:nvPr/>
        </p:nvSpPr>
        <p:spPr>
          <a:xfrm>
            <a:off x="81407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조후 충족·발전</a:t>
            </a:r>
          </a:p>
        </p:txBody>
      </p:sp>
      <p:sp>
        <p:nvSpPr>
          <p:cNvPr id="22" name="Shape 22"/>
          <p:cNvSpPr/>
          <p:nvPr/>
        </p:nvSpPr>
        <p:spPr>
          <a:xfrm>
            <a:off x="762000" y="46482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3"/>
          <p:cNvSpPr/>
          <p:nvPr/>
        </p:nvSpPr>
        <p:spPr>
          <a:xfrm>
            <a:off x="1066800" y="46482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용신</a:t>
            </a:r>
          </a:p>
        </p:txBody>
      </p:sp>
      <p:sp>
        <p:nvSpPr>
          <p:cNvPr id="24" name="Text 24"/>
          <p:cNvSpPr/>
          <p:nvPr/>
        </p:nvSpPr>
        <p:spPr>
          <a:xfrm>
            <a:off x="2590800" y="46482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사주에 가장 필요한 오행이 “용신”. 용신 운이 오는 대운·세운이 대체로 인생의 상승기입니다.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" y="5562600"/>
            <a:ext cx="1066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용신 잡는 법은 3회차에서 자세히 다룹니다. 지금은 “필요한 오행 = 좋은 운”만 기억하세요.</a:t>
            </a:r>
          </a:p>
        </p:txBody>
      </p:sp>
      <p:sp>
        <p:nvSpPr>
          <p:cNvPr id="26" name="Shape 2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8" name="Text 2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20250" y="3238500"/>
            <a:ext cx="3429000" cy="3429000"/>
          </a:xfrm>
          <a:prstGeom prst="ellipse">
            <a:avLst/>
          </a:prstGeom>
          <a:solidFill>
            <a:srgbClr val="E8B8C4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운 해석의 기초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반대로, 부담되는 운이 올 때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기신(忌神) 시기 — 조심 구간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7620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</a:t>
            </a:r>
          </a:p>
        </p:txBody>
      </p:sp>
      <p:sp>
        <p:nvSpPr>
          <p:cNvPr id="10" name="Text 10"/>
          <p:cNvSpPr/>
          <p:nvPr/>
        </p:nvSpPr>
        <p:spPr>
          <a:xfrm>
            <a:off x="7620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필요 火</a:t>
            </a:r>
          </a:p>
        </p:txBody>
      </p:sp>
      <p:sp>
        <p:nvSpPr>
          <p:cNvPr id="11" name="Text 11"/>
          <p:cNvSpPr/>
          <p:nvPr/>
        </p:nvSpPr>
        <p:spPr>
          <a:xfrm>
            <a:off x="7620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추운 庚金</a:t>
            </a:r>
          </a:p>
        </p:txBody>
      </p:sp>
      <p:sp>
        <p:nvSpPr>
          <p:cNvPr id="12" name="Text 12"/>
          <p:cNvSpPr/>
          <p:nvPr/>
        </p:nvSpPr>
        <p:spPr>
          <a:xfrm>
            <a:off x="405130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</a:p>
        </p:txBody>
      </p:sp>
      <p:sp>
        <p:nvSpPr>
          <p:cNvPr id="13" name="Shape 13"/>
          <p:cNvSpPr/>
          <p:nvPr/>
        </p:nvSpPr>
        <p:spPr>
          <a:xfrm>
            <a:off x="445135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45135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</a:t>
            </a:r>
          </a:p>
        </p:txBody>
      </p:sp>
      <p:sp>
        <p:nvSpPr>
          <p:cNvPr id="15" name="Text 15"/>
          <p:cNvSpPr/>
          <p:nvPr/>
        </p:nvSpPr>
        <p:spPr>
          <a:xfrm>
            <a:off x="445135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水 운</a:t>
            </a:r>
          </a:p>
        </p:txBody>
      </p:sp>
      <p:sp>
        <p:nvSpPr>
          <p:cNvPr id="16" name="Text 16"/>
          <p:cNvSpPr/>
          <p:nvPr/>
        </p:nvSpPr>
        <p:spPr>
          <a:xfrm>
            <a:off x="445135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대운·세운에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子·亥·壬·癸</a:t>
            </a:r>
          </a:p>
        </p:txBody>
      </p:sp>
      <p:sp>
        <p:nvSpPr>
          <p:cNvPr id="17" name="Text 17"/>
          <p:cNvSpPr/>
          <p:nvPr/>
        </p:nvSpPr>
        <p:spPr>
          <a:xfrm>
            <a:off x="7740650" y="2857500"/>
            <a:ext cx="40005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→</a:t>
            </a:r>
          </a:p>
        </p:txBody>
      </p:sp>
      <p:sp>
        <p:nvSpPr>
          <p:cNvPr id="18" name="Shape 18"/>
          <p:cNvSpPr/>
          <p:nvPr/>
        </p:nvSpPr>
        <p:spPr>
          <a:xfrm>
            <a:off x="8140700" y="2857500"/>
            <a:ext cx="3289300" cy="1524000"/>
          </a:xfrm>
          <a:prstGeom prst="roundRect">
            <a:avLst>
              <a:gd name="adj" fmla="val 9000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9"/>
          <p:cNvSpPr/>
          <p:nvPr/>
        </p:nvSpPr>
        <p:spPr>
          <a:xfrm>
            <a:off x="8140700" y="3048000"/>
            <a:ext cx="3289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spc="12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결과</a:t>
            </a:r>
          </a:p>
        </p:txBody>
      </p:sp>
      <p:sp>
        <p:nvSpPr>
          <p:cNvPr id="20" name="Text 20"/>
          <p:cNvSpPr/>
          <p:nvPr/>
        </p:nvSpPr>
        <p:spPr>
          <a:xfrm>
            <a:off x="8140700" y="3257550"/>
            <a:ext cx="32893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C2626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역풍</a:t>
            </a:r>
          </a:p>
        </p:txBody>
      </p:sp>
      <p:sp>
        <p:nvSpPr>
          <p:cNvPr id="21" name="Text 21"/>
          <p:cNvSpPr/>
          <p:nvPr/>
        </p:nvSpPr>
        <p:spPr>
          <a:xfrm>
            <a:off x="8140700" y="3790950"/>
            <a:ext cx="32893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추워짐·정체</a:t>
            </a:r>
          </a:p>
        </p:txBody>
      </p:sp>
      <p:sp>
        <p:nvSpPr>
          <p:cNvPr id="22" name="Shape 22"/>
          <p:cNvSpPr/>
          <p:nvPr/>
        </p:nvSpPr>
        <p:spPr>
          <a:xfrm>
            <a:off x="762000" y="46482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3"/>
          <p:cNvSpPr/>
          <p:nvPr/>
        </p:nvSpPr>
        <p:spPr>
          <a:xfrm>
            <a:off x="1066800" y="46482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주의</a:t>
            </a:r>
          </a:p>
        </p:txBody>
      </p:sp>
      <p:sp>
        <p:nvSpPr>
          <p:cNvPr id="24" name="Text 24"/>
          <p:cNvSpPr/>
          <p:nvPr/>
        </p:nvSpPr>
        <p:spPr>
          <a:xfrm>
            <a:off x="2590800" y="46482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火를 꺼뜨리는 水운엔 무리한 확장보다 “지키고 다지는” 전략이 안전합니다.</a:t>
            </a:r>
          </a:p>
        </p:txBody>
      </p:sp>
      <p:sp>
        <p:nvSpPr>
          <p:cNvPr id="25" name="Text 25"/>
          <p:cNvSpPr/>
          <p:nvPr/>
        </p:nvSpPr>
        <p:spPr>
          <a:xfrm>
            <a:off x="762000" y="5562600"/>
            <a:ext cx="1066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흉운도 “나쁜 벌”이 아니라 “전략을 바꾸라는 신호”로 읽습니다.</a:t>
            </a:r>
          </a:p>
        </p:txBody>
      </p:sp>
      <p:sp>
        <p:nvSpPr>
          <p:cNvPr id="26" name="Shape 26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28" name="Text 28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238500"/>
            <a:ext cx="3810000" cy="3810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762000" y="4572000"/>
            <a:ext cx="3048000" cy="3048000"/>
          </a:xfrm>
          <a:prstGeom prst="ellipse">
            <a:avLst/>
          </a:prstGeom>
          <a:solidFill>
            <a:srgbClr val="F4C5A8">
              <a:alpha val="14000"/>
            </a:srgbClr>
          </a:solidFill>
          <a:ln/>
        </p:spPr>
      </p:sp>
      <p:sp>
        <p:nvSpPr>
          <p:cNvPr id="4" name="Text 4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5" name="Text 5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05 · 운 해석의 기초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운 해석 4단계 정리</a:t>
            </a:r>
          </a:p>
        </p:txBody>
      </p:sp>
      <p:sp>
        <p:nvSpPr>
          <p:cNvPr id="8" name="Text 8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이 순서로 보면 흔들리지 않는다</a:t>
            </a:r>
          </a:p>
        </p:txBody>
      </p:sp>
      <p:sp>
        <p:nvSpPr>
          <p:cNvPr id="9" name="Shape 9"/>
          <p:cNvSpPr/>
          <p:nvPr/>
        </p:nvSpPr>
        <p:spPr>
          <a:xfrm>
            <a:off x="762000" y="2743200"/>
            <a:ext cx="249555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1704975" y="3048000"/>
            <a:ext cx="609600" cy="609600"/>
          </a:xfrm>
          <a:prstGeom prst="ellipse">
            <a:avLst/>
          </a:prstGeom>
          <a:solidFill>
            <a:srgbClr val="A7E5D3">
              <a:alpha val="88000"/>
            </a:srgbClr>
          </a:solidFill>
          <a:ln/>
        </p:spPr>
      </p:sp>
      <p:sp>
        <p:nvSpPr>
          <p:cNvPr id="11" name="Text 11"/>
          <p:cNvSpPr/>
          <p:nvPr/>
        </p:nvSpPr>
        <p:spPr>
          <a:xfrm>
            <a:off x="1704975" y="3048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2" name="Text 12"/>
          <p:cNvSpPr/>
          <p:nvPr/>
        </p:nvSpPr>
        <p:spPr>
          <a:xfrm>
            <a:off x="914400" y="3810000"/>
            <a:ext cx="2190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 파악</a:t>
            </a:r>
          </a:p>
        </p:txBody>
      </p:sp>
      <p:sp>
        <p:nvSpPr>
          <p:cNvPr id="13" name="Text 13"/>
          <p:cNvSpPr/>
          <p:nvPr/>
        </p:nvSpPr>
        <p:spPr>
          <a:xfrm>
            <a:off x="952500" y="4267200"/>
            <a:ext cx="21145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일간·강약·오행 균형 확인</a:t>
            </a:r>
          </a:p>
        </p:txBody>
      </p:sp>
      <p:sp>
        <p:nvSpPr>
          <p:cNvPr id="14" name="Shape 14"/>
          <p:cNvSpPr/>
          <p:nvPr/>
        </p:nvSpPr>
        <p:spPr>
          <a:xfrm>
            <a:off x="3486150" y="2743200"/>
            <a:ext cx="249555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4429125" y="3048000"/>
            <a:ext cx="609600" cy="609600"/>
          </a:xfrm>
          <a:prstGeom prst="ellipse">
            <a:avLst/>
          </a:prstGeom>
          <a:solidFill>
            <a:srgbClr val="A8C8E8">
              <a:alpha val="88000"/>
            </a:srgbClr>
          </a:solidFill>
          <a:ln/>
        </p:spPr>
      </p:sp>
      <p:sp>
        <p:nvSpPr>
          <p:cNvPr id="16" name="Text 16"/>
          <p:cNvSpPr/>
          <p:nvPr/>
        </p:nvSpPr>
        <p:spPr>
          <a:xfrm>
            <a:off x="4429125" y="3048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7" name="Text 17"/>
          <p:cNvSpPr/>
          <p:nvPr/>
        </p:nvSpPr>
        <p:spPr>
          <a:xfrm>
            <a:off x="3638550" y="3810000"/>
            <a:ext cx="2190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필요 오행</a:t>
            </a:r>
          </a:p>
        </p:txBody>
      </p:sp>
      <p:sp>
        <p:nvSpPr>
          <p:cNvPr id="18" name="Text 18"/>
          <p:cNvSpPr/>
          <p:nvPr/>
        </p:nvSpPr>
        <p:spPr>
          <a:xfrm>
            <a:off x="3676650" y="4267200"/>
            <a:ext cx="21145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필요/부담 가리기 (용신·기신)</a:t>
            </a:r>
          </a:p>
        </p:txBody>
      </p:sp>
      <p:sp>
        <p:nvSpPr>
          <p:cNvPr id="19" name="Shape 19"/>
          <p:cNvSpPr/>
          <p:nvPr/>
        </p:nvSpPr>
        <p:spPr>
          <a:xfrm>
            <a:off x="6210300" y="2743200"/>
            <a:ext cx="249555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20"/>
          <p:cNvSpPr/>
          <p:nvPr/>
        </p:nvSpPr>
        <p:spPr>
          <a:xfrm>
            <a:off x="7153275" y="3048000"/>
            <a:ext cx="609600" cy="609600"/>
          </a:xfrm>
          <a:prstGeom prst="ellipse">
            <a:avLst/>
          </a:prstGeom>
          <a:solidFill>
            <a:srgbClr val="F4C5A8">
              <a:alpha val="88000"/>
            </a:srgbClr>
          </a:solidFill>
          <a:ln/>
        </p:spPr>
      </p:sp>
      <p:sp>
        <p:nvSpPr>
          <p:cNvPr id="21" name="Text 21"/>
          <p:cNvSpPr/>
          <p:nvPr/>
        </p:nvSpPr>
        <p:spPr>
          <a:xfrm>
            <a:off x="7153275" y="3048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2" name="Text 22"/>
          <p:cNvSpPr/>
          <p:nvPr/>
        </p:nvSpPr>
        <p:spPr>
          <a:xfrm>
            <a:off x="6362700" y="3810000"/>
            <a:ext cx="2190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운 글자 대입</a:t>
            </a:r>
          </a:p>
        </p:txBody>
      </p:sp>
      <p:sp>
        <p:nvSpPr>
          <p:cNvPr id="23" name="Text 23"/>
          <p:cNvSpPr/>
          <p:nvPr/>
        </p:nvSpPr>
        <p:spPr>
          <a:xfrm>
            <a:off x="6400800" y="4267200"/>
            <a:ext cx="21145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대운·세운 간지 오행을 대입</a:t>
            </a:r>
          </a:p>
        </p:txBody>
      </p:sp>
      <p:sp>
        <p:nvSpPr>
          <p:cNvPr id="24" name="Shape 24"/>
          <p:cNvSpPr/>
          <p:nvPr/>
        </p:nvSpPr>
        <p:spPr>
          <a:xfrm>
            <a:off x="8934450" y="2743200"/>
            <a:ext cx="249555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5"/>
          <p:cNvSpPr/>
          <p:nvPr/>
        </p:nvSpPr>
        <p:spPr>
          <a:xfrm>
            <a:off x="9877425" y="3048000"/>
            <a:ext cx="609600" cy="609600"/>
          </a:xfrm>
          <a:prstGeom prst="ellipse">
            <a:avLst/>
          </a:prstGeom>
          <a:solidFill>
            <a:srgbClr val="C8B8E0">
              <a:alpha val="88000"/>
            </a:srgbClr>
          </a:solidFill>
          <a:ln/>
        </p:spPr>
      </p:sp>
      <p:sp>
        <p:nvSpPr>
          <p:cNvPr id="26" name="Text 26"/>
          <p:cNvSpPr/>
          <p:nvPr/>
        </p:nvSpPr>
        <p:spPr>
          <a:xfrm>
            <a:off x="9877425" y="30480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</a:t>
            </a:r>
          </a:p>
        </p:txBody>
      </p:sp>
      <p:sp>
        <p:nvSpPr>
          <p:cNvPr id="27" name="Text 27"/>
          <p:cNvSpPr/>
          <p:nvPr/>
        </p:nvSpPr>
        <p:spPr>
          <a:xfrm>
            <a:off x="9086850" y="3810000"/>
            <a:ext cx="2190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길흉 판단</a:t>
            </a:r>
          </a:p>
        </p:txBody>
      </p:sp>
      <p:sp>
        <p:nvSpPr>
          <p:cNvPr id="28" name="Text 28"/>
          <p:cNvSpPr/>
          <p:nvPr/>
        </p:nvSpPr>
        <p:spPr>
          <a:xfrm>
            <a:off x="9124950" y="4267200"/>
            <a:ext cx="21145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필요하면 순풍, 부담이면 역풍</a:t>
            </a:r>
          </a:p>
        </p:txBody>
      </p:sp>
      <p:sp>
        <p:nvSpPr>
          <p:cNvPr id="29" name="Shape 29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E7E5E4"/>
            </a:solidFill>
            <a:prstDash val="solid"/>
          </a:ln>
          <a:effectLst>
            <a:outerShdw blurRad="1524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30"/>
          <p:cNvSpPr/>
          <p:nvPr/>
        </p:nvSpPr>
        <p:spPr>
          <a:xfrm>
            <a:off x="1066800" y="5334000"/>
            <a:ext cx="1524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습관</a:t>
            </a:r>
          </a:p>
        </p:txBody>
      </p:sp>
      <p:sp>
        <p:nvSpPr>
          <p:cNvPr id="31" name="Text 31"/>
          <p:cNvSpPr/>
          <p:nvPr/>
        </p:nvSpPr>
        <p:spPr>
          <a:xfrm>
            <a:off x="2590800" y="5334000"/>
            <a:ext cx="8534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4E4E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순서를 지키면 “느낌”이 아니라 “근거”로 운을 말할 수 있습니다. 상담의 뼈대가 됩니다.</a:t>
            </a:r>
          </a:p>
        </p:txBody>
      </p:sp>
      <p:sp>
        <p:nvSpPr>
          <p:cNvPr id="32" name="Shape 32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4" name="Text 34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048750" y="3048000"/>
            <a:ext cx="3810000" cy="3810000"/>
          </a:xfrm>
          <a:prstGeom prst="ellipse">
            <a:avLst/>
          </a:prstGeom>
          <a:solidFill>
            <a:srgbClr val="F4C5A8">
              <a:alpha val="15000"/>
            </a:srgbClr>
          </a:solidFill>
          <a:ln/>
        </p:spPr>
      </p:sp>
      <p:sp>
        <p:nvSpPr>
          <p:cNvPr id="3" name="Text 3"/>
          <p:cNvSpPr/>
          <p:nvPr/>
        </p:nvSpPr>
        <p:spPr>
          <a:xfrm>
            <a:off x="762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4" name="Text 4"/>
          <p:cNvSpPr/>
          <p:nvPr/>
        </p:nvSpPr>
        <p:spPr>
          <a:xfrm>
            <a:off x="7620000" y="4572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2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REVIEW</a:t>
            </a:r>
          </a:p>
        </p:txBody>
      </p:sp>
      <p:sp>
        <p:nvSpPr>
          <p:cNvPr id="5" name="Text 5"/>
          <p:cNvSpPr/>
          <p:nvPr/>
        </p:nvSpPr>
        <p:spPr>
          <a:xfrm>
            <a:off x="762000" y="990600"/>
            <a:ext cx="9525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WRAP-UP</a:t>
            </a:r>
          </a:p>
        </p:txBody>
      </p:sp>
      <p:sp>
        <p:nvSpPr>
          <p:cNvPr id="6" name="Text 6"/>
          <p:cNvSpPr/>
          <p:nvPr/>
        </p:nvSpPr>
        <p:spPr>
          <a:xfrm>
            <a:off x="762000" y="125730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kern="0" spc="-4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2회차 핵심 요약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1962150"/>
            <a:ext cx="10668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77716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오늘 꼭 챙길 다섯 가지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2750820"/>
            <a:ext cx="609600" cy="609600"/>
          </a:xfrm>
          <a:prstGeom prst="ellipse">
            <a:avLst/>
          </a:prstGeom>
          <a:solidFill>
            <a:srgbClr val="A7E5D3">
              <a:alpha val="80000"/>
            </a:srgbClr>
          </a:solidFill>
          <a:ln/>
        </p:spPr>
      </p:sp>
      <p:sp>
        <p:nvSpPr>
          <p:cNvPr id="9" name="Text 9"/>
          <p:cNvSpPr/>
          <p:nvPr/>
        </p:nvSpPr>
        <p:spPr>
          <a:xfrm>
            <a:off x="762000" y="27508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1</a:t>
            </a:r>
          </a:p>
        </p:txBody>
      </p:sp>
      <p:sp>
        <p:nvSpPr>
          <p:cNvPr id="10" name="Text 10"/>
          <p:cNvSpPr/>
          <p:nvPr/>
        </p:nvSpPr>
        <p:spPr>
          <a:xfrm>
            <a:off x="1600200" y="274320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원국은 “차”, 운은 “길”</a:t>
            </a:r>
          </a:p>
        </p:txBody>
      </p:sp>
      <p:sp>
        <p:nvSpPr>
          <p:cNvPr id="11" name="Text 11"/>
          <p:cNvSpPr/>
          <p:nvPr/>
        </p:nvSpPr>
        <p:spPr>
          <a:xfrm>
            <a:off x="1600200" y="305562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둘을 함께 봐야 해석이 완성된다</a:t>
            </a:r>
          </a:p>
        </p:txBody>
      </p:sp>
      <p:sp>
        <p:nvSpPr>
          <p:cNvPr id="12" name="Shape 12"/>
          <p:cNvSpPr/>
          <p:nvPr/>
        </p:nvSpPr>
        <p:spPr>
          <a:xfrm>
            <a:off x="1600200" y="340614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762000" y="3451860"/>
            <a:ext cx="609600" cy="609600"/>
          </a:xfrm>
          <a:prstGeom prst="ellipse">
            <a:avLst/>
          </a:prstGeom>
          <a:solidFill>
            <a:srgbClr val="A8C8E8">
              <a:alpha val="80000"/>
            </a:srgbClr>
          </a:solidFill>
          <a:ln/>
        </p:spPr>
      </p:sp>
      <p:sp>
        <p:nvSpPr>
          <p:cNvPr id="14" name="Text 14"/>
          <p:cNvSpPr/>
          <p:nvPr/>
        </p:nvSpPr>
        <p:spPr>
          <a:xfrm>
            <a:off x="762000" y="34518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2</a:t>
            </a:r>
          </a:p>
        </p:txBody>
      </p:sp>
      <p:sp>
        <p:nvSpPr>
          <p:cNvPr id="15" name="Text 15"/>
          <p:cNvSpPr/>
          <p:nvPr/>
        </p:nvSpPr>
        <p:spPr>
          <a:xfrm>
            <a:off x="1600200" y="344424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대운 = 10년 단위 큰 환경</a:t>
            </a:r>
          </a:p>
        </p:txBody>
      </p:sp>
      <p:sp>
        <p:nvSpPr>
          <p:cNvPr id="16" name="Text 16"/>
          <p:cNvSpPr/>
          <p:nvPr/>
        </p:nvSpPr>
        <p:spPr>
          <a:xfrm>
            <a:off x="1600200" y="375666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삶의 무대(배경)가 통째로 바뀌는 큰 줄기</a:t>
            </a:r>
          </a:p>
        </p:txBody>
      </p:sp>
      <p:sp>
        <p:nvSpPr>
          <p:cNvPr id="17" name="Shape 17"/>
          <p:cNvSpPr/>
          <p:nvPr/>
        </p:nvSpPr>
        <p:spPr>
          <a:xfrm>
            <a:off x="1600200" y="410718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762000" y="4152900"/>
            <a:ext cx="609600" cy="609600"/>
          </a:xfrm>
          <a:prstGeom prst="ellipse">
            <a:avLst/>
          </a:prstGeom>
          <a:solidFill>
            <a:srgbClr val="F4C5A8">
              <a:alpha val="80000"/>
            </a:srgbClr>
          </a:solidFill>
          <a:ln/>
        </p:spPr>
      </p:sp>
      <p:sp>
        <p:nvSpPr>
          <p:cNvPr id="19" name="Text 19"/>
          <p:cNvSpPr/>
          <p:nvPr/>
        </p:nvSpPr>
        <p:spPr>
          <a:xfrm>
            <a:off x="762000" y="41529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</a:t>
            </a:r>
          </a:p>
        </p:txBody>
      </p:sp>
      <p:sp>
        <p:nvSpPr>
          <p:cNvPr id="20" name="Text 20"/>
          <p:cNvSpPr/>
          <p:nvPr/>
        </p:nvSpPr>
        <p:spPr>
          <a:xfrm>
            <a:off x="1600200" y="414528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세운 = 1년 단위 그해 사건</a:t>
            </a:r>
          </a:p>
        </p:txBody>
      </p:sp>
      <p:sp>
        <p:nvSpPr>
          <p:cNvPr id="21" name="Text 21"/>
          <p:cNvSpPr/>
          <p:nvPr/>
        </p:nvSpPr>
        <p:spPr>
          <a:xfrm>
            <a:off x="1600200" y="445770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공통 · 예) 2026 병오년(火)</a:t>
            </a:r>
          </a:p>
        </p:txBody>
      </p:sp>
      <p:sp>
        <p:nvSpPr>
          <p:cNvPr id="22" name="Shape 22"/>
          <p:cNvSpPr/>
          <p:nvPr/>
        </p:nvSpPr>
        <p:spPr>
          <a:xfrm>
            <a:off x="1600200" y="480822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3" name="Shape 23"/>
          <p:cNvSpPr/>
          <p:nvPr/>
        </p:nvSpPr>
        <p:spPr>
          <a:xfrm>
            <a:off x="762000" y="4853940"/>
            <a:ext cx="609600" cy="609600"/>
          </a:xfrm>
          <a:prstGeom prst="ellipse">
            <a:avLst/>
          </a:prstGeom>
          <a:solidFill>
            <a:srgbClr val="C8B8E0">
              <a:alpha val="80000"/>
            </a:srgbClr>
          </a:solidFill>
          <a:ln/>
        </p:spPr>
      </p:sp>
      <p:sp>
        <p:nvSpPr>
          <p:cNvPr id="24" name="Text 24"/>
          <p:cNvSpPr/>
          <p:nvPr/>
        </p:nvSpPr>
        <p:spPr>
          <a:xfrm>
            <a:off x="762000" y="48539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4</a:t>
            </a:r>
          </a:p>
        </p:txBody>
      </p:sp>
      <p:sp>
        <p:nvSpPr>
          <p:cNvPr id="25" name="Text 25"/>
          <p:cNvSpPr/>
          <p:nvPr/>
        </p:nvSpPr>
        <p:spPr>
          <a:xfrm>
            <a:off x="1600200" y="484632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만세력은 대운수→대운→세운 순</a:t>
            </a:r>
          </a:p>
        </p:txBody>
      </p:sp>
      <p:sp>
        <p:nvSpPr>
          <p:cNvPr id="26" name="Text 26"/>
          <p:cNvSpPr/>
          <p:nvPr/>
        </p:nvSpPr>
        <p:spPr>
          <a:xfrm>
            <a:off x="1600200" y="515874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대운수로 시작 나이, 간지 오행으로 성분 확인</a:t>
            </a:r>
          </a:p>
        </p:txBody>
      </p:sp>
      <p:sp>
        <p:nvSpPr>
          <p:cNvPr id="27" name="Shape 27"/>
          <p:cNvSpPr/>
          <p:nvPr/>
        </p:nvSpPr>
        <p:spPr>
          <a:xfrm>
            <a:off x="1600200" y="5509260"/>
            <a:ext cx="98298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762000" y="5554980"/>
            <a:ext cx="609600" cy="609600"/>
          </a:xfrm>
          <a:prstGeom prst="ellipse">
            <a:avLst/>
          </a:prstGeom>
          <a:solidFill>
            <a:srgbClr val="E8B8C4">
              <a:alpha val="80000"/>
            </a:srgbClr>
          </a:solidFill>
          <a:ln/>
        </p:spPr>
      </p:sp>
      <p:sp>
        <p:nvSpPr>
          <p:cNvPr id="29" name="Text 29"/>
          <p:cNvSpPr/>
          <p:nvPr/>
        </p:nvSpPr>
        <p:spPr>
          <a:xfrm>
            <a:off x="762000" y="555498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C0A09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5</a:t>
            </a:r>
          </a:p>
        </p:txBody>
      </p:sp>
      <p:sp>
        <p:nvSpPr>
          <p:cNvPr id="30" name="Text 30"/>
          <p:cNvSpPr/>
          <p:nvPr/>
        </p:nvSpPr>
        <p:spPr>
          <a:xfrm>
            <a:off x="1600200" y="5547360"/>
            <a:ext cx="9829800" cy="32491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C0A09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필요오행이면 순풍, 부담이면 역풍</a:t>
            </a:r>
          </a:p>
        </p:txBody>
      </p:sp>
      <p:sp>
        <p:nvSpPr>
          <p:cNvPr id="31" name="Text 31"/>
          <p:cNvSpPr/>
          <p:nvPr/>
        </p:nvSpPr>
        <p:spPr>
          <a:xfrm>
            <a:off x="1600200" y="5859780"/>
            <a:ext cx="9829800" cy="31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용신 운은 상승기, 기신 운은 조심 구간</a:t>
            </a:r>
          </a:p>
        </p:txBody>
      </p:sp>
      <p:sp>
        <p:nvSpPr>
          <p:cNvPr id="32" name="Shape 32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762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 사주교육</a:t>
            </a:r>
          </a:p>
        </p:txBody>
      </p:sp>
      <p:sp>
        <p:nvSpPr>
          <p:cNvPr id="34" name="Text 34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7771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810500" y="-1143000"/>
            <a:ext cx="5715000" cy="5715000"/>
          </a:xfrm>
          <a:prstGeom prst="ellipse">
            <a:avLst/>
          </a:prstGeom>
          <a:solidFill>
            <a:srgbClr val="A7E5D3">
              <a:alpha val="20000"/>
            </a:srgbClr>
          </a:solidFill>
          <a:ln/>
        </p:spPr>
      </p:sp>
      <p:sp>
        <p:nvSpPr>
          <p:cNvPr id="3" name="Shape 3"/>
          <p:cNvSpPr/>
          <p:nvPr/>
        </p:nvSpPr>
        <p:spPr>
          <a:xfrm>
            <a:off x="-1524000" y="3810000"/>
            <a:ext cx="5334000" cy="5334000"/>
          </a:xfrm>
          <a:prstGeom prst="ellipse">
            <a:avLst/>
          </a:prstGeom>
          <a:solidFill>
            <a:srgbClr val="F4C5A8">
              <a:alpha val="16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5715000" y="3048000"/>
            <a:ext cx="4572000" cy="4572000"/>
          </a:xfrm>
          <a:prstGeom prst="ellipse">
            <a:avLst/>
          </a:prstGeom>
          <a:solidFill>
            <a:srgbClr val="C8B8E0">
              <a:alpha val="16000"/>
            </a:srgbClr>
          </a:solidFill>
          <a:ln/>
        </p:spPr>
      </p:sp>
      <p:sp>
        <p:nvSpPr>
          <p:cNvPr id="5" name="Text 5"/>
          <p:cNvSpPr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수수 사주교육</a:t>
            </a:r>
          </a:p>
        </p:txBody>
      </p:sp>
      <p:sp>
        <p:nvSpPr>
          <p:cNvPr id="6" name="Text 6"/>
          <p:cNvSpPr/>
          <p:nvPr/>
        </p:nvSpPr>
        <p:spPr>
          <a:xfrm>
            <a:off x="7620000" y="5334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spc="3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NEXT SESSION</a:t>
            </a:r>
          </a:p>
        </p:txBody>
      </p:sp>
      <p:sp>
        <p:nvSpPr>
          <p:cNvPr id="7" name="Text 7"/>
          <p:cNvSpPr/>
          <p:nvPr/>
        </p:nvSpPr>
        <p:spPr>
          <a:xfrm>
            <a:off x="762000" y="2286000"/>
            <a:ext cx="952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spc="400" dirty="0">
                <a:solidFill>
                  <a:srgbClr val="A7E5D3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다음 시간</a:t>
            </a:r>
          </a:p>
        </p:txBody>
      </p:sp>
      <p:sp>
        <p:nvSpPr>
          <p:cNvPr id="8" name="Text 8"/>
          <p:cNvSpPr/>
          <p:nvPr/>
        </p:nvSpPr>
        <p:spPr>
          <a:xfrm>
            <a:off x="723900" y="2571750"/>
            <a:ext cx="1066800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400" kern="0" spc="-100" dirty="0">
                <a:solidFill>
                  <a:srgbClr val="FFFFFF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3회차에서 만나요</a:t>
            </a:r>
          </a:p>
        </p:txBody>
      </p:sp>
      <p:sp>
        <p:nvSpPr>
          <p:cNvPr id="9" name="Text 9"/>
          <p:cNvSpPr/>
          <p:nvPr/>
        </p:nvSpPr>
        <p:spPr>
          <a:xfrm>
            <a:off x="762000" y="3733800"/>
            <a:ext cx="10668000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8A29E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오늘 읽은 대운·세운 위에, 용신(用神)으로 길흉을 더 정교하게</a:t>
            </a:r>
          </a:p>
        </p:txBody>
      </p:sp>
      <p:sp>
        <p:nvSpPr>
          <p:cNvPr id="10" name="Shape 10"/>
          <p:cNvSpPr/>
          <p:nvPr/>
        </p:nvSpPr>
        <p:spPr>
          <a:xfrm>
            <a:off x="762000" y="4419600"/>
            <a:ext cx="3403600" cy="114300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1028700" y="4648200"/>
            <a:ext cx="28702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E5D3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用</a:t>
            </a:r>
          </a:p>
        </p:txBody>
      </p:sp>
      <p:sp>
        <p:nvSpPr>
          <p:cNvPr id="12" name="Text 12"/>
          <p:cNvSpPr/>
          <p:nvPr/>
        </p:nvSpPr>
        <p:spPr>
          <a:xfrm>
            <a:off x="1028700" y="5029200"/>
            <a:ext cx="2870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용신·희신·기신</a:t>
            </a:r>
          </a:p>
        </p:txBody>
      </p:sp>
      <p:sp>
        <p:nvSpPr>
          <p:cNvPr id="13" name="Text 13"/>
          <p:cNvSpPr/>
          <p:nvPr/>
        </p:nvSpPr>
        <p:spPr>
          <a:xfrm>
            <a:off x="1028700" y="5276850"/>
            <a:ext cx="287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사주에 필요한 오행 잡기</a:t>
            </a:r>
          </a:p>
        </p:txBody>
      </p:sp>
      <p:sp>
        <p:nvSpPr>
          <p:cNvPr id="14" name="Shape 14"/>
          <p:cNvSpPr/>
          <p:nvPr/>
        </p:nvSpPr>
        <p:spPr>
          <a:xfrm>
            <a:off x="4394200" y="4419600"/>
            <a:ext cx="3403600" cy="114300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4660900" y="4648200"/>
            <a:ext cx="28702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E5D3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神</a:t>
            </a:r>
          </a:p>
        </p:txBody>
      </p:sp>
      <p:sp>
        <p:nvSpPr>
          <p:cNvPr id="16" name="Text 16"/>
          <p:cNvSpPr/>
          <p:nvPr/>
        </p:nvSpPr>
        <p:spPr>
          <a:xfrm>
            <a:off x="4660900" y="5029200"/>
            <a:ext cx="2870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십신(十神)으로 보는 사건</a:t>
            </a:r>
          </a:p>
        </p:txBody>
      </p:sp>
      <p:sp>
        <p:nvSpPr>
          <p:cNvPr id="17" name="Text 17"/>
          <p:cNvSpPr/>
          <p:nvPr/>
        </p:nvSpPr>
        <p:spPr>
          <a:xfrm>
            <a:off x="4660900" y="5276850"/>
            <a:ext cx="287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재물·관계·명예를 읽는 법</a:t>
            </a:r>
          </a:p>
        </p:txBody>
      </p:sp>
      <p:sp>
        <p:nvSpPr>
          <p:cNvPr id="18" name="Shape 18"/>
          <p:cNvSpPr/>
          <p:nvPr/>
        </p:nvSpPr>
        <p:spPr>
          <a:xfrm>
            <a:off x="8026400" y="4419600"/>
            <a:ext cx="3403600" cy="114300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8293100" y="4648200"/>
            <a:ext cx="28702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E5D3"/>
                </a:solidFill>
                <a:latin typeface="Jalnan 2" pitchFamily="34" charset="0"/>
                <a:ea typeface="Jalnan 2" pitchFamily="34" charset="-122"/>
                <a:cs typeface="Jalnan 2" pitchFamily="34" charset="-120"/>
              </a:rPr>
              <a:t>合</a:t>
            </a:r>
          </a:p>
        </p:txBody>
      </p:sp>
      <p:sp>
        <p:nvSpPr>
          <p:cNvPr id="20" name="Text 20"/>
          <p:cNvSpPr/>
          <p:nvPr/>
        </p:nvSpPr>
        <p:spPr>
          <a:xfrm>
            <a:off x="8293100" y="5029200"/>
            <a:ext cx="2870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aybooc OTF" pitchFamily="34" charset="0"/>
                <a:ea typeface="paybooc OTF" pitchFamily="34" charset="-122"/>
                <a:cs typeface="paybooc OTF" pitchFamily="34" charset="-120"/>
              </a:rPr>
              <a:t>합·충·형</a:t>
            </a:r>
          </a:p>
        </p:txBody>
      </p:sp>
      <p:sp>
        <p:nvSpPr>
          <p:cNvPr id="21" name="Text 21"/>
          <p:cNvSpPr/>
          <p:nvPr/>
        </p:nvSpPr>
        <p:spPr>
          <a:xfrm>
            <a:off x="8293100" y="5276850"/>
            <a:ext cx="287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글자끼리 만나 생기는 변화</a:t>
            </a:r>
          </a:p>
        </p:txBody>
      </p:sp>
      <p:sp>
        <p:nvSpPr>
          <p:cNvPr id="22" name="Shape 22"/>
          <p:cNvSpPr/>
          <p:nvPr/>
        </p:nvSpPr>
        <p:spPr>
          <a:xfrm>
            <a:off x="762000" y="6400800"/>
            <a:ext cx="106680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762000" y="6438900"/>
            <a:ext cx="609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사주 티처 양성과정 · 수수 사주교육</a:t>
            </a:r>
          </a:p>
        </p:txBody>
      </p:sp>
      <p:sp>
        <p:nvSpPr>
          <p:cNvPr id="24" name="Text 24"/>
          <p:cNvSpPr/>
          <p:nvPr/>
        </p:nvSpPr>
        <p:spPr>
          <a:xfrm>
            <a:off x="7620000" y="64389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25" dirty="0">
                <a:solidFill>
                  <a:srgbClr val="A8A2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2486</Words>
  <Application>Microsoft Office PowerPoint</Application>
  <PresentationFormat>와이드스크린</PresentationFormat>
  <Paragraphs>538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Jalnan 2</vt:lpstr>
      <vt:lpstr>paybooc OTF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수수 사주교육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사주교육 2회차 — 대운과 세운</dc:title>
  <dc:creator>수수 사주교육</dc:creator>
  <cp:lastModifiedBy>민규 신</cp:lastModifiedBy>
  <cp:revision>2</cp:revision>
  <dcterms:modified xsi:type="dcterms:W3CDTF">2026-07-11T14:55:11Z</dcterms:modified>
</cp:coreProperties>
</file>