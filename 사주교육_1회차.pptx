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1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C8B8E0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SAJU TEACHER COURSE · SESSION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 명리학</a:t>
            </a:r>
            <a:endParaRPr lang="en-US" sz="5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기초 입문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천간·지지·오행 — 사주를 이루는 여덟 글자의 뼈대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2000" y="5295900"/>
            <a:ext cx="4191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62000" y="5295900"/>
            <a:ext cx="419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 · 사주의 기본 구조와 십간십이지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3429000"/>
            <a:ext cx="4000500" cy="4000500"/>
          </a:xfrm>
          <a:prstGeom prst="ellipse">
            <a:avLst/>
          </a:prstGeom>
          <a:solidFill>
            <a:srgbClr val="A8C8E8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OVERVIEW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1회차 강의 목차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다루는 다섯 개의 큰 흐름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5717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1550" y="2571750"/>
            <a:ext cx="6667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905000" y="26955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사주팔자의 구조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096000" y="25717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글자가 어떻게 네 기둥으로 짜이는가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2000" y="331470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71550" y="3314700"/>
            <a:ext cx="7429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905000" y="343852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십간·십이지 개관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096000" y="331470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10개의 천간과 12개의 지지 한눈에 보기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2000" y="40576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1550" y="4057650"/>
            <a:ext cx="7429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905000" y="41814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오행의 이해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096000" y="40576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다섯 기운의 성질과 순환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2000" y="480060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1550" y="4800600"/>
            <a:ext cx="7429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905000" y="492442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10천간 캐릭터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096000" y="480060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갑목부터 계수까지, 열 개의 성격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62000" y="5543550"/>
            <a:ext cx="10668000" cy="666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71550" y="5543550"/>
            <a:ext cx="93345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A8A29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05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905000" y="5667375"/>
            <a:ext cx="40005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12지지 상세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096000" y="5543550"/>
            <a:ext cx="5143500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계절로 나눠 읽는 열두 동물의 기운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33500" y="4000500"/>
            <a:ext cx="4381500" cy="4381500"/>
          </a:xfrm>
          <a:prstGeom prst="ellipse">
            <a:avLst/>
          </a:prstGeom>
          <a:solidFill>
            <a:srgbClr val="F4C5A8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GOALS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LEARNING GOALS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회차의 학습 목표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1회차가 끝나면 이만큼 말할 수 있게 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9650" y="291465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3" name="Text 11"/>
          <p:cNvSpPr/>
          <p:nvPr/>
        </p:nvSpPr>
        <p:spPr>
          <a:xfrm>
            <a:off x="1009650" y="291465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🧱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95450" y="29527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구조를 그린다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5450" y="32956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종이에 사주 여덟 글자의 자리를 스스로 배치할 수 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03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7950" y="291465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57950" y="291465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🔟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43750" y="29527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천간을 안다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43750" y="32956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갑을병정무기경신임계 10글자와 각각의 오행을 연결한다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62000" y="45148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9650" y="476250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9650" y="476250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🐯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954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지지를 안다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95450" y="51435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자축인묘진사오미신유술해 12글자와 동물·오행을 짝짓는다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0300" y="45148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7950" y="4762500"/>
            <a:ext cx="495300" cy="4953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8" name="Text 26"/>
          <p:cNvSpPr/>
          <p:nvPr/>
        </p:nvSpPr>
        <p:spPr>
          <a:xfrm>
            <a:off x="6457950" y="4762500"/>
            <a:ext cx="495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1437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오행을 읽는다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143750" y="51435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목화토금수의 성질을 계절과 사람 이미지로 설명한다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7E5D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사주팔자의 구조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STRUCTURE OF FOUR PILLARS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사주(四柱)는 '네 개의 기둥'이라는 뜻입니다. 태어난 연·월·일·시가 각각 하나의 기둥이 되고, 기둥마다 두 글자가 쌓여 모두 여덟 글자, 곧 팔자(八字)가 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32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3619500" cy="36195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사주팔자란? 여덟 글자의 지도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四柱八字 — 네 기둥에 두 글자씩, 총 8글자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28900"/>
            <a:ext cx="4953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6800" y="2857500"/>
            <a:ext cx="4343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이름부터 뜯어봅시다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66800" y="382905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6800" y="323850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四 (넉 사)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124200" y="323850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66800" y="453390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6800" y="394335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柱 (기둥 주)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124200" y="394335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기둥 → 年·月·日·時 4기둥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66800" y="523875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6800" y="464820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八 (여덟 팔)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124200" y="464820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개의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66800" y="5943600"/>
            <a:ext cx="43434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6800" y="5353050"/>
            <a:ext cx="196215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字 (글자 자)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124200" y="5353050"/>
            <a:ext cx="22860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→ 기둥마다 2글자씩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628900"/>
            <a:ext cx="5486400" cy="3657600"/>
          </a:xfrm>
          <a:prstGeom prst="roundRect">
            <a:avLst>
              <a:gd name="adj" fmla="val 41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48400" y="2857500"/>
            <a:ext cx="48768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여덟 글자의 자리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627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시주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627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627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627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1" name="Shape 29"/>
          <p:cNvSpPr/>
          <p:nvPr/>
        </p:nvSpPr>
        <p:spPr>
          <a:xfrm>
            <a:off x="63627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627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627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6200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일주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6200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200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200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38" name="Shape 36"/>
          <p:cNvSpPr/>
          <p:nvPr/>
        </p:nvSpPr>
        <p:spPr>
          <a:xfrm>
            <a:off x="76200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200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6200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8773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월주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8773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773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8773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88773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773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8773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10134600" y="3295650"/>
            <a:ext cx="11811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년주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0134600" y="358140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134600" y="367665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34600" y="392430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52" name="Shape 50"/>
          <p:cNvSpPr/>
          <p:nvPr/>
        </p:nvSpPr>
        <p:spPr>
          <a:xfrm>
            <a:off x="10134600" y="4781550"/>
            <a:ext cx="11811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34600" y="4876800"/>
            <a:ext cx="1181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134600" y="5124450"/>
            <a:ext cx="11811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글자</a:t>
            </a:r>
            <a:endParaRPr lang="en-US" sz="3000" dirty="0"/>
          </a:p>
        </p:txBody>
      </p:sp>
      <p:sp>
        <p:nvSpPr>
          <p:cNvPr id="55" name="Text 53"/>
          <p:cNvSpPr/>
          <p:nvPr/>
        </p:nvSpPr>
        <p:spPr>
          <a:xfrm>
            <a:off x="6248400" y="6019800"/>
            <a:ext cx="4953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↑ 위 4글자 = 천간(하늘) · 아래 4글자 = 지지(땅)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4000500"/>
            <a:ext cx="4000500" cy="40005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네 개의 기둥, 시간의 네 단위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년·월·일·시가 각각 하나의 기둥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20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年柱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20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년주</a:t>
            </a:r>
            <a:endParaRPr lang="en-US" sz="3800" dirty="0"/>
          </a:p>
        </p:txBody>
      </p:sp>
      <p:sp>
        <p:nvSpPr>
          <p:cNvPr id="14" name="Shape 12"/>
          <p:cNvSpPr/>
          <p:nvPr/>
        </p:nvSpPr>
        <p:spPr>
          <a:xfrm>
            <a:off x="11430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0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525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뿌리 · 조상/초년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671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671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月柱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671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월주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38481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71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달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부모/청년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722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0C0A09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722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7E5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日柱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722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일주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6553200" y="4095750"/>
            <a:ext cx="177165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627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 자신 · 중년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877300" y="2667000"/>
            <a:ext cx="2533650" cy="354330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877300" y="2952750"/>
            <a:ext cx="2533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時柱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77300" y="3276600"/>
            <a:ext cx="253365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시주</a:t>
            </a:r>
            <a:endParaRPr lang="en-US" sz="3800" dirty="0"/>
          </a:p>
        </p:txBody>
      </p:sp>
      <p:sp>
        <p:nvSpPr>
          <p:cNvPr id="32" name="Shape 30"/>
          <p:cNvSpPr/>
          <p:nvPr/>
        </p:nvSpPr>
        <p:spPr>
          <a:xfrm>
            <a:off x="9258300" y="4095750"/>
            <a:ext cx="177165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77300" y="4305300"/>
            <a:ext cx="25336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시각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067800" y="4667250"/>
            <a:ext cx="215265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결실 · 자녀/말년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3048000"/>
            <a:ext cx="3810000" cy="3810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천간과 지지 — 하늘과 땅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각 기둥은 위(천간)와 아래(지지) 두 층으로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10668000" cy="1428750"/>
          </a:xfrm>
          <a:prstGeom prst="roundRect">
            <a:avLst>
              <a:gd name="adj" fmla="val 106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66800" y="3009900"/>
            <a:ext cx="742950" cy="742950"/>
          </a:xfrm>
          <a:prstGeom prst="ellipse">
            <a:avLst/>
          </a:prstGeom>
          <a:solidFill>
            <a:srgbClr val="A8C8E8">
              <a:alpha val="7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009900"/>
            <a:ext cx="742950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天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038350" y="2895600"/>
            <a:ext cx="3810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(天干)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38350" y="3238500"/>
            <a:ext cx="5334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하늘의 기운 · 겉으로 드러나는 성향과 생각. 위층에 놓이는 4글자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10500" y="3238500"/>
            <a:ext cx="34290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10500" y="3238500"/>
            <a:ext cx="3429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갑 · 을 · 병 · 정 · 무 · 기 · 경 · 신 · 임 · 계  (10개)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2000" y="4267200"/>
            <a:ext cx="10668000" cy="1428750"/>
          </a:xfrm>
          <a:prstGeom prst="roundRect">
            <a:avLst>
              <a:gd name="adj" fmla="val 10667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66800" y="4610100"/>
            <a:ext cx="742950" cy="74295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4610100"/>
            <a:ext cx="742950" cy="7429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地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2038350" y="4495800"/>
            <a:ext cx="3810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지지 (地支)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038350" y="4838700"/>
            <a:ext cx="53340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땅의 현실 · 실제 행동과 환경으로 드러나는 모습. 아래층 4글자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34300" y="4838700"/>
            <a:ext cx="3505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34300" y="4838700"/>
            <a:ext cx="35052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자·축·인·묘·진·사·오·미·신·유·술·해  (12개)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2000" y="588645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10 × 지지 12 가 짝을 이뤄 하나의 기둥(주)을 만듭니다.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사주팔자의 구조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경우의 수 — 60갑자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기둥에 올 수 있는 조합은 모두 60가지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28700" y="2762250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2190750" y="30670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천간의 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0750" y="32956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하늘의 글자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2000" y="3914775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8700" y="4010025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2190750" y="4314825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지지의 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0750" y="4543425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땅의 글자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2000" y="5162550"/>
            <a:ext cx="3429000" cy="1123950"/>
          </a:xfrm>
          <a:prstGeom prst="roundRect">
            <a:avLst>
              <a:gd name="adj" fmla="val 13559"/>
            </a:avLst>
          </a:prstGeom>
          <a:solidFill>
            <a:srgbClr val="0C0A09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8700" y="5257800"/>
            <a:ext cx="1143000" cy="933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60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2190750" y="5543550"/>
            <a:ext cx="1752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기둥의 경우의 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90750" y="5772150"/>
            <a:ext cx="1752600" cy="3619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10과 12의 최소공배수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19600" y="2667000"/>
            <a:ext cx="7010400" cy="3619500"/>
          </a:xfrm>
          <a:prstGeom prst="roundRect">
            <a:avLst>
              <a:gd name="adj" fmla="val 421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62500" y="2933700"/>
            <a:ext cx="6286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왜 60일까?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762500" y="3295650"/>
            <a:ext cx="63627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 10개와 지지 12개를 순서대로 하나씩 짝지어 나갑니다. </a:t>
            </a:r>
            <a:r>
              <a:rPr lang="en-US" sz="1400" b="1" dirty="0">
                <a:solidFill>
                  <a:srgbClr val="0C0A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갑자 → 을축 → 병인 …</a:t>
            </a: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이렇게 돌다 보면 처음 '갑자'로 되돌아오기까지 정확히 60번이 걸립니다.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7625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25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갑자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9817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17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을축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2009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009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병인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84201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201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정묘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9639300" y="430530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39300" y="430530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무진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47625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625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기사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59817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817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경오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72009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009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신미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84201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201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임신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9639300" y="4857750"/>
            <a:ext cx="112395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39300" y="4857750"/>
            <a:ext cx="11239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92524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계유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4762500" y="5848350"/>
            <a:ext cx="6286500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… 계속 이어져 60번째 '계해'까지, 다시 갑자로 순환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8C8E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십간과 십이지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TEN STEMS &amp; TWELVE BRANCHES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글자는 결국 두 묶음에서 나옵니다. 하늘의 열 글자 '십간'과 땅의 열두 글자 '십이지'. 먼저 전체를 한눈에 훑어봅니다.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32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429000" cy="34290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십간과 십이지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10천간 한눈에 보기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 글자 = 다섯 오행 × 음양(陽·陰) 두 짝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90750" y="2838450"/>
            <a:ext cx="381000" cy="3810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1907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715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9715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 · 陽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1465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43400" y="2838450"/>
            <a:ext cx="381000" cy="3810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2420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312420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 · 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673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6050" y="2838450"/>
            <a:ext cx="381000" cy="3810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4960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768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52768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 · 陽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1995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48700" y="2838450"/>
            <a:ext cx="381000" cy="3810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864870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2950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</a:t>
            </a:r>
            <a:endParaRPr lang="en-US" sz="5200" dirty="0"/>
          </a:p>
        </p:txBody>
      </p:sp>
      <p:sp>
        <p:nvSpPr>
          <p:cNvPr id="30" name="Text 28"/>
          <p:cNvSpPr/>
          <p:nvPr/>
        </p:nvSpPr>
        <p:spPr>
          <a:xfrm>
            <a:off x="742950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 · 陰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372600" y="26670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801350" y="2838450"/>
            <a:ext cx="381000" cy="3810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0801350" y="28384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582150" y="28956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</a:t>
            </a:r>
            <a:endParaRPr lang="en-US" sz="5200" dirty="0"/>
          </a:p>
        </p:txBody>
      </p:sp>
      <p:sp>
        <p:nvSpPr>
          <p:cNvPr id="35" name="Text 33"/>
          <p:cNvSpPr/>
          <p:nvPr/>
        </p:nvSpPr>
        <p:spPr>
          <a:xfrm>
            <a:off x="9582150" y="38100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 · 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20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190750" y="4667250"/>
            <a:ext cx="381000" cy="3810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1907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715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</a:t>
            </a:r>
            <a:endParaRPr lang="en-US" sz="5200" dirty="0"/>
          </a:p>
        </p:txBody>
      </p:sp>
      <p:sp>
        <p:nvSpPr>
          <p:cNvPr id="40" name="Text 38"/>
          <p:cNvSpPr/>
          <p:nvPr/>
        </p:nvSpPr>
        <p:spPr>
          <a:xfrm>
            <a:off x="9715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 · 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1465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343400" y="4667250"/>
            <a:ext cx="381000" cy="3810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12420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</a:t>
            </a:r>
            <a:endParaRPr lang="en-US" sz="5200" dirty="0"/>
          </a:p>
        </p:txBody>
      </p:sp>
      <p:sp>
        <p:nvSpPr>
          <p:cNvPr id="45" name="Text 43"/>
          <p:cNvSpPr/>
          <p:nvPr/>
        </p:nvSpPr>
        <p:spPr>
          <a:xfrm>
            <a:off x="312420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 · 陽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0673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96050" y="4667250"/>
            <a:ext cx="381000" cy="3810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4960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2768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</a:t>
            </a:r>
            <a:endParaRPr lang="en-US" sz="5200" dirty="0"/>
          </a:p>
        </p:txBody>
      </p:sp>
      <p:sp>
        <p:nvSpPr>
          <p:cNvPr id="50" name="Text 48"/>
          <p:cNvSpPr/>
          <p:nvPr/>
        </p:nvSpPr>
        <p:spPr>
          <a:xfrm>
            <a:off x="52768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 · 陰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21995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48700" y="4667250"/>
            <a:ext cx="381000" cy="3810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864870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壬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42950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</a:t>
            </a:r>
            <a:endParaRPr lang="en-US" sz="5200" dirty="0"/>
          </a:p>
        </p:txBody>
      </p:sp>
      <p:sp>
        <p:nvSpPr>
          <p:cNvPr id="55" name="Text 53"/>
          <p:cNvSpPr/>
          <p:nvPr/>
        </p:nvSpPr>
        <p:spPr>
          <a:xfrm>
            <a:off x="742950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 · 陽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9372600" y="4495800"/>
            <a:ext cx="19812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801350" y="4667250"/>
            <a:ext cx="381000" cy="3810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0801350" y="466725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癸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582150" y="4724400"/>
            <a:ext cx="1143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</a:t>
            </a:r>
            <a:endParaRPr lang="en-US" sz="5200" dirty="0"/>
          </a:p>
        </p:txBody>
      </p:sp>
      <p:sp>
        <p:nvSpPr>
          <p:cNvPr id="60" name="Text 58"/>
          <p:cNvSpPr/>
          <p:nvPr/>
        </p:nvSpPr>
        <p:spPr>
          <a:xfrm>
            <a:off x="9582150" y="5638800"/>
            <a:ext cx="1524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 · 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43000" y="3810000"/>
            <a:ext cx="4000500" cy="4000500"/>
          </a:xfrm>
          <a:prstGeom prst="ellipse">
            <a:avLst/>
          </a:prstGeom>
          <a:solidFill>
            <a:srgbClr val="E8B8C4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십간과 십이지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12지지 한눈에 보기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열두 글자 = 익숙한 열두 띠 동물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200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8C8E8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2000" y="2933700"/>
            <a:ext cx="1676400" cy="152400"/>
          </a:xfrm>
          <a:prstGeom prst="rect">
            <a:avLst/>
          </a:prstGeom>
          <a:solidFill>
            <a:srgbClr val="A8C8E8">
              <a:alpha val="6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00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200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200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6222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222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62225" y="293370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256222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222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축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56222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6222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6245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245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7E5D3">
              <a:alpha val="6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62450" y="2933700"/>
            <a:ext cx="1676400" cy="152400"/>
          </a:xfrm>
          <a:prstGeom prst="rect">
            <a:avLst/>
          </a:prstGeom>
          <a:solidFill>
            <a:srgbClr val="A7E5D3">
              <a:alpha val="6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36245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6245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인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36245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寅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6245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호랑이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6267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6267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7E5D3">
              <a:alpha val="6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162675" y="2933700"/>
            <a:ext cx="1676400" cy="152400"/>
          </a:xfrm>
          <a:prstGeom prst="rect">
            <a:avLst/>
          </a:prstGeom>
          <a:solidFill>
            <a:srgbClr val="A7E5D3">
              <a:alpha val="6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16267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6267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묘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16267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卯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16267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토끼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962900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962900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962900" y="293370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962900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2900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진</a:t>
            </a:r>
            <a:endParaRPr lang="en-US" sz="4400" dirty="0"/>
          </a:p>
        </p:txBody>
      </p:sp>
      <p:sp>
        <p:nvSpPr>
          <p:cNvPr id="44" name="Text 42"/>
          <p:cNvSpPr/>
          <p:nvPr/>
        </p:nvSpPr>
        <p:spPr>
          <a:xfrm>
            <a:off x="7962900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辰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962900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9763125" y="264795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763125" y="264795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F4C5A8">
              <a:alpha val="6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763125" y="2933700"/>
            <a:ext cx="1676400" cy="152400"/>
          </a:xfrm>
          <a:prstGeom prst="rect">
            <a:avLst/>
          </a:prstGeom>
          <a:solidFill>
            <a:srgbClr val="F4C5A8">
              <a:alpha val="6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763125" y="264795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763125" y="314325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</a:t>
            </a:r>
            <a:endParaRPr lang="en-US" sz="4400" dirty="0"/>
          </a:p>
        </p:txBody>
      </p:sp>
      <p:sp>
        <p:nvSpPr>
          <p:cNvPr id="51" name="Text 49"/>
          <p:cNvSpPr/>
          <p:nvPr/>
        </p:nvSpPr>
        <p:spPr>
          <a:xfrm>
            <a:off x="9763125" y="377190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巳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763125" y="400050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뱀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76200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6200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F4C5A8">
              <a:alpha val="6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2000" y="4781550"/>
            <a:ext cx="1676400" cy="152400"/>
          </a:xfrm>
          <a:prstGeom prst="rect">
            <a:avLst/>
          </a:prstGeom>
          <a:solidFill>
            <a:srgbClr val="F4C5A8">
              <a:alpha val="6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76200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6200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</a:t>
            </a:r>
            <a:endParaRPr lang="en-US" sz="4400" dirty="0"/>
          </a:p>
        </p:txBody>
      </p:sp>
      <p:sp>
        <p:nvSpPr>
          <p:cNvPr id="58" name="Text 56"/>
          <p:cNvSpPr/>
          <p:nvPr/>
        </p:nvSpPr>
        <p:spPr>
          <a:xfrm>
            <a:off x="76200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午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200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222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256222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562225" y="478155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256222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256222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미</a:t>
            </a:r>
            <a:endParaRPr lang="en-US" sz="4400" dirty="0"/>
          </a:p>
        </p:txBody>
      </p:sp>
      <p:sp>
        <p:nvSpPr>
          <p:cNvPr id="65" name="Text 63"/>
          <p:cNvSpPr/>
          <p:nvPr/>
        </p:nvSpPr>
        <p:spPr>
          <a:xfrm>
            <a:off x="256222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未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6222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436245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436245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C8B8E0">
              <a:alpha val="6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4362450" y="4781550"/>
            <a:ext cx="1676400" cy="152400"/>
          </a:xfrm>
          <a:prstGeom prst="rect">
            <a:avLst/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0" name="Text 68"/>
          <p:cNvSpPr/>
          <p:nvPr/>
        </p:nvSpPr>
        <p:spPr>
          <a:xfrm>
            <a:off x="436245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436245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</a:t>
            </a:r>
            <a:endParaRPr lang="en-US" sz="4400" dirty="0"/>
          </a:p>
        </p:txBody>
      </p:sp>
      <p:sp>
        <p:nvSpPr>
          <p:cNvPr id="72" name="Text 70"/>
          <p:cNvSpPr/>
          <p:nvPr/>
        </p:nvSpPr>
        <p:spPr>
          <a:xfrm>
            <a:off x="436245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申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6245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원숭이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616267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616267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6162675" y="4781550"/>
            <a:ext cx="1676400" cy="152400"/>
          </a:xfrm>
          <a:prstGeom prst="rect">
            <a:avLst/>
          </a:prstGeom>
          <a:solidFill>
            <a:srgbClr val="C8B8E0">
              <a:alpha val="6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616267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616267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유</a:t>
            </a:r>
            <a:endParaRPr lang="en-US" sz="4400" dirty="0"/>
          </a:p>
        </p:txBody>
      </p:sp>
      <p:sp>
        <p:nvSpPr>
          <p:cNvPr id="79" name="Text 77"/>
          <p:cNvSpPr/>
          <p:nvPr/>
        </p:nvSpPr>
        <p:spPr>
          <a:xfrm>
            <a:off x="616267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酉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616267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닭</a:t>
            </a:r>
            <a:endParaRPr lang="en-US" sz="1250" dirty="0"/>
          </a:p>
        </p:txBody>
      </p:sp>
      <p:sp>
        <p:nvSpPr>
          <p:cNvPr id="81" name="Shape 79"/>
          <p:cNvSpPr/>
          <p:nvPr/>
        </p:nvSpPr>
        <p:spPr>
          <a:xfrm>
            <a:off x="7962900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7962900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E8B8C4">
              <a:alpha val="6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7962900" y="4781550"/>
            <a:ext cx="1676400" cy="152400"/>
          </a:xfrm>
          <a:prstGeom prst="rect">
            <a:avLst/>
          </a:prstGeom>
          <a:solidFill>
            <a:srgbClr val="E8B8C4">
              <a:alpha val="65000"/>
            </a:srgbClr>
          </a:solidFill>
          <a:ln/>
        </p:spPr>
      </p:sp>
      <p:sp>
        <p:nvSpPr>
          <p:cNvPr id="84" name="Text 82"/>
          <p:cNvSpPr/>
          <p:nvPr/>
        </p:nvSpPr>
        <p:spPr>
          <a:xfrm>
            <a:off x="7962900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토(土)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7962900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술</a:t>
            </a:r>
            <a:endParaRPr lang="en-US" sz="4400" dirty="0"/>
          </a:p>
        </p:txBody>
      </p:sp>
      <p:sp>
        <p:nvSpPr>
          <p:cNvPr id="86" name="Text 84"/>
          <p:cNvSpPr/>
          <p:nvPr/>
        </p:nvSpPr>
        <p:spPr>
          <a:xfrm>
            <a:off x="7962900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戌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7962900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</a:t>
            </a:r>
            <a:endParaRPr lang="en-US" sz="1250" dirty="0"/>
          </a:p>
        </p:txBody>
      </p:sp>
      <p:sp>
        <p:nvSpPr>
          <p:cNvPr id="88" name="Shape 86"/>
          <p:cNvSpPr/>
          <p:nvPr/>
        </p:nvSpPr>
        <p:spPr>
          <a:xfrm>
            <a:off x="9763125" y="4495800"/>
            <a:ext cx="1676400" cy="17145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9763125" y="4495800"/>
            <a:ext cx="1676400" cy="438150"/>
          </a:xfrm>
          <a:prstGeom prst="roundRect">
            <a:avLst>
              <a:gd name="adj" fmla="val 34783"/>
            </a:avLst>
          </a:prstGeom>
          <a:solidFill>
            <a:srgbClr val="A8C8E8">
              <a:alpha val="6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9763125" y="4781550"/>
            <a:ext cx="1676400" cy="152400"/>
          </a:xfrm>
          <a:prstGeom prst="rect">
            <a:avLst/>
          </a:prstGeom>
          <a:solidFill>
            <a:srgbClr val="A8C8E8">
              <a:alpha val="65000"/>
            </a:srgbClr>
          </a:solidFill>
          <a:ln/>
        </p:spPr>
      </p:sp>
      <p:sp>
        <p:nvSpPr>
          <p:cNvPr id="91" name="Text 89"/>
          <p:cNvSpPr/>
          <p:nvPr/>
        </p:nvSpPr>
        <p:spPr>
          <a:xfrm>
            <a:off x="9763125" y="4495800"/>
            <a:ext cx="167640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9763125" y="4991100"/>
            <a:ext cx="167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해</a:t>
            </a:r>
            <a:endParaRPr lang="en-US" sz="4400" dirty="0"/>
          </a:p>
        </p:txBody>
      </p:sp>
      <p:sp>
        <p:nvSpPr>
          <p:cNvPr id="93" name="Text 91"/>
          <p:cNvSpPr/>
          <p:nvPr/>
        </p:nvSpPr>
        <p:spPr>
          <a:xfrm>
            <a:off x="9763125" y="5619750"/>
            <a:ext cx="167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亥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9763125" y="5848350"/>
            <a:ext cx="16764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돼지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F4C5A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오행의 이해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FIVE ELEMENTS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천간도 지지도 결국 다섯 개의 기운으로 수렴합니다. 목·화·토·금·수. 계절의 흐름이자 사람의 기질입니다.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32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 — 다섯 기운의 순환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 → 여름 → 환절기 → 가을 → 겨울, 계절처럼 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333500" y="3105150"/>
            <a:ext cx="762000" cy="7620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620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620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20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8605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95275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24250" y="3105150"/>
            <a:ext cx="762000" cy="7620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2425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95275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95275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95275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87680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51435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15000" y="3105150"/>
            <a:ext cx="762000" cy="762000"/>
          </a:xfrm>
          <a:prstGeom prst="ellipse">
            <a:avLst/>
          </a:prstGeom>
          <a:solidFill>
            <a:srgbClr val="E8B8C4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7150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土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1435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1435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환절기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435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06755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3425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05750" y="3105150"/>
            <a:ext cx="762000" cy="762000"/>
          </a:xfrm>
          <a:prstGeom prst="ellipse">
            <a:avLst/>
          </a:prstGeom>
          <a:solidFill>
            <a:srgbClr val="C8B8E0">
              <a:alpha val="8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790575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金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733425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33425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가을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33425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258300" y="3714750"/>
            <a:ext cx="266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9525000" y="2857500"/>
            <a:ext cx="19050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96500" y="3105150"/>
            <a:ext cx="762000" cy="7620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0096500" y="3105150"/>
            <a:ext cx="76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</a:t>
            </a:r>
            <a:endParaRPr lang="en-US" sz="3400" dirty="0"/>
          </a:p>
        </p:txBody>
      </p:sp>
      <p:sp>
        <p:nvSpPr>
          <p:cNvPr id="42" name="Text 40"/>
          <p:cNvSpPr/>
          <p:nvPr/>
        </p:nvSpPr>
        <p:spPr>
          <a:xfrm>
            <a:off x="9525000" y="3981450"/>
            <a:ext cx="1905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9525000" y="4381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25000" y="46482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762000" y="5334000"/>
            <a:ext cx="10668000" cy="8763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66800" y="5334000"/>
            <a:ext cx="152400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 개념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590800" y="5334000"/>
            <a:ext cx="8572500" cy="876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오행은 좋고 나쁨이 아니라 '기운의 단계'입니다. 씨앗이 돋고(목) 무성해지고(화) 중심을 잡고(토) 열매 맺고(금) 씨앗으로 저장되는(수) 자연의 사이클을 사람에게 대입한 것이죠.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목(木) — 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시작의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목 · Wood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차가운 땅을 뚫고 솟구치는 새싹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호기심 많고 겁 없는 어린아이, 아이디어만 가지고 바로 창업하는 스타트업 대표의 이미지.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대책은 없어도 추진력은 우주 최강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순수하고 뒤끝이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A7E5D3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위로 뻗어 나가려는 상승·성장 욕구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화(火) — 여름의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확산의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화 · Fire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벌여놓은 일을 사방으로 키우는 열기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마케팅·홍보팀, 혈기왕성한 20대 청춘의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솔직하고 에너지가 넘침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표현력이 좋고 관심받는 걸 좋아함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F4C5A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욱하는 성질이 있으나 금방 풀림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E8B8C4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토(土) — 환절기의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중재의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E8B8C4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土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토 · Earth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극단을 잡아주고 중심을 세우는 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회사의 갈등을 중재하는 3~40대 총무팀장의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묵직하고 입이 무거움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넓은 오지랖과 포용력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E8B8C4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신중하나 고집이 매우 셈, 잘 안 움직임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금(金) — 가을의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결실의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金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금 · Metal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거품을 걷어내고 열매만 남기는 숙살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추수기의 50대 베테랑, 비리를 털어내는 감사팀장의 느낌.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시시비비를 잘 가려냄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결단력이 끝내줌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C8B8E0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차갑고 칼날 같으며 정이 없는 편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수(水) — 겨울의 기운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저장의 기운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619500" cy="36195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28750" y="3067050"/>
            <a:ext cx="2286000" cy="22860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428750" y="306705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</a:t>
            </a:r>
            <a:endParaRPr lang="en-US" sz="12000" dirty="0"/>
          </a:p>
        </p:txBody>
      </p:sp>
      <p:sp>
        <p:nvSpPr>
          <p:cNvPr id="14" name="Text 12"/>
          <p:cNvSpPr/>
          <p:nvPr/>
        </p:nvSpPr>
        <p:spPr>
          <a:xfrm>
            <a:off x="762000" y="5715000"/>
            <a:ext cx="36195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 · Water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10100" y="2667000"/>
            <a:ext cx="6819900" cy="1638300"/>
          </a:xfrm>
          <a:prstGeom prst="roundRect">
            <a:avLst>
              <a:gd name="adj" fmla="val 9302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4900" y="2857500"/>
            <a:ext cx="190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이미지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14900" y="3086100"/>
            <a:ext cx="62103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모든 과정을 다 거친 노인의 깊이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4900" y="3486150"/>
            <a:ext cx="62103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고문의 느낌, 응축과 저장의 기운.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01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87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387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387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적응력과 유연성이 만렙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9342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628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1628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1628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생각이 깊어 지혜로움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258300" y="4457700"/>
            <a:ext cx="217170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86900" y="4686300"/>
            <a:ext cx="381000" cy="381000"/>
          </a:xfrm>
          <a:prstGeom prst="ellipse">
            <a:avLst/>
          </a:prstGeom>
          <a:solidFill>
            <a:srgbClr val="A8C8E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4686300"/>
            <a:ext cx="381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86900" y="5200650"/>
            <a:ext cx="171450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속을 잘 안 보여 비밀이 많음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238500" cy="32385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오행의 이해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오행 5가지 종합 비교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 · 이미지 · 키워드를 한 표로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86050"/>
            <a:ext cx="142875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2" name="Text 10"/>
          <p:cNvSpPr/>
          <p:nvPr/>
        </p:nvSpPr>
        <p:spPr>
          <a:xfrm>
            <a:off x="762000" y="268605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90750" y="2686050"/>
            <a:ext cx="114300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4" name="Text 12"/>
          <p:cNvSpPr/>
          <p:nvPr/>
        </p:nvSpPr>
        <p:spPr>
          <a:xfrm>
            <a:off x="2190750" y="2686050"/>
            <a:ext cx="114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33750" y="2686050"/>
            <a:ext cx="514350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6" name="Text 14"/>
          <p:cNvSpPr/>
          <p:nvPr/>
        </p:nvSpPr>
        <p:spPr>
          <a:xfrm>
            <a:off x="3333750" y="2686050"/>
            <a:ext cx="5143500" cy="419100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사람 이미지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77250" y="2686050"/>
            <a:ext cx="2952750" cy="41910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8" name="Text 16"/>
          <p:cNvSpPr/>
          <p:nvPr/>
        </p:nvSpPr>
        <p:spPr>
          <a:xfrm>
            <a:off x="8477250" y="2686050"/>
            <a:ext cx="2952750" cy="419100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 키워드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2000" y="31051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5875" y="3257550"/>
            <a:ext cx="304800" cy="3048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62000" y="31051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 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190750" y="31051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67100" y="31051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겁 없는 어린아이 · 스타트업 대표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10600" y="31051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시작 · 추진 · 순수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62000" y="3714750"/>
            <a:ext cx="10668000" cy="609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5875" y="3867150"/>
            <a:ext cx="304800" cy="3048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7147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 火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90750" y="37147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67100" y="37147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혈기왕성한 20대 · 마케팅팀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10600" y="37147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확산 · 표현 · 열정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2000" y="43243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85875" y="4476750"/>
            <a:ext cx="304800" cy="3048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62000" y="43243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 土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2190750" y="43243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환절기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67100" y="43243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중재하는 총무팀장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10600" y="43243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중심 · 포용 · 고집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62000" y="4933950"/>
            <a:ext cx="10668000" cy="609600"/>
          </a:xfrm>
          <a:prstGeom prst="rect">
            <a:avLst/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85875" y="5086350"/>
            <a:ext cx="304800" cy="3048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762000" y="49339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 金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190750" y="49339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가을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467100" y="49339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베테랑 감사팀장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10600" y="49339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결단 · 정리 · 냉철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62000" y="554355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85875" y="5695950"/>
            <a:ext cx="304800" cy="3048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62000" y="5543550"/>
            <a:ext cx="14287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 水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190750" y="5543550"/>
            <a:ext cx="114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겨울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67100" y="5543550"/>
            <a:ext cx="4953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지혜로운 회사 고문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610600" y="5543550"/>
            <a:ext cx="276225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저장 · 유연 · 비밀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C8B8E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10천간의 캐릭터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CHARACTERS OF TEN STEMS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오행이라도 양(陽)과 음(陰)에 따라 성격이 갈립니다. 갑목의 큰 나무와 을목의 넝쿨처럼. 열 개의 뚜렷한 캐릭터를 만나봅니다.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32</a:t>
            </a:r>
            <a:endParaRPr lang="en-US" sz="11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목(木)의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갑木 · 음(陰) 을木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A7E5D3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갑木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큰 나무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"내가 대장이야~"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명예욕과 자존심이 매우 강함. 리드하는 걸 좋아하고, 실패해도 다시 일어서는 고집과 대장부 기질.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A7E5D3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을木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넝쿨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"잡초 같은 생명력 + 적응력"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겉은 부드러워 보이나 속은 독종. 부러지지 않고 휘어지며 끝까지 살아남아 실속을 챙기는 영리함.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화(火)의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병火 · 음(陰) 정火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F4C5A8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병火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태양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"숨김없이 드러낸다~"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감정과 속마음이 투명하게 보임. 비밀을 못 지키고 뒤끝도 없으며, 화가 나도 5분 뒤 잊는 단순함.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F4C5A8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정火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촛불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"겉은 따뜻하나 속은 예리"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겉은 조용·따뜻하나 속은 집착과 폭발력. 분석을 잘하고 예의를 중시하며 세심한 기억력의 서늘함.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E8B8C4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토(土)의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무土 · 음(陰) 기土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E8B8C4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무土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거대한 산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"포커페이스 끝판왕"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웬만한 일엔 끄떡없는 무던함과 뚝심. 남의 고민은 잘 들어줘도 자기 속이야기는 안 하고 고집이 셈.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E8B8C4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기土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텃밭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"어머니 같은 꼼꼼함"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다정다감, 사람 잘 챙기는 현실주의자. 치밀하고 계산이 빠르며 실속을 귀신같이 챙김.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금(金)의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경金 · 음(陰) 신金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C8B8E0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경金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거대한 바위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"의리 빼면 시체"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묵직하고 단단. 내 편이면 영혼도 퍼주지만 아니면 칼같이 잘라냄. 결단력과 맷집이 매우 강함.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C8B8E0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신金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보석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"정밀하고 세밀한 레이저"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예민·깔끔·똑똑함. 미적 감각이 뛰어나고, 상대의 아픈 곳을 정확히 짚는 팩폭의 대가.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10천간의 캐릭터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수(水)의 두 천간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양(陽) 임水 · 음(陰) 계水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1050" y="2933700"/>
            <a:ext cx="1066800" cy="1066800"/>
          </a:xfrm>
          <a:prstGeom prst="ellipse">
            <a:avLst/>
          </a:prstGeom>
          <a:solidFill>
            <a:srgbClr val="A8C8E8">
              <a:alpha val="7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910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壬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10668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陽 · 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77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임水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10668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68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"모든 것을 받아들이는"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668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생각이 넓고 스케일이 큼. 겉은 유해 보이나 거대한 해일. 정보 수집력이 좋고 구속을 매우 싫어함.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0300" y="2667000"/>
            <a:ext cx="5219700" cy="35814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39350" y="2933700"/>
            <a:ext cx="1066800" cy="1066800"/>
          </a:xfrm>
          <a:prstGeom prst="ellipse">
            <a:avLst/>
          </a:prstGeom>
          <a:solidFill>
            <a:srgbClr val="A8C8E8">
              <a:alpha val="7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39350" y="2933700"/>
            <a:ext cx="1066800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癸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6515100" y="2990850"/>
            <a:ext cx="876300" cy="28575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5" name="Text 23"/>
          <p:cNvSpPr/>
          <p:nvPr/>
        </p:nvSpPr>
        <p:spPr>
          <a:xfrm>
            <a:off x="6515100" y="2990850"/>
            <a:ext cx="876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925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陰 · 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6050" y="3352800"/>
            <a:ext cx="28575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계水</a:t>
            </a:r>
            <a:endParaRPr lang="en-US" sz="5400" dirty="0"/>
          </a:p>
        </p:txBody>
      </p:sp>
      <p:sp>
        <p:nvSpPr>
          <p:cNvPr id="27" name="Text 25"/>
          <p:cNvSpPr/>
          <p:nvPr/>
        </p:nvSpPr>
        <p:spPr>
          <a:xfrm>
            <a:off x="6515100" y="421005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계곡 · 시냇물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515100" y="4591050"/>
            <a:ext cx="46101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5100" y="4686300"/>
            <a:ext cx="4610100" cy="3238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"잔머리 만렙"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515100" y="5067300"/>
            <a:ext cx="46101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눈치와 센스가 가장 빠르고 영리. 다정·유연해 보이나 뒤에서 판을 짜고 사람을 움직이는 내막.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1143000"/>
            <a:ext cx="4953000" cy="4953000"/>
          </a:xfrm>
          <a:prstGeom prst="ellipse">
            <a:avLst/>
          </a:prstGeom>
          <a:solidFill>
            <a:srgbClr val="A7E5D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12지지의 계절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TWELVE BRANCHES BY SEASON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7239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십이지는 천간의 생각이 현실에서 드러나는 열두 동물입니다. 계절의 흐름 — 봄·여름·가을·겨울로 묶어 셋씩 읽으면 쉽습니다.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32</a:t>
            </a:r>
            <a:endParaRPr lang="en-US" sz="11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7E5D3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🌱 봄의 기운 — 인·묘·진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목(木)의 계절 · 태동과 설계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27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寅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인 · 호랑이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새벽의 시작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어둠을 뚫고 솟는 기운처럼 두려움 없이 판을 짜고 뛰어드는 기획·개척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卯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묘 · 토끼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완연한 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새싹이 사방으로 뻗듯 자기 영역을 확장하고 꾸미는 생기·호기심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A7E5D3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辰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진 · 용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이상향을 꿈꾸며 봄의 에너지를 종합해 다음으로 넘기는 종합·스케일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F4C5A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☀️ 여름의 기운 — 사·오·미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화(火)의 계절 · 발산과 확장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28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巳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 · 뱀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초여름의 열기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빛이 사방으로 퍼지듯 활동 범위를 넓히고 정보를 전달하는 역동성·방송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午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오 · 말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한여름의 태양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정점의 에너지처럼 숨김없이 화려하게 자신을 불태우는 열정·시선집중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F4C5A8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未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미 · 양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뜨거운 열기를 거두어 알맹이를 단단히 굳히는 절제·성숙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C8B8E0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🍁 가을의 기운 — 신·유·술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금(金)의 계절 · 결실과 정리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29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申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 · 원숭이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초가을의 결실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다재다능한 원숭이처럼 숙련된 기술로 결과물을 만드는 재주·실속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酉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유 · 닭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완벽한 보석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불순물을 완전히 제거한 맑은 결정체 같은 전문성·예리함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C8B8E0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戌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술 · 개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가을을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겨울을 준비하며 소중한 것을 창고에 넣고 지키는 저장·방어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0" y="2857500"/>
            <a:ext cx="4000500" cy="4000500"/>
          </a:xfrm>
          <a:prstGeom prst="ellipse">
            <a:avLst/>
          </a:prstGeom>
          <a:solidFill>
            <a:srgbClr val="A8C8E8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12지지의 계절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❄️ 겨울의 기운 — 해·자·축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수(水)의 계절 · 응축과 준비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30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2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81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亥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62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해 · 돼지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714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16" name="Text 14"/>
          <p:cNvSpPr/>
          <p:nvPr/>
        </p:nvSpPr>
        <p:spPr>
          <a:xfrm>
            <a:off x="1714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초겨울의 시작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생명을 품은 밤의 바다처럼 스케일 크고 내면이 넓은 포용·해외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815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007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6007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子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43815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 · 쥐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53340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24" name="Text 22"/>
          <p:cNvSpPr/>
          <p:nvPr/>
        </p:nvSpPr>
        <p:spPr>
          <a:xfrm>
            <a:off x="53340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한겨울의 응축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625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72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씨앗 속 유전자처럼 작지만 모든 정보가 압축된 본질·지혜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01000" y="2667000"/>
            <a:ext cx="3429000" cy="35433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20200" y="2952750"/>
            <a:ext cx="990600" cy="990600"/>
          </a:xfrm>
          <a:prstGeom prst="ellipse">
            <a:avLst/>
          </a:prstGeom>
          <a:solidFill>
            <a:srgbClr val="A8C8E8">
              <a:alpha val="8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220200" y="2952750"/>
            <a:ext cx="990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丑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001000" y="4076700"/>
            <a:ext cx="3429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축 · 소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953500" y="4457700"/>
            <a:ext cx="1524000" cy="304800"/>
          </a:xfrm>
          <a:prstGeom prst="roundRect">
            <a:avLst>
              <a:gd name="adj" fmla="val 50000"/>
            </a:avLst>
          </a:prstGeom>
          <a:solidFill>
            <a:srgbClr val="F0EFED"/>
          </a:solidFill>
          <a:ln/>
        </p:spPr>
      </p:sp>
      <p:sp>
        <p:nvSpPr>
          <p:cNvPr id="32" name="Text 30"/>
          <p:cNvSpPr/>
          <p:nvPr/>
        </p:nvSpPr>
        <p:spPr>
          <a:xfrm>
            <a:off x="8953500" y="44577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겨울을 맺는 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82000" y="4933950"/>
            <a:ext cx="2667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6750" y="5067300"/>
            <a:ext cx="28575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얼어붙은 땅속에서 봄싹을 위해 묵묵히 견디는 인내·준비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20250" y="2857500"/>
            <a:ext cx="3429000" cy="3429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WRAP-UP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1회차 핵심 요약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반드시 가져가야 할 네 가지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31 / 32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7620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9650" y="293370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3" name="Text 11"/>
          <p:cNvSpPr/>
          <p:nvPr/>
        </p:nvSpPr>
        <p:spPr>
          <a:xfrm>
            <a:off x="1009650" y="2933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🧱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3550" y="29908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8글자 = 4기둥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3550" y="33528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년·월·일·시 네 기둥에 천간·지지 두 글자씩 = 사주팔자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0300" y="266700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7950" y="293370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57950" y="2933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181850" y="299085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 10 · 지지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81850" y="335280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하늘 열 글자, 땅 열두 글자가 짝지어 60갑자로 순환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2000" y="44767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9650" y="474345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9650" y="474345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🌱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7335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 5기운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733550" y="51625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— 좋고 나쁨이 아닌 기운의 단계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0300" y="4476750"/>
            <a:ext cx="5219700" cy="161925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7950" y="4743450"/>
            <a:ext cx="533400" cy="533400"/>
          </a:xfrm>
          <a:prstGeom prst="ellipse">
            <a:avLst/>
          </a:prstGeom>
          <a:solidFill>
            <a:srgbClr val="F0EFED"/>
          </a:solidFill>
          <a:ln/>
        </p:spPr>
      </p:sp>
      <p:sp>
        <p:nvSpPr>
          <p:cNvPr id="28" name="Text 26"/>
          <p:cNvSpPr/>
          <p:nvPr/>
        </p:nvSpPr>
        <p:spPr>
          <a:xfrm>
            <a:off x="6457950" y="474345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🎭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181850" y="4800600"/>
            <a:ext cx="4000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음양의 캐릭터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7181850" y="5162550"/>
            <a:ext cx="4000500" cy="76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오행도 양·음으로 갈려 열 개의 성격이 됨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0500" y="-1333500"/>
            <a:ext cx="6096000" cy="6096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14500" y="3429000"/>
            <a:ext cx="5334000" cy="5334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953000" y="3238500"/>
            <a:ext cx="4381500" cy="43815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26695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5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3900" y="2590800"/>
            <a:ext cx="10668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2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2회차에서 만나요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62000" y="3733800"/>
            <a:ext cx="8572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익힌 십간·십이지·오행을 발판으로,</a:t>
            </a:r>
            <a:endParaRPr lang="en-US" sz="16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시간에는 글자들이 서로 만나 만드는 '관계'를 배웁니다.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0" name="Text 8"/>
          <p:cNvSpPr/>
          <p:nvPr/>
        </p:nvSpPr>
        <p:spPr>
          <a:xfrm>
            <a:off x="7620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합·충 (글자들의 끌림과 충돌)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십성 (나와 글자의 관계 읽기)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24800" y="4762500"/>
            <a:ext cx="3429000" cy="514350"/>
          </a:xfrm>
          <a:prstGeom prst="roundRect">
            <a:avLst>
              <a:gd name="adj" fmla="val 22222"/>
            </a:avLst>
          </a:prstGeom>
          <a:solidFill>
            <a:srgbClr val="1C1917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4762500"/>
            <a:ext cx="34290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· 실전 사주 세우기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6438900"/>
            <a:ext cx="4762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1회차 완료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2483</Words>
  <Application>Microsoft Office PowerPoint</Application>
  <PresentationFormat>와이드스크린</PresentationFormat>
  <Paragraphs>673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Jalnan 2</vt:lpstr>
      <vt:lpstr>paybooc OTF</vt:lpstr>
      <vt:lpstr>Pretendard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민규 신</cp:lastModifiedBy>
  <cp:revision>2</cp:revision>
  <dcterms:created xsi:type="dcterms:W3CDTF">2026-07-11T10:59:11Z</dcterms:created>
  <dcterms:modified xsi:type="dcterms:W3CDTF">2026-07-11T13:05:00Z</dcterms:modified>
</cp:coreProperties>
</file>