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1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42.xml"/><Relationship Id="rId33" Type="http://schemas.openxmlformats.org/officeDocument/2006/relationships/slide" Target="slides/slide43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82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1143000"/>
            <a:ext cx="5905500" cy="5905500"/>
          </a:xfrm>
          <a:prstGeom prst="ellipse">
            <a:avLst/>
          </a:prstGeom>
          <a:solidFill>
            <a:srgbClr val="C8B8E0">
              <a:alpha val="2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0" y="3619500"/>
            <a:ext cx="5334000" cy="5334000"/>
          </a:xfrm>
          <a:prstGeom prst="ellipse">
            <a:avLst/>
          </a:prstGeom>
          <a:solidFill>
            <a:srgbClr val="A7E5D3">
              <a:alpha val="1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334000" y="2857500"/>
            <a:ext cx="4572000" cy="4572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62000" y="5334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952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7E5D3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SAJU TEACHER COURSE · SESSION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3900" y="2667000"/>
            <a:ext cx="10668000" cy="1809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사주 명리학</a:t>
            </a:r>
            <a:endParaRPr lang="en-US" sz="5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4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기초 입문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62000" y="462915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천간·지지·오행 — 사주를 이루는 여덟 글자의 뼈대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2000" y="5295900"/>
            <a:ext cx="4191000" cy="400050"/>
          </a:xfrm>
          <a:prstGeom prst="roundRect">
            <a:avLst>
              <a:gd name="adj" fmla="val 50000"/>
            </a:avLst>
          </a:prstGeom>
          <a:solidFill>
            <a:srgbClr val="1C191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2000" y="5295900"/>
            <a:ext cx="419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1회차 · 사주의 기본 구조와 십간십이지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 티처 양성과정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입문자 대상 · 전 3회차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00" y="3429000"/>
            <a:ext cx="4000500" cy="4000500"/>
          </a:xfrm>
          <a:prstGeom prst="ellipse">
            <a:avLst/>
          </a:prstGeom>
          <a:solidFill>
            <a:srgbClr val="A8C8E8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COURSE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1회차 강의 목차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오늘 다루는 여섯 개의 큰 흐름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02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57175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71550" y="2571750"/>
            <a:ext cx="6667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05000" y="2724150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사주팔자의 구조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0" y="2571750"/>
            <a:ext cx="5143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여덟 글자가 어떻게 네 기둥으로 짜이는가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2000" y="320040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71550" y="3200400"/>
            <a:ext cx="7429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05000" y="3352800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십간·십이지 개관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96000" y="3200400"/>
            <a:ext cx="5143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10개의 천간과 12개의 지지 한눈에 보기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2000" y="382905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71550" y="3829050"/>
            <a:ext cx="7429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905000" y="3981450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오행의 이해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096000" y="3829050"/>
            <a:ext cx="5143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목·화·토·금·수 다섯 기운의 성질과 순환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2000" y="445770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1550" y="4457700"/>
            <a:ext cx="7429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905000" y="4610100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10천간 캐릭터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096000" y="4457700"/>
            <a:ext cx="5143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갑목부터 계수까지, 열 개의 성격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2000" y="508635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71550" y="5086350"/>
            <a:ext cx="9334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905000" y="5238750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12지지 상세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096000" y="5086350"/>
            <a:ext cx="5143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계절로 나눠 읽는 열두 동물의 기운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762000" y="571500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" name="Text 26"/>
          <p:cNvSpPr/>
          <p:nvPr/>
        </p:nvSpPr>
        <p:spPr>
          <a:xfrm>
            <a:off x="971550" y="5715000"/>
            <a:ext cx="9334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06</a:t>
            </a:r>
            <a:endParaRPr lang="en-US" sz="3000" dirty="0"/>
          </a:p>
        </p:txBody>
      </p:sp>
      <p:sp>
        <p:nvSpPr>
          <p:cNvPr id="33" name="Text 27"/>
          <p:cNvSpPr/>
          <p:nvPr/>
        </p:nvSpPr>
        <p:spPr>
          <a:xfrm>
            <a:off x="1905000" y="5867400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십신(十神)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6096000" y="5715000"/>
            <a:ext cx="5143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일간과 맺는 10가지 관계 — 사주 리딩의 핵심 도구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33500" y="4000500"/>
            <a:ext cx="4381500" cy="4381500"/>
          </a:xfrm>
          <a:prstGeom prst="ellipse">
            <a:avLst/>
          </a:prstGeom>
          <a:solidFill>
            <a:srgbClr val="F4C5A8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GOALS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LEARNING GOALS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이번 회차의 학습 목표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1회차가 끝나면 이만큼 말할 수 있게 됩니다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03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9650" y="2914650"/>
            <a:ext cx="495300" cy="4953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9650" y="2914650"/>
            <a:ext cx="495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5450" y="29527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구조를 그린다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5450" y="32956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종이에 사주 여덟 글자의 자리를 스스로 배치할 수 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03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57950" y="2914650"/>
            <a:ext cx="495300" cy="4953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7950" y="2914650"/>
            <a:ext cx="495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🔟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43750" y="29527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천간을 안다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43750" y="32956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갑을병정무기경신임계 10글자와 각각의 오행을 연결한다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000" y="45148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9650" y="4762500"/>
            <a:ext cx="495300" cy="4953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9650" y="4762500"/>
            <a:ext cx="495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🐯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954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지지를 안다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5450" y="51435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자축인묘진사오미신유술해 12글자와 동물·오행을 짝짓는다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0300" y="45148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57950" y="4762500"/>
            <a:ext cx="495300" cy="4953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57950" y="4762500"/>
            <a:ext cx="495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437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오행을 읽는다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43750" y="51435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목화토금수의 성질을 계절과 사람 이미지로 설명한다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1143000"/>
            <a:ext cx="4953000" cy="4953000"/>
          </a:xfrm>
          <a:prstGeom prst="ellipse">
            <a:avLst/>
          </a:prstGeom>
          <a:solidFill>
            <a:srgbClr val="A7E5D3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사주팔자의 구조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THE STRUCTURE OF FOUR PILLARS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7239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사주(四柱)는 '네 개의 기둥'이라는 뜻입니다. 태어난 연·월·일·시가 각각 하나의 기둥이 되고, 기둥마다 두 글자가 쌓여 모두 여덟 글자, 곧 팔자(八字)가 됩니다.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04 / 43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3619500" cy="3619500"/>
          </a:xfrm>
          <a:prstGeom prst="ellipse">
            <a:avLst/>
          </a:prstGeom>
          <a:solidFill>
            <a:srgbClr val="A7E5D3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 · 사주팔자의 구조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사주팔자란? 여덟 글자의 지도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四柱八字 — 네 기둥에 두 글자씩, 총 8글자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05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28900"/>
            <a:ext cx="4953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6800" y="2857500"/>
            <a:ext cx="4343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이름부터 뜯어봅시다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" y="3829050"/>
            <a:ext cx="43434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66800" y="3238500"/>
            <a:ext cx="196215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四 (넉 사)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24200" y="3238500"/>
            <a:ext cx="2286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개의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66800" y="4533900"/>
            <a:ext cx="43434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66800" y="3943350"/>
            <a:ext cx="196215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柱 (기둥 주)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24200" y="3943350"/>
            <a:ext cx="2286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기둥 → 年·月·日·時 4기둥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66800" y="5238750"/>
            <a:ext cx="43434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66800" y="4648200"/>
            <a:ext cx="196215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八 (여덟 팔)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124200" y="4648200"/>
            <a:ext cx="2286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여덟 개의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66800" y="5943600"/>
            <a:ext cx="43434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66800" y="5353050"/>
            <a:ext cx="196215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字 (글자 자)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24200" y="5353050"/>
            <a:ext cx="2286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→ 기둥마다 2글자씩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2628900"/>
            <a:ext cx="5486400" cy="365760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48400" y="2857500"/>
            <a:ext cx="48768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여덟 글자의 자리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62700" y="3295650"/>
            <a:ext cx="1181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시주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62700" y="3581400"/>
            <a:ext cx="11811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62700" y="3676650"/>
            <a:ext cx="1181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62700" y="3924300"/>
            <a:ext cx="11811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글자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6362700" y="4781550"/>
            <a:ext cx="11811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62700" y="4876800"/>
            <a:ext cx="1181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62700" y="5124450"/>
            <a:ext cx="11811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글자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620000" y="3295650"/>
            <a:ext cx="1181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일주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20000" y="3581400"/>
            <a:ext cx="11811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620000" y="3676650"/>
            <a:ext cx="1181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20000" y="3924300"/>
            <a:ext cx="11811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글자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7620000" y="4781550"/>
            <a:ext cx="11811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620000" y="4876800"/>
            <a:ext cx="1181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지지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20000" y="5124450"/>
            <a:ext cx="11811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글자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877300" y="3295650"/>
            <a:ext cx="1181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월주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877300" y="3581400"/>
            <a:ext cx="11811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877300" y="3676650"/>
            <a:ext cx="1181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877300" y="3924300"/>
            <a:ext cx="11811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글자</a:t>
            </a:r>
            <a:endParaRPr lang="en-US" sz="3000" dirty="0"/>
          </a:p>
        </p:txBody>
      </p:sp>
      <p:sp>
        <p:nvSpPr>
          <p:cNvPr id="45" name="Shape 43"/>
          <p:cNvSpPr/>
          <p:nvPr/>
        </p:nvSpPr>
        <p:spPr>
          <a:xfrm>
            <a:off x="8877300" y="4781550"/>
            <a:ext cx="11811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877300" y="4876800"/>
            <a:ext cx="1181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지지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77300" y="5124450"/>
            <a:ext cx="11811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글자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10134600" y="3295650"/>
            <a:ext cx="1181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년주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134600" y="3581400"/>
            <a:ext cx="11811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0134600" y="3676650"/>
            <a:ext cx="1181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134600" y="3924300"/>
            <a:ext cx="11811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글자</a:t>
            </a:r>
            <a:endParaRPr lang="en-US" sz="3000" dirty="0"/>
          </a:p>
        </p:txBody>
      </p:sp>
      <p:sp>
        <p:nvSpPr>
          <p:cNvPr id="52" name="Shape 50"/>
          <p:cNvSpPr/>
          <p:nvPr/>
        </p:nvSpPr>
        <p:spPr>
          <a:xfrm>
            <a:off x="10134600" y="4781550"/>
            <a:ext cx="11811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0134600" y="4876800"/>
            <a:ext cx="1181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지지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134600" y="5124450"/>
            <a:ext cx="11811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글자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6248400" y="6019800"/>
            <a:ext cx="495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↑ 위 4글자 = 천간(하늘) · 아래 4글자 = 지지(땅)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4000500"/>
            <a:ext cx="4000500" cy="40005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 · 사주팔자의 구조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네 개의 기둥, 시간의 네 단위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태어난 년·월·일·시가 각각 하나의 기둥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06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2533650" cy="354330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2000" y="2952750"/>
            <a:ext cx="2533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年柱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2000" y="3276600"/>
            <a:ext cx="25336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년주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1143000" y="4095750"/>
            <a:ext cx="177165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62000" y="4305300"/>
            <a:ext cx="25336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태어난 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2500" y="4667250"/>
            <a:ext cx="215265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뿌리 · 조상/초년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67100" y="2667000"/>
            <a:ext cx="2533650" cy="354330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67100" y="2952750"/>
            <a:ext cx="2533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月柱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67100" y="3276600"/>
            <a:ext cx="25336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월주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3848100" y="4095750"/>
            <a:ext cx="177165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67100" y="4305300"/>
            <a:ext cx="25336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태어난 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4667250"/>
            <a:ext cx="215265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· 부모/청년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2667000"/>
            <a:ext cx="2533650" cy="3543300"/>
          </a:xfrm>
          <a:prstGeom prst="roundRect">
            <a:avLst>
              <a:gd name="adj" fmla="val 6015"/>
            </a:avLst>
          </a:prstGeom>
          <a:solidFill>
            <a:srgbClr val="0C0A09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72200" y="2952750"/>
            <a:ext cx="2533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A7E5D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日柱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3276600"/>
            <a:ext cx="25336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일주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6553200" y="4095750"/>
            <a:ext cx="177165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72200" y="4305300"/>
            <a:ext cx="25336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태어난 날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62700" y="4667250"/>
            <a:ext cx="215265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 자신 · 중년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877300" y="2667000"/>
            <a:ext cx="2533650" cy="354330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877300" y="2952750"/>
            <a:ext cx="2533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時柱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77300" y="3276600"/>
            <a:ext cx="25336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시주</a:t>
            </a:r>
            <a:endParaRPr lang="en-US" sz="3800" dirty="0"/>
          </a:p>
        </p:txBody>
      </p:sp>
      <p:sp>
        <p:nvSpPr>
          <p:cNvPr id="32" name="Shape 30"/>
          <p:cNvSpPr/>
          <p:nvPr/>
        </p:nvSpPr>
        <p:spPr>
          <a:xfrm>
            <a:off x="9258300" y="4095750"/>
            <a:ext cx="177165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77300" y="4305300"/>
            <a:ext cx="25336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태어난 시각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67800" y="4667250"/>
            <a:ext cx="215265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결실 · 자녀/말년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00" y="3048000"/>
            <a:ext cx="3810000" cy="3810000"/>
          </a:xfrm>
          <a:prstGeom prst="ellipse">
            <a:avLst/>
          </a:prstGeom>
          <a:solidFill>
            <a:srgbClr val="C8B8E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 · 사주팔자의 구조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천간과 지지 — 하늘과 땅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각 기둥은 위(천간)와 아래(지지) 두 층으로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07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10668000" cy="142875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66800" y="3009900"/>
            <a:ext cx="742950" cy="742950"/>
          </a:xfrm>
          <a:prstGeom prst="ellipse">
            <a:avLst/>
          </a:prstGeom>
          <a:solidFill>
            <a:srgbClr val="A8C8E8">
              <a:alpha val="7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66800" y="3009900"/>
            <a:ext cx="74295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天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38350" y="2895600"/>
            <a:ext cx="3810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0A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천간 (天干)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38350" y="3238500"/>
            <a:ext cx="53340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하늘의 기운 · 겉으로 드러나는 성향과 생각. 위층에 놓이는 4글자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0500" y="3238500"/>
            <a:ext cx="3429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810500" y="32385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갑 · 을 · 병 · 정 · 무 · 기 · 경 · 신 · 임 · 계  (10개)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2000" y="4267200"/>
            <a:ext cx="10668000" cy="142875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66800" y="4610100"/>
            <a:ext cx="742950" cy="742950"/>
          </a:xfrm>
          <a:prstGeom prst="ellipse">
            <a:avLst/>
          </a:prstGeom>
          <a:solidFill>
            <a:srgbClr val="A7E5D3">
              <a:alpha val="75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66800" y="4610100"/>
            <a:ext cx="74295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地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038350" y="4495800"/>
            <a:ext cx="3810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0A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지지 (地支)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038350" y="4838700"/>
            <a:ext cx="53340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땅의 현실 · 실제 행동과 환경으로 드러나는 모습. 아래층 4글자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34300" y="4838700"/>
            <a:ext cx="3505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34300" y="4838700"/>
            <a:ext cx="35052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자·축·인·묘·진·사·오·미·신·유·술·해  (12개)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2000" y="5886450"/>
            <a:ext cx="1066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천간 10 × 지지 12 가 짝을 이뤄 하나의 기둥(주)을 만듭니다.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F4C5A8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 · 사주팔자의 구조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경우의 수 — 60갑자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기둥에 올 수 있는 조합은 모두 60가지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08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429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28700" y="2762250"/>
            <a:ext cx="1143000" cy="933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2190750" y="3067050"/>
            <a:ext cx="1752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천간의 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0750" y="3295650"/>
            <a:ext cx="1752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하늘의 글자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2000" y="3914775"/>
            <a:ext cx="3429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28700" y="4010025"/>
            <a:ext cx="1143000" cy="933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12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2190750" y="4314825"/>
            <a:ext cx="1752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지지의 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0750" y="4543425"/>
            <a:ext cx="1752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땅의 글자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2000" y="5162550"/>
            <a:ext cx="3429000" cy="1123950"/>
          </a:xfrm>
          <a:prstGeom prst="roundRect">
            <a:avLst>
              <a:gd name="adj" fmla="val 13559"/>
            </a:avLst>
          </a:prstGeom>
          <a:solidFill>
            <a:srgbClr val="0C0A09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28700" y="5257800"/>
            <a:ext cx="1143000" cy="933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A7E5D3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60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2190750" y="5543550"/>
            <a:ext cx="1752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기둥의 경우의 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0750" y="5772150"/>
            <a:ext cx="1752600" cy="361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10과 12의 최소공배수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19600" y="2667000"/>
            <a:ext cx="7010400" cy="3619500"/>
          </a:xfrm>
          <a:prstGeom prst="roundRect">
            <a:avLst>
              <a:gd name="adj" fmla="val 421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62500" y="2933700"/>
            <a:ext cx="6286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왜 60일까?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62500" y="3295650"/>
            <a:ext cx="63627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천간 10개와 지지 12개를 순서대로 하나씩 짝지어 나갑니다. </a:t>
            </a:r>
            <a:r>
              <a:rPr lang="en-US" sz="1400" b="1" dirty="0">
                <a:solidFill>
                  <a:srgbClr val="0C0A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갑자 → 을축 → 병인 …</a:t>
            </a: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이렇게 돌다 보면 처음 '갑자'로 되돌아오기까지 정확히 60번이 걸립니다.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62500" y="430530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62500" y="430530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갑자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5981700" y="430530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81700" y="430530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을축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200900" y="430530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200900" y="430530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병인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8420100" y="430530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20100" y="430530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정묘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9639300" y="430530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639300" y="430530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무진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4762500" y="485775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62500" y="485775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기사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5981700" y="485775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981700" y="485775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경오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7200900" y="485775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200900" y="485775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신미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8420100" y="485775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20100" y="485775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임신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9639300" y="4857750"/>
            <a:ext cx="11239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639300" y="4857750"/>
            <a:ext cx="11239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92524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계유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4762500" y="5848350"/>
            <a:ext cx="6286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… 계속 이어져 60번째 '계해'까지, 다시 갑자로 순환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1143000"/>
            <a:ext cx="4953000" cy="4953000"/>
          </a:xfrm>
          <a:prstGeom prst="ellipse">
            <a:avLst/>
          </a:prstGeom>
          <a:solidFill>
            <a:srgbClr val="A8C8E8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십간과 십이지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TEN STEMS &amp; TWELVE BRANCHES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7239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여덟 글자는 결국 두 묶음에서 나옵니다. 하늘의 열 글자 '십간'과 땅의 열두 글자 '십이지'. 먼저 전체를 한눈에 훑어봅니다.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09 / 43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0250" y="2857500"/>
            <a:ext cx="3429000" cy="34290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 · 십간과 십이지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10천간 한눈에 보기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글자 = 다섯 오행 × 음양(陽·陰) 두 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10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190750" y="2838450"/>
            <a:ext cx="381000" cy="3810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90750" y="28384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1550" y="28956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갑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71550" y="38100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목(木) · 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14650" y="26670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343400" y="2838450"/>
            <a:ext cx="381000" cy="3810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43400" y="28384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24200" y="28956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을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3124200" y="38100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목(木) · 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67300" y="26670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96050" y="2838450"/>
            <a:ext cx="381000" cy="3810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96050" y="28384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6850" y="28956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병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5276850" y="38100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화(火) · 陽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19950" y="26670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48700" y="2838450"/>
            <a:ext cx="381000" cy="3810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48700" y="28384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29500" y="28956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정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7429500" y="38100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화(火) · 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372600" y="26670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1350" y="2838450"/>
            <a:ext cx="381000" cy="381000"/>
          </a:xfrm>
          <a:prstGeom prst="ellipse">
            <a:avLst/>
          </a:prstGeom>
          <a:solidFill>
            <a:srgbClr val="E8B8C4">
              <a:alpha val="8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801350" y="28384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82150" y="28956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무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9582150" y="38100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토(土) · 陽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2000" y="44958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190750" y="4667250"/>
            <a:ext cx="381000" cy="381000"/>
          </a:xfrm>
          <a:prstGeom prst="ellipse">
            <a:avLst/>
          </a:prstGeom>
          <a:solidFill>
            <a:srgbClr val="E8B8C4">
              <a:alpha val="80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190750" y="46672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己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1550" y="47244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기</a:t>
            </a:r>
            <a:endParaRPr lang="en-US" sz="5200" dirty="0"/>
          </a:p>
        </p:txBody>
      </p:sp>
      <p:sp>
        <p:nvSpPr>
          <p:cNvPr id="40" name="Text 38"/>
          <p:cNvSpPr/>
          <p:nvPr/>
        </p:nvSpPr>
        <p:spPr>
          <a:xfrm>
            <a:off x="971550" y="56388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토(土) · 陰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914650" y="44958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343400" y="4667250"/>
            <a:ext cx="381000" cy="3810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343400" y="46672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庚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124200" y="47244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경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3124200" y="56388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금(金) · 陽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067300" y="44958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496050" y="4667250"/>
            <a:ext cx="381000" cy="3810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96050" y="46672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辛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276850" y="47244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</a:t>
            </a:r>
            <a:endParaRPr lang="en-US" sz="5200" dirty="0"/>
          </a:p>
        </p:txBody>
      </p:sp>
      <p:sp>
        <p:nvSpPr>
          <p:cNvPr id="50" name="Text 48"/>
          <p:cNvSpPr/>
          <p:nvPr/>
        </p:nvSpPr>
        <p:spPr>
          <a:xfrm>
            <a:off x="5276850" y="56388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금(金) · 陰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219950" y="44958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8648700" y="4667250"/>
            <a:ext cx="381000" cy="3810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648700" y="46672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壬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29500" y="47244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임</a:t>
            </a:r>
            <a:endParaRPr lang="en-US" sz="5200" dirty="0"/>
          </a:p>
        </p:txBody>
      </p:sp>
      <p:sp>
        <p:nvSpPr>
          <p:cNvPr id="55" name="Text 53"/>
          <p:cNvSpPr/>
          <p:nvPr/>
        </p:nvSpPr>
        <p:spPr>
          <a:xfrm>
            <a:off x="7429500" y="56388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수(水) · 陽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372600" y="4495800"/>
            <a:ext cx="19812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0801350" y="4667250"/>
            <a:ext cx="381000" cy="3810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0801350" y="46672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癸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582150" y="4724400"/>
            <a:ext cx="114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계</a:t>
            </a:r>
            <a:endParaRPr lang="en-US" sz="5200" dirty="0"/>
          </a:p>
        </p:txBody>
      </p:sp>
      <p:sp>
        <p:nvSpPr>
          <p:cNvPr id="60" name="Text 58"/>
          <p:cNvSpPr/>
          <p:nvPr/>
        </p:nvSpPr>
        <p:spPr>
          <a:xfrm>
            <a:off x="9582150" y="5638800"/>
            <a:ext cx="1524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수(水) · 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3810000"/>
            <a:ext cx="4000500" cy="4000500"/>
          </a:xfrm>
          <a:prstGeom prst="ellipse">
            <a:avLst/>
          </a:prstGeom>
          <a:solidFill>
            <a:srgbClr val="E8B8C4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 · 십간과 십이지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12지지 한눈에 보기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열두 글자 = 익숙한 열두 띠 동물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11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4795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62000" y="264795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A8C8E8">
              <a:alpha val="65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2000" y="2933700"/>
            <a:ext cx="1676400" cy="152400"/>
          </a:xfrm>
          <a:prstGeom prst="rect">
            <a:avLst/>
          </a:prstGeom>
          <a:solidFill>
            <a:srgbClr val="A8C8E8">
              <a:alpha val="65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2000" y="264795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수(水)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314325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자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62000" y="377190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400050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62225" y="264795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562225" y="264795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E8B8C4">
              <a:alpha val="65000"/>
            </a:srgbClr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562225" y="2933700"/>
            <a:ext cx="1676400" cy="152400"/>
          </a:xfrm>
          <a:prstGeom prst="rect">
            <a:avLst/>
          </a:prstGeom>
          <a:solidFill>
            <a:srgbClr val="E8B8C4">
              <a:alpha val="65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62225" y="264795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토(土)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2225" y="314325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축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2562225" y="377190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2225" y="400050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62450" y="264795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362450" y="264795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A7E5D3">
              <a:alpha val="65000"/>
            </a:srgbClr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62450" y="2933700"/>
            <a:ext cx="1676400" cy="152400"/>
          </a:xfrm>
          <a:prstGeom prst="rect">
            <a:avLst/>
          </a:prstGeom>
          <a:solidFill>
            <a:srgbClr val="A7E5D3">
              <a:alpha val="65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362450" y="264795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목(木)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62450" y="314325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인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362450" y="377190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62450" y="400050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호랑이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62675" y="264795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62675" y="264795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A7E5D3">
              <a:alpha val="65000"/>
            </a:srgbClr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162675" y="2933700"/>
            <a:ext cx="1676400" cy="152400"/>
          </a:xfrm>
          <a:prstGeom prst="rect">
            <a:avLst/>
          </a:prstGeom>
          <a:solidFill>
            <a:srgbClr val="A7E5D3">
              <a:alpha val="65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62675" y="264795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목(木)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62675" y="314325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묘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6162675" y="377190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卯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62675" y="400050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토끼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962900" y="264795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962900" y="264795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E8B8C4">
              <a:alpha val="65000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962900" y="2933700"/>
            <a:ext cx="1676400" cy="152400"/>
          </a:xfrm>
          <a:prstGeom prst="rect">
            <a:avLst/>
          </a:prstGeom>
          <a:solidFill>
            <a:srgbClr val="E8B8C4">
              <a:alpha val="65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962900" y="264795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토(土)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962900" y="314325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진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7962900" y="377190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962900" y="400050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763125" y="264795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763125" y="264795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F4C5A8">
              <a:alpha val="65000"/>
            </a:srgbClr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763125" y="2933700"/>
            <a:ext cx="1676400" cy="152400"/>
          </a:xfrm>
          <a:prstGeom prst="rect">
            <a:avLst/>
          </a:prstGeom>
          <a:solidFill>
            <a:srgbClr val="F4C5A8">
              <a:alpha val="65000"/>
            </a:srgbClr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763125" y="264795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화(火)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63125" y="314325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사</a:t>
            </a:r>
            <a:endParaRPr lang="en-US" sz="4400" dirty="0"/>
          </a:p>
        </p:txBody>
      </p:sp>
      <p:sp>
        <p:nvSpPr>
          <p:cNvPr id="51" name="Text 49"/>
          <p:cNvSpPr/>
          <p:nvPr/>
        </p:nvSpPr>
        <p:spPr>
          <a:xfrm>
            <a:off x="9763125" y="377190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巳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763125" y="400050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뱀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62000" y="449580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62000" y="449580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F4C5A8">
              <a:alpha val="65000"/>
            </a:srgbClr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62000" y="4781550"/>
            <a:ext cx="1676400" cy="152400"/>
          </a:xfrm>
          <a:prstGeom prst="rect">
            <a:avLst/>
          </a:prstGeom>
          <a:solidFill>
            <a:srgbClr val="F4C5A8">
              <a:alpha val="65000"/>
            </a:srgbClr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62000" y="449580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화(火)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62000" y="499110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오</a:t>
            </a:r>
            <a:endParaRPr lang="en-US" sz="4400" dirty="0"/>
          </a:p>
        </p:txBody>
      </p:sp>
      <p:sp>
        <p:nvSpPr>
          <p:cNvPr id="58" name="Text 56"/>
          <p:cNvSpPr/>
          <p:nvPr/>
        </p:nvSpPr>
        <p:spPr>
          <a:xfrm>
            <a:off x="762000" y="561975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午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62000" y="584835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2562225" y="449580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2562225" y="449580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E8B8C4">
              <a:alpha val="65000"/>
            </a:srgbClr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2562225" y="4781550"/>
            <a:ext cx="1676400" cy="152400"/>
          </a:xfrm>
          <a:prstGeom prst="rect">
            <a:avLst/>
          </a:prstGeom>
          <a:solidFill>
            <a:srgbClr val="E8B8C4">
              <a:alpha val="65000"/>
            </a:srgbClr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562225" y="449580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토(土)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562225" y="499110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미</a:t>
            </a:r>
            <a:endParaRPr lang="en-US" sz="4400" dirty="0"/>
          </a:p>
        </p:txBody>
      </p:sp>
      <p:sp>
        <p:nvSpPr>
          <p:cNvPr id="65" name="Text 63"/>
          <p:cNvSpPr/>
          <p:nvPr/>
        </p:nvSpPr>
        <p:spPr>
          <a:xfrm>
            <a:off x="2562225" y="561975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未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562225" y="584835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4362450" y="449580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362450" y="449580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C8B8E0">
              <a:alpha val="65000"/>
            </a:srgbClr>
          </a:solidFill>
          <a:ln/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4362450" y="4781550"/>
            <a:ext cx="1676400" cy="152400"/>
          </a:xfrm>
          <a:prstGeom prst="rect">
            <a:avLst/>
          </a:prstGeom>
          <a:solidFill>
            <a:srgbClr val="C8B8E0">
              <a:alpha val="65000"/>
            </a:srgbClr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362450" y="449580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금(金)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362450" y="499110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</a:t>
            </a:r>
            <a:endParaRPr lang="en-US" sz="4400" dirty="0"/>
          </a:p>
        </p:txBody>
      </p:sp>
      <p:sp>
        <p:nvSpPr>
          <p:cNvPr id="72" name="Text 70"/>
          <p:cNvSpPr/>
          <p:nvPr/>
        </p:nvSpPr>
        <p:spPr>
          <a:xfrm>
            <a:off x="4362450" y="561975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申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362450" y="584835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원숭이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6162675" y="449580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6162675" y="449580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C8B8E0">
              <a:alpha val="65000"/>
            </a:srgbClr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6162675" y="4781550"/>
            <a:ext cx="1676400" cy="152400"/>
          </a:xfrm>
          <a:prstGeom prst="rect">
            <a:avLst/>
          </a:prstGeom>
          <a:solidFill>
            <a:srgbClr val="C8B8E0">
              <a:alpha val="65000"/>
            </a:srgbClr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162675" y="449580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금(金)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162675" y="499110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유</a:t>
            </a:r>
            <a:endParaRPr lang="en-US" sz="4400" dirty="0"/>
          </a:p>
        </p:txBody>
      </p:sp>
      <p:sp>
        <p:nvSpPr>
          <p:cNvPr id="79" name="Text 77"/>
          <p:cNvSpPr/>
          <p:nvPr/>
        </p:nvSpPr>
        <p:spPr>
          <a:xfrm>
            <a:off x="6162675" y="561975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酉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162675" y="584835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닭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7962900" y="449580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7962900" y="449580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E8B8C4">
              <a:alpha val="65000"/>
            </a:srgbClr>
          </a:solidFill>
          <a:ln/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7962900" y="4781550"/>
            <a:ext cx="1676400" cy="152400"/>
          </a:xfrm>
          <a:prstGeom prst="rect">
            <a:avLst/>
          </a:prstGeom>
          <a:solidFill>
            <a:srgbClr val="E8B8C4">
              <a:alpha val="65000"/>
            </a:srgbClr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7962900" y="449580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토(土)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7962900" y="499110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술</a:t>
            </a:r>
            <a:endParaRPr lang="en-US" sz="4400" dirty="0"/>
          </a:p>
        </p:txBody>
      </p:sp>
      <p:sp>
        <p:nvSpPr>
          <p:cNvPr id="86" name="Text 84"/>
          <p:cNvSpPr/>
          <p:nvPr/>
        </p:nvSpPr>
        <p:spPr>
          <a:xfrm>
            <a:off x="7962900" y="561975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戌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7962900" y="584835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</a:t>
            </a:r>
            <a:endParaRPr lang="en-US" sz="1250" dirty="0"/>
          </a:p>
        </p:txBody>
      </p:sp>
      <p:sp>
        <p:nvSpPr>
          <p:cNvPr id="88" name="Shape 86"/>
          <p:cNvSpPr/>
          <p:nvPr/>
        </p:nvSpPr>
        <p:spPr>
          <a:xfrm>
            <a:off x="9763125" y="4495800"/>
            <a:ext cx="1676400" cy="1714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763125" y="4495800"/>
            <a:ext cx="1676400" cy="438150"/>
          </a:xfrm>
          <a:prstGeom prst="roundRect">
            <a:avLst>
              <a:gd name="adj" fmla="val 34783"/>
            </a:avLst>
          </a:prstGeom>
          <a:solidFill>
            <a:srgbClr val="A8C8E8">
              <a:alpha val="65000"/>
            </a:srgbClr>
          </a:solidFill>
          <a:ln/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9763125" y="4781550"/>
            <a:ext cx="1676400" cy="152400"/>
          </a:xfrm>
          <a:prstGeom prst="rect">
            <a:avLst/>
          </a:prstGeom>
          <a:solidFill>
            <a:srgbClr val="A8C8E8">
              <a:alpha val="65000"/>
            </a:srgbClr>
          </a:solidFill>
          <a:ln/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9763125" y="4495800"/>
            <a:ext cx="1676400" cy="43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수(水)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9763125" y="4991100"/>
            <a:ext cx="167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해</a:t>
            </a:r>
            <a:endParaRPr lang="en-US" sz="4400" dirty="0"/>
          </a:p>
        </p:txBody>
      </p:sp>
      <p:sp>
        <p:nvSpPr>
          <p:cNvPr id="93" name="Text 91"/>
          <p:cNvSpPr/>
          <p:nvPr/>
        </p:nvSpPr>
        <p:spPr>
          <a:xfrm>
            <a:off x="9763125" y="5619750"/>
            <a:ext cx="167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亥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9763125" y="5848350"/>
            <a:ext cx="16764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돼지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1143000"/>
            <a:ext cx="4953000" cy="4953000"/>
          </a:xfrm>
          <a:prstGeom prst="ellipse">
            <a:avLst/>
          </a:prstGeom>
          <a:solidFill>
            <a:srgbClr val="F4C5A8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오행의 이해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THE FIVE ELEMENTS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7239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천간도 지지도 결국 다섯 개의 기운으로 수렴합니다. 목·화·토·금·수. 계절의 흐름이자 사람의 기질입니다.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12 / 43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오행의 이해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오행 — 다섯 기운의 순환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봄 → 여름 → 환절기 → 가을 → 겨울, 계절처럼 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13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857500"/>
            <a:ext cx="19050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333500" y="3105150"/>
            <a:ext cx="762000" cy="762000"/>
          </a:xfrm>
          <a:prstGeom prst="ellipse">
            <a:avLst/>
          </a:prstGeom>
          <a:solidFill>
            <a:srgbClr val="A7E5D3">
              <a:alpha val="85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33500" y="3105150"/>
            <a:ext cx="762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木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2000" y="3981450"/>
            <a:ext cx="190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목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62000" y="4381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46482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86050" y="3714750"/>
            <a:ext cx="266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952750" y="2857500"/>
            <a:ext cx="19050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24250" y="3105150"/>
            <a:ext cx="762000" cy="762000"/>
          </a:xfrm>
          <a:prstGeom prst="ellipse">
            <a:avLst/>
          </a:prstGeom>
          <a:solidFill>
            <a:srgbClr val="F4C5A8">
              <a:alpha val="85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24250" y="3105150"/>
            <a:ext cx="762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火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2952750" y="3981450"/>
            <a:ext cx="190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화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952750" y="4381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여름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52750" y="46482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76800" y="3714750"/>
            <a:ext cx="266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143500" y="2857500"/>
            <a:ext cx="19050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715000" y="3105150"/>
            <a:ext cx="762000" cy="762000"/>
          </a:xfrm>
          <a:prstGeom prst="ellipse">
            <a:avLst/>
          </a:prstGeom>
          <a:solidFill>
            <a:srgbClr val="E8B8C4">
              <a:alpha val="85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715000" y="3105150"/>
            <a:ext cx="762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土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143500" y="3981450"/>
            <a:ext cx="190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토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143500" y="4381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환절기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43500" y="46482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중재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67550" y="3714750"/>
            <a:ext cx="266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34250" y="2857500"/>
            <a:ext cx="19050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905750" y="3105150"/>
            <a:ext cx="762000" cy="762000"/>
          </a:xfrm>
          <a:prstGeom prst="ellipse">
            <a:avLst/>
          </a:prstGeom>
          <a:solidFill>
            <a:srgbClr val="C8B8E0">
              <a:alpha val="85000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905750" y="3105150"/>
            <a:ext cx="762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金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7334250" y="3981450"/>
            <a:ext cx="190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금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34250" y="4381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가을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34250" y="46482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258300" y="3714750"/>
            <a:ext cx="266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525000" y="2857500"/>
            <a:ext cx="19050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096500" y="3105150"/>
            <a:ext cx="762000" cy="762000"/>
          </a:xfrm>
          <a:prstGeom prst="ellipse">
            <a:avLst/>
          </a:prstGeom>
          <a:solidFill>
            <a:srgbClr val="A8C8E8">
              <a:alpha val="85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096500" y="3105150"/>
            <a:ext cx="762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水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525000" y="3981450"/>
            <a:ext cx="190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수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525000" y="4381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겨울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25000" y="46482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62000" y="5334000"/>
            <a:ext cx="10668000" cy="8763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066800" y="5334000"/>
            <a:ext cx="152400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핵심 개념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590800" y="5334000"/>
            <a:ext cx="857250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오행은 좋고 나쁨이 아니라 '기운의 단계'입니다. 씨앗이 돋고(목) 무성해지고(화) 중심을 잡고(토) 열매 맺고(금) 씨앗으로 저장되는(수) 자연의 사이클을 사람에게 대입한 것이죠.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7E5D3">
              <a:alpha val="2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오행의 이해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목(木) — 봄의 기운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시작의 기운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14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61950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28750" y="3067050"/>
            <a:ext cx="2286000" cy="2286000"/>
          </a:xfrm>
          <a:prstGeom prst="ellipse">
            <a:avLst/>
          </a:prstGeom>
          <a:solidFill>
            <a:srgbClr val="A7E5D3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28750" y="306705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木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762000" y="5715000"/>
            <a:ext cx="3619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목 · Wood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0100" y="2667000"/>
            <a:ext cx="6819900" cy="1638300"/>
          </a:xfrm>
          <a:prstGeom prst="roundRect">
            <a:avLst>
              <a:gd name="adj" fmla="val 9302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4900" y="2857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줄 이미지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4900" y="3086100"/>
            <a:ext cx="62103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차가운 땅을 뚫고 솟구치는 새싹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4900" y="3486150"/>
            <a:ext cx="62103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호기심 많고 겁 없는 어린아이, 아이디어만 가지고 바로 창업하는 스타트업 대표의 이미지.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01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38700" y="4686300"/>
            <a:ext cx="381000" cy="381000"/>
          </a:xfrm>
          <a:prstGeom prst="ellipse">
            <a:avLst/>
          </a:prstGeom>
          <a:solidFill>
            <a:srgbClr val="A7E5D3">
              <a:alpha val="75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387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387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대책은 없어도 추진력은 우주 최강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342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62800" y="4686300"/>
            <a:ext cx="381000" cy="381000"/>
          </a:xfrm>
          <a:prstGeom prst="ellipse">
            <a:avLst/>
          </a:prstGeom>
          <a:solidFill>
            <a:srgbClr val="A7E5D3">
              <a:alpha val="75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628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628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순수하고 뒤끝이 없음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583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486900" y="4686300"/>
            <a:ext cx="381000" cy="381000"/>
          </a:xfrm>
          <a:prstGeom prst="ellipse">
            <a:avLst/>
          </a:prstGeom>
          <a:solidFill>
            <a:srgbClr val="A7E5D3">
              <a:alpha val="75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4869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869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위로 뻗어 나가려는 상승·성장 욕구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F4C5A8">
              <a:alpha val="2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오행의 이해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화(火) — 여름의 기운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확산의 기운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15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61950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28750" y="3067050"/>
            <a:ext cx="2286000" cy="2286000"/>
          </a:xfrm>
          <a:prstGeom prst="ellipse">
            <a:avLst/>
          </a:prstGeom>
          <a:solidFill>
            <a:srgbClr val="F4C5A8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28750" y="306705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火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762000" y="5715000"/>
            <a:ext cx="3619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화 · Fire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0100" y="2667000"/>
            <a:ext cx="6819900" cy="1638300"/>
          </a:xfrm>
          <a:prstGeom prst="roundRect">
            <a:avLst>
              <a:gd name="adj" fmla="val 9302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4900" y="2857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줄 이미지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4900" y="3086100"/>
            <a:ext cx="62103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벌여놓은 일을 사방으로 키우는 열기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4900" y="3486150"/>
            <a:ext cx="62103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마케팅·홍보팀, 혈기왕성한 20대 청춘의 느낌.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01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38700" y="4686300"/>
            <a:ext cx="381000" cy="381000"/>
          </a:xfrm>
          <a:prstGeom prst="ellipse">
            <a:avLst/>
          </a:prstGeom>
          <a:solidFill>
            <a:srgbClr val="F4C5A8">
              <a:alpha val="75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387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387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감정이 솔직하고 에너지가 넘침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342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62800" y="4686300"/>
            <a:ext cx="381000" cy="381000"/>
          </a:xfrm>
          <a:prstGeom prst="ellipse">
            <a:avLst/>
          </a:prstGeom>
          <a:solidFill>
            <a:srgbClr val="F4C5A8">
              <a:alpha val="75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628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628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표현력이 좋고 관심받는 걸 좋아함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583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486900" y="4686300"/>
            <a:ext cx="381000" cy="381000"/>
          </a:xfrm>
          <a:prstGeom prst="ellipse">
            <a:avLst/>
          </a:prstGeom>
          <a:solidFill>
            <a:srgbClr val="F4C5A8">
              <a:alpha val="75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4869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869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욱하는 성질이 있으나 금방 풀림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E8B8C4">
              <a:alpha val="2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오행의 이해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토(土) — 환절기의 기운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중재의 기운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16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61950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28750" y="3067050"/>
            <a:ext cx="2286000" cy="2286000"/>
          </a:xfrm>
          <a:prstGeom prst="ellipse">
            <a:avLst/>
          </a:prstGeom>
          <a:solidFill>
            <a:srgbClr val="E8B8C4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28750" y="306705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土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762000" y="5715000"/>
            <a:ext cx="3619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토 · Earth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0100" y="2667000"/>
            <a:ext cx="6819900" cy="1638300"/>
          </a:xfrm>
          <a:prstGeom prst="roundRect">
            <a:avLst>
              <a:gd name="adj" fmla="val 9302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4900" y="2857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줄 이미지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4900" y="3086100"/>
            <a:ext cx="62103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극단을 잡아주고 중심을 세우는 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4900" y="3486150"/>
            <a:ext cx="62103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회사의 갈등을 중재하는 3~40대 총무팀장의 느낌.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01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38700" y="4686300"/>
            <a:ext cx="381000" cy="381000"/>
          </a:xfrm>
          <a:prstGeom prst="ellipse">
            <a:avLst/>
          </a:prstGeom>
          <a:solidFill>
            <a:srgbClr val="E8B8C4">
              <a:alpha val="75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387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387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묵직하고 입이 무거움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342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62800" y="4686300"/>
            <a:ext cx="381000" cy="381000"/>
          </a:xfrm>
          <a:prstGeom prst="ellipse">
            <a:avLst/>
          </a:prstGeom>
          <a:solidFill>
            <a:srgbClr val="E8B8C4">
              <a:alpha val="75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628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628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넓은 오지랖과 포용력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583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486900" y="4686300"/>
            <a:ext cx="381000" cy="381000"/>
          </a:xfrm>
          <a:prstGeom prst="ellipse">
            <a:avLst/>
          </a:prstGeom>
          <a:solidFill>
            <a:srgbClr val="E8B8C4">
              <a:alpha val="75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4869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869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신중하나 고집이 매우 셈, 잘 안 움직임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C8B8E0">
              <a:alpha val="2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오행의 이해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금(金) — 가을의 기운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결실의 기운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17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61950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28750" y="3067050"/>
            <a:ext cx="2286000" cy="2286000"/>
          </a:xfrm>
          <a:prstGeom prst="ellipse">
            <a:avLst/>
          </a:prstGeom>
          <a:solidFill>
            <a:srgbClr val="C8B8E0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28750" y="306705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金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762000" y="5715000"/>
            <a:ext cx="3619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금 · Metal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0100" y="2667000"/>
            <a:ext cx="6819900" cy="1638300"/>
          </a:xfrm>
          <a:prstGeom prst="roundRect">
            <a:avLst>
              <a:gd name="adj" fmla="val 9302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4900" y="2857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줄 이미지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4900" y="3086100"/>
            <a:ext cx="62103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거품을 걷어내고 열매만 남기는 숙살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4900" y="3486150"/>
            <a:ext cx="62103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추수기의 50대 베테랑, 비리를 털어내는 감사팀장의 느낌.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01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38700" y="4686300"/>
            <a:ext cx="381000" cy="381000"/>
          </a:xfrm>
          <a:prstGeom prst="ellipse">
            <a:avLst/>
          </a:prstGeom>
          <a:solidFill>
            <a:srgbClr val="C8B8E0">
              <a:alpha val="75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387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387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시시비비를 잘 가려냄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342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62800" y="4686300"/>
            <a:ext cx="381000" cy="381000"/>
          </a:xfrm>
          <a:prstGeom prst="ellipse">
            <a:avLst/>
          </a:prstGeom>
          <a:solidFill>
            <a:srgbClr val="C8B8E0">
              <a:alpha val="75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628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628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결단력이 끝내줌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583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486900" y="4686300"/>
            <a:ext cx="381000" cy="381000"/>
          </a:xfrm>
          <a:prstGeom prst="ellipse">
            <a:avLst/>
          </a:prstGeom>
          <a:solidFill>
            <a:srgbClr val="C8B8E0">
              <a:alpha val="75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4869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869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차갑고 칼날 같으며 정이 없는 편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8C8E8">
              <a:alpha val="2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오행의 이해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수(水) — 겨울의 기운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저장의 기운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18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61950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28750" y="3067050"/>
            <a:ext cx="2286000" cy="2286000"/>
          </a:xfrm>
          <a:prstGeom prst="ellipse">
            <a:avLst/>
          </a:prstGeom>
          <a:solidFill>
            <a:srgbClr val="A8C8E8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28750" y="306705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水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762000" y="5715000"/>
            <a:ext cx="3619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 · Water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0100" y="2667000"/>
            <a:ext cx="6819900" cy="1638300"/>
          </a:xfrm>
          <a:prstGeom prst="roundRect">
            <a:avLst>
              <a:gd name="adj" fmla="val 9302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4900" y="2857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줄 이미지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4900" y="3086100"/>
            <a:ext cx="62103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모든 과정을 다 거친 노인의 깊이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4900" y="3486150"/>
            <a:ext cx="62103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고문의 느낌, 응축과 저장의 기운.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01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38700" y="4686300"/>
            <a:ext cx="381000" cy="381000"/>
          </a:xfrm>
          <a:prstGeom prst="ellipse">
            <a:avLst/>
          </a:prstGeom>
          <a:solidFill>
            <a:srgbClr val="A8C8E8">
              <a:alpha val="75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387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387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적응력과 유연성이 만렙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342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62800" y="4686300"/>
            <a:ext cx="381000" cy="381000"/>
          </a:xfrm>
          <a:prstGeom prst="ellipse">
            <a:avLst/>
          </a:prstGeom>
          <a:solidFill>
            <a:srgbClr val="A8C8E8">
              <a:alpha val="75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628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628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생각이 깊어 지혜로움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58300" y="4457700"/>
            <a:ext cx="21717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486900" y="4686300"/>
            <a:ext cx="381000" cy="381000"/>
          </a:xfrm>
          <a:prstGeom prst="ellipse">
            <a:avLst/>
          </a:prstGeom>
          <a:solidFill>
            <a:srgbClr val="A8C8E8">
              <a:alpha val="75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486900" y="46863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86900" y="5200650"/>
            <a:ext cx="1714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속을 잘 안 보여 비밀이 많음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0250" y="2857500"/>
            <a:ext cx="3238500" cy="32385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오행의 이해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오행 5가지 종합 비교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계절 · 이미지 · 키워드를 한 표로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19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86050"/>
            <a:ext cx="1428750" cy="419100"/>
          </a:xfrm>
          <a:prstGeom prst="rect">
            <a:avLst/>
          </a:prstGeom>
          <a:solidFill>
            <a:srgbClr val="0C0A0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2000" y="26860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0750" y="2686050"/>
            <a:ext cx="1143000" cy="419100"/>
          </a:xfrm>
          <a:prstGeom prst="rect">
            <a:avLst/>
          </a:prstGeom>
          <a:solidFill>
            <a:srgbClr val="0C0A0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90750" y="2686050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계절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3750" y="2686050"/>
            <a:ext cx="5143500" cy="419100"/>
          </a:xfrm>
          <a:prstGeom prst="rect">
            <a:avLst/>
          </a:prstGeom>
          <a:solidFill>
            <a:srgbClr val="0C0A0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33750" y="2686050"/>
            <a:ext cx="5143500" cy="4191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사람 이미지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77250" y="2686050"/>
            <a:ext cx="2952750" cy="419100"/>
          </a:xfrm>
          <a:prstGeom prst="rect">
            <a:avLst/>
          </a:prstGeom>
          <a:solidFill>
            <a:srgbClr val="0C0A0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77250" y="2686050"/>
            <a:ext cx="2952750" cy="4191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핵심 키워드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2000" y="310515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285875" y="3257550"/>
            <a:ext cx="304800" cy="3048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62000" y="3105150"/>
            <a:ext cx="14287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목 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190750" y="3105150"/>
            <a:ext cx="114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67100" y="3105150"/>
            <a:ext cx="495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겁 없는 어린아이 · 스타트업 대표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10600" y="3105150"/>
            <a:ext cx="27622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시작 · 추진 · 순수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2000" y="3714750"/>
            <a:ext cx="10668000" cy="609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285875" y="3867150"/>
            <a:ext cx="304800" cy="3048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2000" y="3714750"/>
            <a:ext cx="14287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화 火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90750" y="3714750"/>
            <a:ext cx="114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67100" y="3714750"/>
            <a:ext cx="495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혈기왕성한 20대 · 마케팅팀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10600" y="3714750"/>
            <a:ext cx="27622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확산 · 표현 · 열정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2000" y="432435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285875" y="4476750"/>
            <a:ext cx="304800" cy="304800"/>
          </a:xfrm>
          <a:prstGeom prst="ellipse">
            <a:avLst/>
          </a:prstGeom>
          <a:solidFill>
            <a:srgbClr val="E8B8C4">
              <a:alpha val="8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62000" y="4324350"/>
            <a:ext cx="14287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토 土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190750" y="4324350"/>
            <a:ext cx="114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환절기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67100" y="4324350"/>
            <a:ext cx="495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중재하는 총무팀장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10600" y="4324350"/>
            <a:ext cx="27622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중심 · 포용 · 고집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2000" y="4933950"/>
            <a:ext cx="10668000" cy="609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285875" y="5086350"/>
            <a:ext cx="304800" cy="3048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62000" y="4933950"/>
            <a:ext cx="14287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금 金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190750" y="4933950"/>
            <a:ext cx="114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467100" y="4933950"/>
            <a:ext cx="495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베테랑 감사팀장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10600" y="4933950"/>
            <a:ext cx="27622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결단 · 정리 · 냉철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2000" y="554355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285875" y="5695950"/>
            <a:ext cx="304800" cy="3048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62000" y="5543550"/>
            <a:ext cx="14287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수 水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2190750" y="5543550"/>
            <a:ext cx="114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겨울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67100" y="5543550"/>
            <a:ext cx="4953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지혜로운 회사 고문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10600" y="5543550"/>
            <a:ext cx="276225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저장 · 유연 · 비밀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1143000"/>
            <a:ext cx="4953000" cy="4953000"/>
          </a:xfrm>
          <a:prstGeom prst="ellipse">
            <a:avLst/>
          </a:prstGeom>
          <a:solidFill>
            <a:srgbClr val="C8B8E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10천간의 캐릭터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CHARACTERS OF TEN 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7239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오행이라도 양(陽)과 음(陰)에 따라 성격이 갈립니다. 갑목의 큰 나무와 을목의 넝쿨처럼. 열 개의 뚜렷한 캐릭터를 만나봅니다.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20 / 43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7E5D3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10천간의 캐릭터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목(木)의 두 천간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양(陽) 갑木 · 음(陰) 을木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21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甲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陽 · 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갑木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큰 나무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"내가 대장이야~"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명예욕과 자존심이 매우 강함. 리드하는 걸 좋아하고, 실패해도 다시 일어서는 고집과 대장부 기질.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乙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陰 · 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을木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넝쿨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"잡초 같은 생명력 + 적응력"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겉은 부드러워 보이나 속은 독종. 부러지지 않고 휘어지며 끝까지 살아남아 실속을 챙기는 영리함.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F4C5A8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10천간의 캐릭터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화(火)의 두 천간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양(陽) 병火 · 음(陰) 정火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22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F4C5A8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丙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陽 · 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병火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태양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"숨김없이 드러낸다~"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감정과 속마음이 투명하게 보임. 비밀을 못 지키고 뒤끝도 없으며, 화가 나도 5분 뒤 잊는 단순함.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F4C5A8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丁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陰 · 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정火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촛불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"겉은 따뜻하나 속은 예리"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겉은 조용·따뜻하나 속은 집착과 폭발력. 분석을 잘하고 예의를 중시하며 세심한 기억력의 서늘함.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E8B8C4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10천간의 캐릭터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토(土)의 두 천간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양(陽) 무土 · 음(陰) 기土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23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E8B8C4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戊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陽 · 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무土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거대한 산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"포커페이스 끝판왕"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웬만한 일엔 끄떡없는 무던함과 뚝심. 남의 고민은 잘 들어줘도 자기 속이야기는 안 하고 고집이 셈.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E8B8C4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己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陰 · 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기土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텃밭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"어머니 같은 꼼꼼함"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다정다감, 사람 잘 챙기는 현실주의자. 치밀하고 계산이 빠르며 실속을 귀신같이 챙김.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C8B8E0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10천간의 캐릭터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금(金)의 두 천간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양(陽) 경金 · 음(陰) 신金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24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C8B8E0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庚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陽 · 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경金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거대한 바위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"의리 빼면 시체"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묵직하고 단단. 내 편이면 영혼도 퍼주지만 아니면 칼같이 잘라냄. 결단력과 맷집이 매우 강함.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C8B8E0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辛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陰 · 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신金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보석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"정밀하고 세밀한 레이저"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예민·깔끔·똑똑함. 미적 감각이 뛰어나고, 상대의 아픈 곳을 정확히 짚는 팩폭의 대가.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8C8E8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10천간의 캐릭터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수(水)의 두 천간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양(陽) 임水 · 음(陰) 계水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25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A8C8E8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壬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陽 · 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임水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바다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"모든 것을 받아들이는"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생각이 넓고 스케일이 큼. 겉은 유해 보이나 거대한 해일. 정보 수집력이 좋고 구속을 매우 싫어함.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A8C8E8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癸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陰 · 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계水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계곡 · 시냇물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"잔머리 만렙"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눈치와 센스가 가장 빠르고 영리. 다정·유연해 보이나 뒤에서 판을 짜고 사람을 움직이는 내막.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1143000"/>
            <a:ext cx="4953000" cy="4953000"/>
          </a:xfrm>
          <a:prstGeom prst="ellipse">
            <a:avLst/>
          </a:prstGeom>
          <a:solidFill>
            <a:srgbClr val="A7E5D3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12지지의 계절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TWELVE BRANCHES BY SEASON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7239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십이지는 천간의 생각이 현실에서 드러나는 열두 동물입니다. 계절의 흐름 — 봄·여름·가을·겨울로 묶어 셋씩 읽으면 쉽습니다.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26 / 43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7E5D3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 · 12지지의 계절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🌱 봄의 기운 — 인·묘·진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목(木)의 계절 · 태동과 설계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27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81200" y="2952750"/>
            <a:ext cx="990600" cy="990600"/>
          </a:xfrm>
          <a:prstGeom prst="ellipse">
            <a:avLst/>
          </a:prstGeom>
          <a:solidFill>
            <a:srgbClr val="A7E5D3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9812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寅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620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인 · 호랑이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7145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7145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새벽의 시작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30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어둠을 뚫고 솟는 기운처럼 두려움 없이 판을 짜고 뛰어드는 기획·개척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815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00700" y="2952750"/>
            <a:ext cx="990600" cy="990600"/>
          </a:xfrm>
          <a:prstGeom prst="ellipse">
            <a:avLst/>
          </a:prstGeom>
          <a:solidFill>
            <a:srgbClr val="A7E5D3">
              <a:alpha val="82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007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卯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3815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묘 · 토끼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3340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340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완연한 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625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672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새싹이 사방으로 뻗듯 자기 영역을 확장하고 꾸미는 생기·호기심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010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220200" y="2952750"/>
            <a:ext cx="990600" cy="990600"/>
          </a:xfrm>
          <a:prstGeom prst="ellipse">
            <a:avLst/>
          </a:prstGeom>
          <a:solidFill>
            <a:srgbClr val="A7E5D3">
              <a:alpha val="82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2202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辰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0010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진 · 용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9535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9535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봄을 맺는 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820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867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이상향을 꿈꾸며 봄의 에너지를 종합해 다음으로 넘기는 종합·스케일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F4C5A8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 · 12지지의 계절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☀️ 여름의 기운 — 사·오·미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화(火)의 계절 · 발산과 확장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28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81200" y="2952750"/>
            <a:ext cx="990600" cy="990600"/>
          </a:xfrm>
          <a:prstGeom prst="ellipse">
            <a:avLst/>
          </a:prstGeom>
          <a:solidFill>
            <a:srgbClr val="F4C5A8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9812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巳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620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사 · 뱀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7145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7145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초여름의 열기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30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빛이 사방으로 퍼지듯 활동 범위를 넓히고 정보를 전달하는 역동성·방송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815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00700" y="2952750"/>
            <a:ext cx="990600" cy="990600"/>
          </a:xfrm>
          <a:prstGeom prst="ellipse">
            <a:avLst/>
          </a:prstGeom>
          <a:solidFill>
            <a:srgbClr val="F4C5A8">
              <a:alpha val="82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007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午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3815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오 · 말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3340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340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한여름의 태양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625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672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정점의 에너지처럼 숨김없이 화려하게 자신을 불태우는 열정·시선집중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010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220200" y="2952750"/>
            <a:ext cx="990600" cy="990600"/>
          </a:xfrm>
          <a:prstGeom prst="ellipse">
            <a:avLst/>
          </a:prstGeom>
          <a:solidFill>
            <a:srgbClr val="F4C5A8">
              <a:alpha val="82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2202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未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0010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미 · 양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9535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9535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여름을 맺는 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820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867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뜨거운 열기를 거두어 알맹이를 단단히 굳히는 절제·성숙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C8B8E0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 · 12지지의 계절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🍁 가을의 기운 — 신·유·술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금(金)의 계절 · 결실과 정리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29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81200" y="2952750"/>
            <a:ext cx="990600" cy="990600"/>
          </a:xfrm>
          <a:prstGeom prst="ellipse">
            <a:avLst/>
          </a:prstGeom>
          <a:solidFill>
            <a:srgbClr val="C8B8E0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9812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申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620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 · 원숭이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7145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7145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초가을의 결실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30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다재다능한 원숭이처럼 숙련된 기술로 결과물을 만드는 재주·실속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815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00700" y="2952750"/>
            <a:ext cx="990600" cy="990600"/>
          </a:xfrm>
          <a:prstGeom prst="ellipse">
            <a:avLst/>
          </a:prstGeom>
          <a:solidFill>
            <a:srgbClr val="C8B8E0">
              <a:alpha val="82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007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酉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3815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유 · 닭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3340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340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완벽한 보석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625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672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불순물을 완전히 제거한 맑은 결정체 같은 전문성·예리함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010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220200" y="2952750"/>
            <a:ext cx="990600" cy="990600"/>
          </a:xfrm>
          <a:prstGeom prst="ellipse">
            <a:avLst/>
          </a:prstGeom>
          <a:solidFill>
            <a:srgbClr val="C8B8E0">
              <a:alpha val="82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2202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戌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0010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술 · 개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9535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9535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가을을 맺는 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820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867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겨울을 준비하며 소중한 것을 창고에 넣고 지키는 저장·방어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8C8E8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 · 12지지의 계절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❄️ 겨울의 기운 — 해·자·축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수(水)의 계절 · 응축과 준비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30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81200" y="2952750"/>
            <a:ext cx="990600" cy="990600"/>
          </a:xfrm>
          <a:prstGeom prst="ellipse">
            <a:avLst/>
          </a:prstGeom>
          <a:solidFill>
            <a:srgbClr val="A8C8E8">
              <a:alpha val="82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9812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亥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620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해 · 돼지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7145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7145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초겨울의 시작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30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생명을 품은 밤의 바다처럼 스케일 크고 내면이 넓은 포용·해외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815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00700" y="2952750"/>
            <a:ext cx="990600" cy="990600"/>
          </a:xfrm>
          <a:prstGeom prst="ellipse">
            <a:avLst/>
          </a:prstGeom>
          <a:solidFill>
            <a:srgbClr val="A8C8E8">
              <a:alpha val="82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007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子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3815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자 · 쥐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3340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340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한겨울의 응축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625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672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씨앗 속 유전자처럼 작지만 모든 정보가 압축된 본질·지혜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01000" y="2667000"/>
            <a:ext cx="3429000" cy="3543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220200" y="2952750"/>
            <a:ext cx="990600" cy="990600"/>
          </a:xfrm>
          <a:prstGeom prst="ellipse">
            <a:avLst/>
          </a:prstGeom>
          <a:solidFill>
            <a:srgbClr val="A8C8E8">
              <a:alpha val="82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220200" y="2952750"/>
            <a:ext cx="990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丑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001000" y="407670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축 · 소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953500" y="44577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953500" y="44577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겨울을 맺는 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82000" y="4933950"/>
            <a:ext cx="2667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86750" y="5067300"/>
            <a:ext cx="28575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얼어붙은 땅속에서 봄싹을 위해 묵묵히 견디는 인내·준비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1143000"/>
            <a:ext cx="4953000" cy="4953000"/>
          </a:xfrm>
          <a:prstGeom prst="ellipse">
            <a:avLst/>
          </a:prstGeom>
          <a:solidFill>
            <a:srgbClr val="A7E5D3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십신(十神)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THE TEN GODS · 사주 리딩의 핵심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7239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십신은 내 사주의 주인공 '일간(日干)'과 다른 글자들의 관계를 열 가지로 분류한 것입니다. 인간관계·사회적 성향·직업운을 읽을 때 가장 많이 쓰는 핵심 도구입니다.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31 / 43</a:t>
            </a:r>
            <a:endParaRPr lang="en-US" sz="11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00" y="3429000"/>
            <a:ext cx="4000500" cy="4000500"/>
          </a:xfrm>
          <a:prstGeom prst="ellipse">
            <a:avLst/>
          </a:prstGeom>
          <a:solidFill>
            <a:srgbClr val="A8C8E8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십신이란? 일간과 맺는 관계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다섯 가지 관계가 음양에 따라 둘로 갈려, 열 가지 신(神)이 됩니다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32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571750"/>
            <a:ext cx="10668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71550" y="2571750"/>
            <a:ext cx="66675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比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05000" y="2695575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비겁 (비견·겁재)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0" y="2571750"/>
            <a:ext cx="5143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나와 오행이 같음 — 동료이자 경쟁자 · 주체성과 승부욕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2000" y="3314700"/>
            <a:ext cx="10668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71550" y="3314700"/>
            <a:ext cx="74295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食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05000" y="3438525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식상 (식신·상관)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96000" y="3314700"/>
            <a:ext cx="5143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생(生)하는 오행 — 표출하는 재능 · 말과 글, 먹을 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2000" y="4057650"/>
            <a:ext cx="10668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71550" y="4057650"/>
            <a:ext cx="74295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財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905000" y="4181475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재성 (편재·정재)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096000" y="4057650"/>
            <a:ext cx="5143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극(剋)하는 오행 — 노력해서 쟁취하는 결과물과 재물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2000" y="4800600"/>
            <a:ext cx="10668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1550" y="4800600"/>
            <a:ext cx="74295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官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905000" y="4924425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관성 (편관·정관)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096000" y="4800600"/>
            <a:ext cx="5143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나를 극(剋)하는 오행 — 나를 통제하는 규칙과 조직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2000" y="5543550"/>
            <a:ext cx="10668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71550" y="5543550"/>
            <a:ext cx="93345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A29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印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905000" y="5667375"/>
            <a:ext cx="4000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인성 (편인·정인)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096000" y="5543550"/>
            <a:ext cx="5143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나를 생(生)하는 오행 — 나를 채워주는 수용성과 학문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7E5D3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비겁(比劫) — 나의 동료이자 경쟁자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오행이 나와 같음 · 비견(음양 같음) vs 겁재(음양 다름)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33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比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같음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비견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比肩 · 주체성 · 독립심 · 뚝심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"어깨 나란히 하는 내 편이 많다"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남의 말보다 내 뚝심과 주관으로 움직이는 스타일. 동료와의 의리가 좋고 평등한 관계를 중시하지만, 많으면 고집이 세집니다.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劫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다름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겁재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劫財 · 경쟁심 · 투지 · 야망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"나보다 센 라이벌이 많다"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지는 걸 죽기보다 싫어하는 승부욕. 동기가 먼저 승진하면 이 악물고 밤새는 스타일 — 재물을 빼앗기거나 빼앗아 오는 기운.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7E5D3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식상(食傷) — 내가 표출하는 재능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생(生)해주는 오행 · 식신(음양 같음) vs 상관(음양 다름)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34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食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같음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식신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食神 · 연구심 · 전문성 · 먹을 복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"내가 좋아하는 것만 깊게 판다"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장인정신의 한 우물 스타일. 내 의식주와 행복이 중요하고, 남모르게 꾸준히 오래 갑니다. 말과 글, 먹을 복(衣食)의 별.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傷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다름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상관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傷官 · 천재성 · 표현력 · 개혁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"부조리한 꼴은 못 본다"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머리와 천재적 말재주·비판력. 기존 틀을 깨는 개혁 성향에 오지랖도 넓음 — 관(官)을 상하게 하는 별이라 말조심이 평생 과제.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7E5D3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재성(財星) — 내가 쟁취하는 재물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극(剋)하는 오행 · 편재(음양 같음) vs 정재(음양 다름)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35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偏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같음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편재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偏財 · 큰돈 · 유통 · 사업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"푼돈엔 관심 없다, 큰 한 방"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돌고 도는 유통의 돈. 주식·부동산을 크고 넓게 보는 영업본부장 스타일 — 풍류와 노는 것도 좋아합니다. 남자에겐 애인의 별.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正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다름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정재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正財 · 고정 수입 · 알뜰 · 성실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"월급 찍히는 맛에 산다"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밥그릇을 지키는 꼼꼼함. 안전이 최고, 저축이 중요한 FM 재무팀장 스타일. 치밀한 계획성과 안정성 — 남자에겐 아내의 별.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7E5D3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관성(官星) — 나를 통제하는 조직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나를 극(剋)하는 오행 · 편관(음양 같음) vs 정관(음양 다름)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36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偏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같음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편관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偏官 · 카리스마 · 인내 · 권력욕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"극한의 압박이 장군을 만든다"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거칠고 강한 조직·규칙을 피하지 못하는 만큼, 극도의 책임감과 카리스마로 발현. 남에게도 똑같이 요구해 피 말리게 할 수 있음 — 여자에겐 애인의 별.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正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다름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정관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正官 · 행정 · 공직 · 바른 생활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"규칙을 지키는 모범생"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합리적인 규칙·시스템·명예를 알아보고 착실히 따라, 상사와 조직의 신임을 얻는 스타일. 안정적인 조직의 별 — 여자에겐 남편의 별.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2857500"/>
            <a:ext cx="4000500" cy="4000500"/>
          </a:xfrm>
          <a:prstGeom prst="ellipse">
            <a:avLst/>
          </a:prstGeom>
          <a:solidFill>
            <a:srgbClr val="A7E5D3">
              <a:alpha val="2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인성(印星) — 나를 채워주는 학문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나를 생(生)해주는 오행 · 편인(음양 같음) vs 정인(음양 다름)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37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10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10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偏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0668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68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같음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77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편인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668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偏印 · 의심 · 직관 · 매니아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68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68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"남들과 다른 관점으로 본다"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비판적 사고와 날카로운 직관. 철학·종교·심리 같은 매니아적 학문에 천재성 — 남의 말을 잘 의심하는, 홀로 깊어지는 기운.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0300" y="2667000"/>
            <a:ext cx="521970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39350" y="2933700"/>
            <a:ext cx="1066800" cy="1066800"/>
          </a:xfrm>
          <a:prstGeom prst="ellipse">
            <a:avLst/>
          </a:prstGeom>
          <a:solidFill>
            <a:srgbClr val="A7E5D3">
              <a:alpha val="7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39350" y="2933700"/>
            <a:ext cx="10668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正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6515100" y="29908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5100" y="2990850"/>
            <a:ext cx="876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925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음양 다름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6050" y="3352800"/>
            <a:ext cx="28575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정인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515100" y="4210050"/>
            <a:ext cx="342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正印 · 수용 · 문서 · 자격증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15100" y="4591050"/>
            <a:ext cx="46101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15100" y="4686300"/>
            <a:ext cx="46101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"사랑받고 자란 아이"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15100" y="5067300"/>
            <a:ext cx="46101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없는 사랑(어머니)의 별. 사람들이 돕고 싶게 만드는 능력, 긍정 마인드와 자가치유력. 정통 학문·문서운·자격증의 기운.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0250" y="2857500"/>
            <a:ext cx="3429000" cy="3429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십신의 화학반응 ①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위기를 기회로 바꾸는 조합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38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9650" y="2933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9650" y="2933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3550" y="2990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식신제살 食神制殺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3550" y="33528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폭군 상사(편관)가 완벽한 결과물(식신) 앞에 입을 닫는다 — 압도적 실력으로 위기 돌파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03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57950" y="2933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7950" y="2933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81850" y="2990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상관패인 傷官佩印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81850" y="33528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팩폭 악플러(상관)가 자격·도덕(인성)을 갖추면 말과 글이 합법적 권력이 된다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2000" y="44767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9650" y="47434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9650" y="47434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⚔️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335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양인합살 羊刃合殺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733550" y="51625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무시무시한 위기(살)를 지독한 독기와 생존력으로 정면돌파 — 오히려 기회와 권력으로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0300" y="44767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57950" y="47434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57950" y="47434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818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상관편인 傷官偏印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181850" y="51625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망상가(편인)가 천재적 표현력(상관)을 만나 기괴하고 매력적인 창작을 한다 — 프로파일러형 재능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0250" y="2857500"/>
            <a:ext cx="3429000" cy="3429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십신의 화학반응 ②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조심해야 할 조합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39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9650" y="2933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9650" y="2933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3550" y="2990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극설교가 剋洩交加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3550" y="33528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때리는 관성 + 빼가는 식상이 사방에서 — 일간이 뼈만 남는 소모 구조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03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57950" y="2933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7950" y="2933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🌪️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81850" y="2990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군겁쟁재 群劫爭財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81850" y="33528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비겁은 많은데 재성은 하나 — 인생이 치열한 무한 경쟁 서바이벌(대운이 매우 중요)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2000" y="44767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9650" y="47434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9650" y="47434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🎰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335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탐재괴인 貪財壞印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733550" y="51625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재물 욕심이 공부(인성)를 무너뜨림 — 논문 쓰다 리딩방 차리는 소탐대실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0300" y="44767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57950" y="47434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57950" y="47434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🐯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818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재생살 財生殺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181850" y="51625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감당 못 할 압박(편관)에 내 재물(재성)이 먹이가 됨 — '돈 주고 뺨 맞기'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0250" y="2857500"/>
            <a:ext cx="3429000" cy="3429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십신의 화학반응 ③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양날의 검 — 반은 기회, 반은 리스크 (+수화기제: 물·불 황금비율의 길격)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40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9650" y="2933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9650" y="2933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3550" y="2990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상관견관 傷官見官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3550" y="33528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천재 대리(상관)가 꼰대 부장(정관)을 정면으로 노려본다 — 개혁 성향의 하이 리스크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03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57950" y="2933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7950" y="2933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81850" y="2990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제살태과 制殺太過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81850" y="33528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식신이 편관을 눌러도 너무 누르면 — 맨날 지적질하며 적만 늘어나는 과유불급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2000" y="44767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9650" y="47434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9650" y="47434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335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양인도살 羊刃倒殺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733550" y="51625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겁재 가득한데 제어할 관성이 없다 — 잘 풀리면 외과의사·격투기 선수, 프로의 칼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0300" y="44767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57950" y="47434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57950" y="47434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⛰️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818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토다금매 土多金埋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181850" y="51625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과보호(토)에 파묻힌 금 — 머리는 좋은데 이론에만 갇혀 세상 밖으로 못 나옴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0250" y="2857500"/>
            <a:ext cx="3429000" cy="3429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06 · 십신(十神)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헷갈리기 쉬운 개념 정리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일간 vs 최다 오행 · 길신 vs 흉신 (비견·편재는 중립)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41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9650" y="2933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9650" y="2933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3550" y="2990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일간 = 나의 본질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3550" y="33528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내면의 자의식과 가치관, 마지막 판단 기준 — 내가 추구하는 삶의 방향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0300" y="266700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57950" y="2933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7950" y="2933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81850" y="2990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최다 오행 = 나의 현실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81850" y="335280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말투와 행동을 현실에서 지배하는 기운 — 평소 모습은 이쪽이 더 두드러짐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2000" y="44767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9650" y="47434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9650" y="47434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🌷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335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길신 — 온실 속 화초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733550" y="51625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식신·정재·정관·정인. 상식·평화·안정 — 순탄하지만 위기 대처력은 약한 편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0300" y="4476750"/>
            <a:ext cx="52197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57950" y="47434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57950" y="47434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81850" y="48006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흉신 — 야생의 잡초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181850" y="5162550"/>
            <a:ext cx="40005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겁재·상관·편관·편인. 파격·경쟁·생존 — 하이리스크 하이리턴, 다듬으면 프로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0250" y="2857500"/>
            <a:ext cx="3429000" cy="3429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WRAP-UP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1회차 핵심 요약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오늘 반드시 가져가야 할 다섯 가지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42 / 43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5219700" cy="14287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9650" y="28765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9650" y="28765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3550" y="29337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8글자 = 4기둥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3550" y="3295650"/>
            <a:ext cx="40005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년·월·일·시 네 기둥에 천간·지지 두 글자씩 = 사주팔자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0300" y="2667000"/>
            <a:ext cx="5219700" cy="14287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57950" y="287655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7950" y="287655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🔟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81850" y="293370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 10 · 지지 12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81850" y="3295650"/>
            <a:ext cx="40005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하늘 열 글자, 땅 열두 글자가 짝지어 60갑자로 순환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2000" y="4248150"/>
            <a:ext cx="5219700" cy="14287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9650" y="4457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9650" y="4457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33550" y="4514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오행 5기운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733550" y="4876800"/>
            <a:ext cx="40005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목·화·토·금·수 — 좋고 나쁨이 아닌 기운의 단계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0300" y="4248150"/>
            <a:ext cx="5219700" cy="14287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57950" y="4457700"/>
            <a:ext cx="533400" cy="533400"/>
          </a:xfrm>
          <a:prstGeom prst="ellipse">
            <a:avLst/>
          </a:prstGeom>
          <a:solidFill>
            <a:srgbClr val="F0EF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57950" y="4457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81850" y="45148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음양의 캐릭터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181850" y="4876800"/>
            <a:ext cx="40005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오행도 양·음으로 갈려 열 개의 성격이 됨</a:t>
            </a:r>
            <a:endParaRPr lang="en-US" sz="1350" dirty="0"/>
          </a:p>
        </p:txBody>
      </p:sp>
      <p:sp>
        <p:nvSpPr>
          <p:cNvPr id="31" name="Shape 9"/>
          <p:cNvSpPr/>
          <p:nvPr/>
        </p:nvSpPr>
        <p:spPr>
          <a:xfrm>
            <a:off x="762000" y="5829300"/>
            <a:ext cx="10668000" cy="41910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" name="Text 12"/>
          <p:cNvSpPr/>
          <p:nvPr/>
        </p:nvSpPr>
        <p:spPr>
          <a:xfrm>
            <a:off x="1009650" y="5886450"/>
            <a:ext cx="101727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🔮 십신(十神) — 일간과 맺는 10가지 관계 · 비겁 / 식상 / 재성 / 관성 / 인성 × 정(正)·편(偏)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-1333500"/>
            <a:ext cx="6096000" cy="6096000"/>
          </a:xfrm>
          <a:prstGeom prst="ellipse">
            <a:avLst/>
          </a:prstGeom>
          <a:solidFill>
            <a:srgbClr val="A7E5D3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714500" y="3429000"/>
            <a:ext cx="5334000" cy="5334000"/>
          </a:xfrm>
          <a:prstGeom prst="ellipse">
            <a:avLst/>
          </a:prstGeom>
          <a:solidFill>
            <a:srgbClr val="C8B8E0">
              <a:alpha val="1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953000" y="3238500"/>
            <a:ext cx="4381500" cy="43815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62000" y="5334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266950"/>
            <a:ext cx="571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A7E5D3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590800"/>
            <a:ext cx="1066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2회차에서 만나요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62000" y="3733800"/>
            <a:ext cx="85725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익힌 십간·십이지·오행을 발판으로,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시간에는 글자들이 서로 만나 만드는 '관계'를 배웁니다.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762500"/>
            <a:ext cx="3429000" cy="514350"/>
          </a:xfrm>
          <a:prstGeom prst="roundRect">
            <a:avLst>
              <a:gd name="adj" fmla="val 22222"/>
            </a:avLst>
          </a:prstGeom>
          <a:solidFill>
            <a:srgbClr val="1C191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2000" y="4762500"/>
            <a:ext cx="3429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· 합·충 (글자들의 끌림과 충돌)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4762500"/>
            <a:ext cx="3429000" cy="514350"/>
          </a:xfrm>
          <a:prstGeom prst="roundRect">
            <a:avLst>
              <a:gd name="adj" fmla="val 22222"/>
            </a:avLst>
          </a:prstGeom>
          <a:solidFill>
            <a:srgbClr val="1C191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43400" y="4762500"/>
            <a:ext cx="3429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· 십성 (나와 글자의 관계 읽기)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24800" y="4762500"/>
            <a:ext cx="3429000" cy="514350"/>
          </a:xfrm>
          <a:prstGeom prst="roundRect">
            <a:avLst>
              <a:gd name="adj" fmla="val 22222"/>
            </a:avLst>
          </a:prstGeom>
          <a:solidFill>
            <a:srgbClr val="1C191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924800" y="4762500"/>
            <a:ext cx="3429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· 실전 사주 세우기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2000" y="6438900"/>
            <a:ext cx="476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 티처 양성과정 · 1회차 완료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2483</Words>
  <Application>Microsoft Office PowerPoint</Application>
  <PresentationFormat>와이드스크린</PresentationFormat>
  <Paragraphs>673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Jalnan 2</vt:lpstr>
      <vt:lpstr>paybooc OTF</vt:lpstr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민규 신</cp:lastModifiedBy>
  <cp:revision>2</cp:revision>
  <dcterms:created xsi:type="dcterms:W3CDTF">2026-07-11T10:59:11Z</dcterms:created>
  <dcterms:modified xsi:type="dcterms:W3CDTF">2026-07-11T13:05:00Z</dcterms:modified>
</cp:coreProperties>
</file>