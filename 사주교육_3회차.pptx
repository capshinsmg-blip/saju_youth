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-216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3826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429500" y="-1143000"/>
            <a:ext cx="5905500" cy="5905500"/>
          </a:xfrm>
          <a:prstGeom prst="ellipse">
            <a:avLst/>
          </a:prstGeom>
          <a:solidFill>
            <a:srgbClr val="A8C8E8">
              <a:alpha val="22000"/>
            </a:srgbClr>
          </a:solidFill>
          <a:ln/>
        </p:spPr>
      </p:sp>
      <p:sp>
        <p:nvSpPr>
          <p:cNvPr id="3" name="Shape 3"/>
          <p:cNvSpPr/>
          <p:nvPr/>
        </p:nvSpPr>
        <p:spPr>
          <a:xfrm>
            <a:off x="-1524000" y="3619500"/>
            <a:ext cx="5334000" cy="5334000"/>
          </a:xfrm>
          <a:prstGeom prst="ellipse">
            <a:avLst/>
          </a:prstGeom>
          <a:solidFill>
            <a:srgbClr val="A7E5D3">
              <a:alpha val="18000"/>
            </a:srgbClr>
          </a:solidFill>
          <a:ln/>
        </p:spPr>
      </p:sp>
      <p:sp>
        <p:nvSpPr>
          <p:cNvPr id="4" name="Shape 4"/>
          <p:cNvSpPr/>
          <p:nvPr/>
        </p:nvSpPr>
        <p:spPr>
          <a:xfrm>
            <a:off x="5334000" y="2857500"/>
            <a:ext cx="4572000" cy="4572000"/>
          </a:xfrm>
          <a:prstGeom prst="ellipse">
            <a:avLst/>
          </a:prstGeom>
          <a:solidFill>
            <a:srgbClr val="C8B8E0">
              <a:alpha val="16000"/>
            </a:srgbClr>
          </a:solidFill>
          <a:ln/>
        </p:spPr>
      </p:sp>
      <p:sp>
        <p:nvSpPr>
          <p:cNvPr id="5" name="Text 5"/>
          <p:cNvSpPr/>
          <p:nvPr/>
        </p:nvSpPr>
        <p:spPr>
          <a:xfrm>
            <a:off x="762000" y="5334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수수 사주교육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2381250"/>
            <a:ext cx="9525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spc="400" dirty="0">
                <a:solidFill>
                  <a:srgbClr val="A7E5D3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SAJU TEACHER COURSE · SESSION 03</a:t>
            </a:r>
          </a:p>
        </p:txBody>
      </p:sp>
      <p:sp>
        <p:nvSpPr>
          <p:cNvPr id="7" name="Text 7"/>
          <p:cNvSpPr/>
          <p:nvPr/>
        </p:nvSpPr>
        <p:spPr>
          <a:xfrm>
            <a:off x="723900" y="2667000"/>
            <a:ext cx="10668000" cy="1809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kern="0" spc="-100" dirty="0">
                <a:solidFill>
                  <a:srgbClr val="FFFFFF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실전 사주 리딩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5400" kern="0" spc="-100" dirty="0">
                <a:solidFill>
                  <a:srgbClr val="FFFFFF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내 사주, 내가 읽는다</a:t>
            </a:r>
          </a:p>
        </p:txBody>
      </p:sp>
      <p:sp>
        <p:nvSpPr>
          <p:cNvPr id="8" name="Text 8"/>
          <p:cNvSpPr/>
          <p:nvPr/>
        </p:nvSpPr>
        <p:spPr>
          <a:xfrm>
            <a:off x="762000" y="4629150"/>
            <a:ext cx="952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A8A29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복잡한 사주 판도 순서대로 푸는 4단계 리딩 프로세스</a:t>
            </a:r>
          </a:p>
        </p:txBody>
      </p:sp>
      <p:sp>
        <p:nvSpPr>
          <p:cNvPr id="9" name="Shape 9"/>
          <p:cNvSpPr/>
          <p:nvPr/>
        </p:nvSpPr>
        <p:spPr>
          <a:xfrm>
            <a:off x="762000" y="5295900"/>
            <a:ext cx="5334000" cy="400050"/>
          </a:xfrm>
          <a:prstGeom prst="roundRect">
            <a:avLst>
              <a:gd name="adj" fmla="val 50000"/>
            </a:avLst>
          </a:prstGeom>
          <a:solidFill>
            <a:srgbClr val="1C1917"/>
          </a:solidFill>
          <a:ln/>
        </p:spPr>
      </p:sp>
      <p:sp>
        <p:nvSpPr>
          <p:cNvPr id="10" name="Text 10"/>
          <p:cNvSpPr/>
          <p:nvPr/>
        </p:nvSpPr>
        <p:spPr>
          <a:xfrm>
            <a:off x="762000" y="5295900"/>
            <a:ext cx="5334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spc="5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3회차 · 4단계 리딩 프로세스 (실습)</a:t>
            </a:r>
          </a:p>
        </p:txBody>
      </p:sp>
      <p:sp>
        <p:nvSpPr>
          <p:cNvPr id="11" name="Shape 11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1C1917"/>
            </a:solidFill>
            <a:prstDash val="solid"/>
          </a:ln>
        </p:spPr>
      </p:sp>
      <p:sp>
        <p:nvSpPr>
          <p:cNvPr id="12" name="Text 12"/>
          <p:cNvSpPr/>
          <p:nvPr/>
        </p:nvSpPr>
        <p:spPr>
          <a:xfrm>
            <a:off x="762000" y="6438900"/>
            <a:ext cx="533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사주 티처 양성과정 · 마지막 회차</a:t>
            </a:r>
          </a:p>
        </p:txBody>
      </p:sp>
      <p:sp>
        <p:nvSpPr>
          <p:cNvPr id="13" name="Text 13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입문자 대상 · 전 3회차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429750" y="2857500"/>
            <a:ext cx="3619500" cy="3619500"/>
          </a:xfrm>
          <a:prstGeom prst="ellipse">
            <a:avLst/>
          </a:prstGeom>
          <a:solidFill>
            <a:srgbClr val="A7E5D3">
              <a:alpha val="16000"/>
            </a:srgbClr>
          </a:solidFill>
          <a:ln/>
        </p:spPr>
      </p:sp>
      <p:sp>
        <p:nvSpPr>
          <p:cNvPr id="3" name="Text 3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수수 사주교육</a:t>
            </a:r>
          </a:p>
        </p:txBody>
      </p:sp>
      <p:sp>
        <p:nvSpPr>
          <p:cNvPr id="4" name="Text 4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AGENDA</a:t>
            </a:r>
          </a:p>
        </p:txBody>
      </p:sp>
      <p:sp>
        <p:nvSpPr>
          <p:cNvPr id="5" name="Text 5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COURSE OVERVIEW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3회차 강의 목차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복잡한 사주를 푸는 4단계, 그리고 실습</a:t>
            </a:r>
          </a:p>
        </p:txBody>
      </p:sp>
      <p:sp>
        <p:nvSpPr>
          <p:cNvPr id="8" name="Shape 8"/>
          <p:cNvSpPr/>
          <p:nvPr/>
        </p:nvSpPr>
        <p:spPr>
          <a:xfrm>
            <a:off x="762000" y="2750820"/>
            <a:ext cx="609600" cy="609600"/>
          </a:xfrm>
          <a:prstGeom prst="ellipse">
            <a:avLst/>
          </a:prstGeom>
          <a:solidFill>
            <a:srgbClr val="A7E5D3">
              <a:alpha val="80000"/>
            </a:srgbClr>
          </a:solidFill>
          <a:ln/>
        </p:spPr>
      </p:sp>
      <p:sp>
        <p:nvSpPr>
          <p:cNvPr id="9" name="Text 9"/>
          <p:cNvSpPr/>
          <p:nvPr/>
        </p:nvSpPr>
        <p:spPr>
          <a:xfrm>
            <a:off x="762000" y="275082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1</a:t>
            </a:r>
          </a:p>
        </p:txBody>
      </p:sp>
      <p:sp>
        <p:nvSpPr>
          <p:cNvPr id="10" name="Text 10"/>
          <p:cNvSpPr/>
          <p:nvPr/>
        </p:nvSpPr>
        <p:spPr>
          <a:xfrm>
            <a:off x="1600200" y="2743200"/>
            <a:ext cx="9829800" cy="32491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1 — 일간과 월지</a:t>
            </a:r>
          </a:p>
        </p:txBody>
      </p:sp>
      <p:sp>
        <p:nvSpPr>
          <p:cNvPr id="11" name="Text 11"/>
          <p:cNvSpPr/>
          <p:nvPr/>
        </p:nvSpPr>
        <p:spPr>
          <a:xfrm>
            <a:off x="1600200" y="3055620"/>
            <a:ext cx="9829800" cy="312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주인공(일간)을 찾고, 태어난 계절(월지·조후)을 본다</a:t>
            </a:r>
          </a:p>
        </p:txBody>
      </p:sp>
      <p:sp>
        <p:nvSpPr>
          <p:cNvPr id="12" name="Shape 12"/>
          <p:cNvSpPr/>
          <p:nvPr/>
        </p:nvSpPr>
        <p:spPr>
          <a:xfrm>
            <a:off x="1600200" y="3406140"/>
            <a:ext cx="98298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13" name="Shape 13"/>
          <p:cNvSpPr/>
          <p:nvPr/>
        </p:nvSpPr>
        <p:spPr>
          <a:xfrm>
            <a:off x="762000" y="3451860"/>
            <a:ext cx="609600" cy="609600"/>
          </a:xfrm>
          <a:prstGeom prst="ellipse">
            <a:avLst/>
          </a:prstGeom>
          <a:solidFill>
            <a:srgbClr val="A8C8E8">
              <a:alpha val="80000"/>
            </a:srgbClr>
          </a:solidFill>
          <a:ln/>
        </p:spPr>
      </p:sp>
      <p:sp>
        <p:nvSpPr>
          <p:cNvPr id="14" name="Text 14"/>
          <p:cNvSpPr/>
          <p:nvPr/>
        </p:nvSpPr>
        <p:spPr>
          <a:xfrm>
            <a:off x="762000" y="345186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2</a:t>
            </a:r>
          </a:p>
        </p:txBody>
      </p:sp>
      <p:sp>
        <p:nvSpPr>
          <p:cNvPr id="15" name="Text 15"/>
          <p:cNvSpPr/>
          <p:nvPr/>
        </p:nvSpPr>
        <p:spPr>
          <a:xfrm>
            <a:off x="1600200" y="3444240"/>
            <a:ext cx="9829800" cy="32491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2 — 신강·신약</a:t>
            </a:r>
          </a:p>
        </p:txBody>
      </p:sp>
      <p:sp>
        <p:nvSpPr>
          <p:cNvPr id="16" name="Text 16"/>
          <p:cNvSpPr/>
          <p:nvPr/>
        </p:nvSpPr>
        <p:spPr>
          <a:xfrm>
            <a:off x="1600200" y="3756660"/>
            <a:ext cx="9829800" cy="312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에너지가 강한지 약한지 판별한다</a:t>
            </a:r>
          </a:p>
        </p:txBody>
      </p:sp>
      <p:sp>
        <p:nvSpPr>
          <p:cNvPr id="17" name="Shape 17"/>
          <p:cNvSpPr/>
          <p:nvPr/>
        </p:nvSpPr>
        <p:spPr>
          <a:xfrm>
            <a:off x="1600200" y="4107180"/>
            <a:ext cx="98298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18" name="Shape 18"/>
          <p:cNvSpPr/>
          <p:nvPr/>
        </p:nvSpPr>
        <p:spPr>
          <a:xfrm>
            <a:off x="762000" y="4152900"/>
            <a:ext cx="609600" cy="609600"/>
          </a:xfrm>
          <a:prstGeom prst="ellipse">
            <a:avLst/>
          </a:prstGeom>
          <a:solidFill>
            <a:srgbClr val="F4C5A8">
              <a:alpha val="80000"/>
            </a:srgbClr>
          </a:solidFill>
          <a:ln/>
        </p:spPr>
      </p:sp>
      <p:sp>
        <p:nvSpPr>
          <p:cNvPr id="19" name="Text 19"/>
          <p:cNvSpPr/>
          <p:nvPr/>
        </p:nvSpPr>
        <p:spPr>
          <a:xfrm>
            <a:off x="762000" y="415290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3</a:t>
            </a:r>
          </a:p>
        </p:txBody>
      </p:sp>
      <p:sp>
        <p:nvSpPr>
          <p:cNvPr id="20" name="Text 20"/>
          <p:cNvSpPr/>
          <p:nvPr/>
        </p:nvSpPr>
        <p:spPr>
          <a:xfrm>
            <a:off x="1600200" y="4145280"/>
            <a:ext cx="9829800" cy="32491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3 — 용신 찾기</a:t>
            </a:r>
          </a:p>
        </p:txBody>
      </p:sp>
      <p:sp>
        <p:nvSpPr>
          <p:cNvPr id="21" name="Text 21"/>
          <p:cNvSpPr/>
          <p:nvPr/>
        </p:nvSpPr>
        <p:spPr>
          <a:xfrm>
            <a:off x="1600200" y="4457700"/>
            <a:ext cx="9829800" cy="312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사주의 균형을 잡아주는 열쇠 오행을 고른다</a:t>
            </a:r>
          </a:p>
        </p:txBody>
      </p:sp>
      <p:sp>
        <p:nvSpPr>
          <p:cNvPr id="22" name="Shape 22"/>
          <p:cNvSpPr/>
          <p:nvPr/>
        </p:nvSpPr>
        <p:spPr>
          <a:xfrm>
            <a:off x="1600200" y="4808220"/>
            <a:ext cx="98298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3" name="Shape 23"/>
          <p:cNvSpPr/>
          <p:nvPr/>
        </p:nvSpPr>
        <p:spPr>
          <a:xfrm>
            <a:off x="762000" y="4853940"/>
            <a:ext cx="609600" cy="609600"/>
          </a:xfrm>
          <a:prstGeom prst="ellipse">
            <a:avLst/>
          </a:prstGeom>
          <a:solidFill>
            <a:srgbClr val="C8B8E0">
              <a:alpha val="80000"/>
            </a:srgbClr>
          </a:solidFill>
          <a:ln/>
        </p:spPr>
      </p:sp>
      <p:sp>
        <p:nvSpPr>
          <p:cNvPr id="24" name="Text 24"/>
          <p:cNvSpPr/>
          <p:nvPr/>
        </p:nvSpPr>
        <p:spPr>
          <a:xfrm>
            <a:off x="762000" y="485394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4</a:t>
            </a:r>
          </a:p>
        </p:txBody>
      </p:sp>
      <p:sp>
        <p:nvSpPr>
          <p:cNvPr id="25" name="Text 25"/>
          <p:cNvSpPr/>
          <p:nvPr/>
        </p:nvSpPr>
        <p:spPr>
          <a:xfrm>
            <a:off x="1600200" y="4846320"/>
            <a:ext cx="9829800" cy="32491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4 — 종합 실습</a:t>
            </a:r>
          </a:p>
        </p:txBody>
      </p:sp>
      <p:sp>
        <p:nvSpPr>
          <p:cNvPr id="26" name="Text 26"/>
          <p:cNvSpPr/>
          <p:nvPr/>
        </p:nvSpPr>
        <p:spPr>
          <a:xfrm>
            <a:off x="1600200" y="5158740"/>
            <a:ext cx="9829800" cy="312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명식 하나를 1~4단계로 직접 읽어본다</a:t>
            </a:r>
          </a:p>
        </p:txBody>
      </p:sp>
      <p:sp>
        <p:nvSpPr>
          <p:cNvPr id="27" name="Shape 27"/>
          <p:cNvSpPr/>
          <p:nvPr/>
        </p:nvSpPr>
        <p:spPr>
          <a:xfrm>
            <a:off x="1600200" y="5509260"/>
            <a:ext cx="98298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8" name="Shape 28"/>
          <p:cNvSpPr/>
          <p:nvPr/>
        </p:nvSpPr>
        <p:spPr>
          <a:xfrm>
            <a:off x="762000" y="5554980"/>
            <a:ext cx="609600" cy="609600"/>
          </a:xfrm>
          <a:prstGeom prst="ellipse">
            <a:avLst/>
          </a:prstGeom>
          <a:solidFill>
            <a:srgbClr val="E8B8C4">
              <a:alpha val="80000"/>
            </a:srgbClr>
          </a:solidFill>
          <a:ln/>
        </p:spPr>
      </p:sp>
      <p:sp>
        <p:nvSpPr>
          <p:cNvPr id="29" name="Text 29"/>
          <p:cNvSpPr/>
          <p:nvPr/>
        </p:nvSpPr>
        <p:spPr>
          <a:xfrm>
            <a:off x="762000" y="555498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5</a:t>
            </a:r>
          </a:p>
        </p:txBody>
      </p:sp>
      <p:sp>
        <p:nvSpPr>
          <p:cNvPr id="30" name="Text 30"/>
          <p:cNvSpPr/>
          <p:nvPr/>
        </p:nvSpPr>
        <p:spPr>
          <a:xfrm>
            <a:off x="1600200" y="5547360"/>
            <a:ext cx="9829800" cy="32491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전 과정 마무리</a:t>
            </a:r>
          </a:p>
        </p:txBody>
      </p:sp>
      <p:sp>
        <p:nvSpPr>
          <p:cNvPr id="31" name="Text 31"/>
          <p:cNvSpPr/>
          <p:nvPr/>
        </p:nvSpPr>
        <p:spPr>
          <a:xfrm>
            <a:off x="1600200" y="5859780"/>
            <a:ext cx="9829800" cy="312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원국 → 운 → 리딩까지, 3회차 완주</a:t>
            </a:r>
          </a:p>
        </p:txBody>
      </p:sp>
      <p:sp>
        <p:nvSpPr>
          <p:cNvPr id="32" name="Shape 32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33" name="Text 33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34" name="Text 34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02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048750" y="3238500"/>
            <a:ext cx="3810000" cy="3810000"/>
          </a:xfrm>
          <a:prstGeom prst="ellipse">
            <a:avLst/>
          </a:prstGeom>
          <a:solidFill>
            <a:srgbClr val="C8B8E0">
              <a:alpha val="16000"/>
            </a:srgbClr>
          </a:solidFill>
          <a:ln/>
        </p:spPr>
      </p:sp>
      <p:sp>
        <p:nvSpPr>
          <p:cNvPr id="3" name="Shape 3"/>
          <p:cNvSpPr/>
          <p:nvPr/>
        </p:nvSpPr>
        <p:spPr>
          <a:xfrm>
            <a:off x="-762000" y="4572000"/>
            <a:ext cx="3048000" cy="3048000"/>
          </a:xfrm>
          <a:prstGeom prst="ellipse">
            <a:avLst/>
          </a:prstGeom>
          <a:solidFill>
            <a:srgbClr val="F4C5A8">
              <a:alpha val="14000"/>
            </a:srgbClr>
          </a:solidFill>
          <a:ln/>
        </p:spPr>
      </p:sp>
      <p:sp>
        <p:nvSpPr>
          <p:cNvPr id="4" name="Text 4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수수 사주교육</a:t>
            </a:r>
          </a:p>
        </p:txBody>
      </p:sp>
      <p:sp>
        <p:nvSpPr>
          <p:cNvPr id="5" name="Text 5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GOALS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LEARNING GOALS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이번 회차 학습 목표</a:t>
            </a:r>
          </a:p>
        </p:txBody>
      </p:sp>
      <p:sp>
        <p:nvSpPr>
          <p:cNvPr id="8" name="Text 8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복잡한 사주 앞에서도 당황하지 않기</a:t>
            </a:r>
          </a:p>
        </p:txBody>
      </p:sp>
      <p:sp>
        <p:nvSpPr>
          <p:cNvPr id="9" name="Shape 9"/>
          <p:cNvSpPr/>
          <p:nvPr/>
        </p:nvSpPr>
        <p:spPr>
          <a:xfrm>
            <a:off x="762000" y="2743200"/>
            <a:ext cx="34036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10"/>
          <p:cNvSpPr/>
          <p:nvPr/>
        </p:nvSpPr>
        <p:spPr>
          <a:xfrm>
            <a:off x="1047750" y="3028950"/>
            <a:ext cx="685800" cy="685800"/>
          </a:xfrm>
          <a:prstGeom prst="ellipse">
            <a:avLst/>
          </a:prstGeom>
          <a:solidFill>
            <a:srgbClr val="A7E5D3">
              <a:alpha val="85000"/>
            </a:srgbClr>
          </a:solidFill>
          <a:ln/>
        </p:spPr>
      </p:sp>
      <p:sp>
        <p:nvSpPr>
          <p:cNvPr id="11" name="Text 11"/>
          <p:cNvSpPr/>
          <p:nvPr/>
        </p:nvSpPr>
        <p:spPr>
          <a:xfrm>
            <a:off x="1047750" y="302895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順</a:t>
            </a:r>
          </a:p>
        </p:txBody>
      </p:sp>
      <p:sp>
        <p:nvSpPr>
          <p:cNvPr id="12" name="Text 12"/>
          <p:cNvSpPr/>
          <p:nvPr/>
        </p:nvSpPr>
        <p:spPr>
          <a:xfrm>
            <a:off x="1047750" y="3867150"/>
            <a:ext cx="28321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순서로 푼다</a:t>
            </a:r>
          </a:p>
        </p:txBody>
      </p:sp>
      <p:sp>
        <p:nvSpPr>
          <p:cNvPr id="13" name="Text 13"/>
          <p:cNvSpPr/>
          <p:nvPr/>
        </p:nvSpPr>
        <p:spPr>
          <a:xfrm>
            <a:off x="1047750" y="4200990"/>
            <a:ext cx="2832100" cy="6429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느낌이 아니라 정해진 4단계 순서대로 사주를 분석하는 프로세스를 익힌다.</a:t>
            </a:r>
          </a:p>
        </p:txBody>
      </p:sp>
      <p:sp>
        <p:nvSpPr>
          <p:cNvPr id="14" name="Shape 14"/>
          <p:cNvSpPr/>
          <p:nvPr/>
        </p:nvSpPr>
        <p:spPr>
          <a:xfrm>
            <a:off x="4394200" y="2743200"/>
            <a:ext cx="34036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5"/>
          <p:cNvSpPr/>
          <p:nvPr/>
        </p:nvSpPr>
        <p:spPr>
          <a:xfrm>
            <a:off x="4679950" y="3028950"/>
            <a:ext cx="685800" cy="685800"/>
          </a:xfrm>
          <a:prstGeom prst="ellipse">
            <a:avLst/>
          </a:prstGeom>
          <a:solidFill>
            <a:srgbClr val="A8C8E8">
              <a:alpha val="85000"/>
            </a:srgbClr>
          </a:solidFill>
          <a:ln/>
        </p:spPr>
      </p:sp>
      <p:sp>
        <p:nvSpPr>
          <p:cNvPr id="16" name="Text 16"/>
          <p:cNvSpPr/>
          <p:nvPr/>
        </p:nvSpPr>
        <p:spPr>
          <a:xfrm>
            <a:off x="4679950" y="302895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用</a:t>
            </a:r>
          </a:p>
        </p:txBody>
      </p:sp>
      <p:sp>
        <p:nvSpPr>
          <p:cNvPr id="17" name="Text 17"/>
          <p:cNvSpPr/>
          <p:nvPr/>
        </p:nvSpPr>
        <p:spPr>
          <a:xfrm>
            <a:off x="4679950" y="3867150"/>
            <a:ext cx="28321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용신까지 도달</a:t>
            </a:r>
          </a:p>
        </p:txBody>
      </p:sp>
      <p:sp>
        <p:nvSpPr>
          <p:cNvPr id="18" name="Text 18"/>
          <p:cNvSpPr/>
          <p:nvPr/>
        </p:nvSpPr>
        <p:spPr>
          <a:xfrm>
            <a:off x="4679950" y="4200990"/>
            <a:ext cx="2832100" cy="6429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일간·월지에서 시작해 신강·신약을 거쳐 용신을 스스로 잡을 수 있다.</a:t>
            </a:r>
          </a:p>
        </p:txBody>
      </p:sp>
      <p:sp>
        <p:nvSpPr>
          <p:cNvPr id="19" name="Shape 19"/>
          <p:cNvSpPr/>
          <p:nvPr/>
        </p:nvSpPr>
        <p:spPr>
          <a:xfrm>
            <a:off x="8026400" y="2743200"/>
            <a:ext cx="34036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20"/>
          <p:cNvSpPr/>
          <p:nvPr/>
        </p:nvSpPr>
        <p:spPr>
          <a:xfrm>
            <a:off x="8312150" y="3028950"/>
            <a:ext cx="685800" cy="685800"/>
          </a:xfrm>
          <a:prstGeom prst="ellipse">
            <a:avLst/>
          </a:prstGeom>
          <a:solidFill>
            <a:srgbClr val="F4C5A8">
              <a:alpha val="85000"/>
            </a:srgbClr>
          </a:solidFill>
          <a:ln/>
        </p:spPr>
      </p:sp>
      <p:sp>
        <p:nvSpPr>
          <p:cNvPr id="21" name="Text 21"/>
          <p:cNvSpPr/>
          <p:nvPr/>
        </p:nvSpPr>
        <p:spPr>
          <a:xfrm>
            <a:off x="8312150" y="302895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讀</a:t>
            </a:r>
          </a:p>
        </p:txBody>
      </p:sp>
      <p:sp>
        <p:nvSpPr>
          <p:cNvPr id="22" name="Text 22"/>
          <p:cNvSpPr/>
          <p:nvPr/>
        </p:nvSpPr>
        <p:spPr>
          <a:xfrm>
            <a:off x="8312150" y="3867150"/>
            <a:ext cx="28321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직접 리딩</a:t>
            </a:r>
          </a:p>
        </p:txBody>
      </p:sp>
      <p:sp>
        <p:nvSpPr>
          <p:cNvPr id="23" name="Text 23"/>
          <p:cNvSpPr/>
          <p:nvPr/>
        </p:nvSpPr>
        <p:spPr>
          <a:xfrm>
            <a:off x="8312150" y="4200990"/>
            <a:ext cx="2832100" cy="6429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명식 하나를 1~4단계로 읽고 대운까지 대입해 해석할 수 있다.</a:t>
            </a:r>
          </a:p>
        </p:txBody>
      </p:sp>
      <p:sp>
        <p:nvSpPr>
          <p:cNvPr id="24" name="Shape 24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Text 25"/>
          <p:cNvSpPr/>
          <p:nvPr/>
        </p:nvSpPr>
        <p:spPr>
          <a:xfrm>
            <a:off x="1066800" y="5334000"/>
            <a:ext cx="1524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한 줄 요약</a:t>
            </a:r>
          </a:p>
        </p:txBody>
      </p:sp>
      <p:sp>
        <p:nvSpPr>
          <p:cNvPr id="26" name="Text 26"/>
          <p:cNvSpPr/>
          <p:nvPr/>
        </p:nvSpPr>
        <p:spPr>
          <a:xfrm>
            <a:off x="2590800" y="5334000"/>
            <a:ext cx="8534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“어떤 사주 판을 만나도, 이 순서만 지키면 흔들리지 않는다.”</a:t>
            </a:r>
          </a:p>
        </p:txBody>
      </p:sp>
      <p:sp>
        <p:nvSpPr>
          <p:cNvPr id="27" name="Shape 27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8" name="Text 28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29" name="Text 29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03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048750" y="3048000"/>
            <a:ext cx="3810000" cy="3810000"/>
          </a:xfrm>
          <a:prstGeom prst="ellipse">
            <a:avLst/>
          </a:prstGeom>
          <a:solidFill>
            <a:srgbClr val="F4C5A8">
              <a:alpha val="15000"/>
            </a:srgbClr>
          </a:solidFill>
          <a:ln/>
        </p:spPr>
      </p:sp>
      <p:sp>
        <p:nvSpPr>
          <p:cNvPr id="3" name="Text 3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수수 사주교육</a:t>
            </a:r>
          </a:p>
        </p:txBody>
      </p:sp>
      <p:sp>
        <p:nvSpPr>
          <p:cNvPr id="4" name="Text 4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RECAP · 1·2회차</a:t>
            </a:r>
          </a:p>
        </p:txBody>
      </p:sp>
      <p:sp>
        <p:nvSpPr>
          <p:cNvPr id="5" name="Text 5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BRIDGE FROM SESSION 01·02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여기까지 배운 것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원국과 운, 이제 “푸는 순서”</a:t>
            </a:r>
          </a:p>
        </p:txBody>
      </p:sp>
      <p:sp>
        <p:nvSpPr>
          <p:cNvPr id="8" name="Shape 8"/>
          <p:cNvSpPr/>
          <p:nvPr/>
        </p:nvSpPr>
        <p:spPr>
          <a:xfrm>
            <a:off x="762000" y="2743200"/>
            <a:ext cx="34036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9"/>
          <p:cNvSpPr/>
          <p:nvPr/>
        </p:nvSpPr>
        <p:spPr>
          <a:xfrm>
            <a:off x="1047750" y="3312086"/>
            <a:ext cx="2832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1회차</a:t>
            </a:r>
          </a:p>
        </p:txBody>
      </p:sp>
      <p:sp>
        <p:nvSpPr>
          <p:cNvPr id="10" name="Text 10"/>
          <p:cNvSpPr/>
          <p:nvPr/>
        </p:nvSpPr>
        <p:spPr>
          <a:xfrm>
            <a:off x="1047750" y="3559736"/>
            <a:ext cx="28321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원국(原局)</a:t>
            </a:r>
          </a:p>
        </p:txBody>
      </p:sp>
      <p:sp>
        <p:nvSpPr>
          <p:cNvPr id="11" name="Text 11"/>
          <p:cNvSpPr/>
          <p:nvPr/>
        </p:nvSpPr>
        <p:spPr>
          <a:xfrm>
            <a:off x="1047750" y="3893576"/>
            <a:ext cx="2832100" cy="6429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천간·지지·오행 — 태어나며 정해진 여덟 글자, 곧 나의 기본 설정.</a:t>
            </a:r>
          </a:p>
        </p:txBody>
      </p:sp>
      <p:sp>
        <p:nvSpPr>
          <p:cNvPr id="12" name="Shape 12"/>
          <p:cNvSpPr/>
          <p:nvPr/>
        </p:nvSpPr>
        <p:spPr>
          <a:xfrm>
            <a:off x="4394200" y="2743200"/>
            <a:ext cx="34036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3"/>
          <p:cNvSpPr/>
          <p:nvPr/>
        </p:nvSpPr>
        <p:spPr>
          <a:xfrm>
            <a:off x="4679950" y="3312086"/>
            <a:ext cx="2832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2회차</a:t>
            </a:r>
          </a:p>
        </p:txBody>
      </p:sp>
      <p:sp>
        <p:nvSpPr>
          <p:cNvPr id="14" name="Text 14"/>
          <p:cNvSpPr/>
          <p:nvPr/>
        </p:nvSpPr>
        <p:spPr>
          <a:xfrm>
            <a:off x="4679950" y="3559736"/>
            <a:ext cx="28321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대운·세운</a:t>
            </a:r>
          </a:p>
        </p:txBody>
      </p:sp>
      <p:sp>
        <p:nvSpPr>
          <p:cNvPr id="15" name="Text 15"/>
          <p:cNvSpPr/>
          <p:nvPr/>
        </p:nvSpPr>
        <p:spPr>
          <a:xfrm>
            <a:off x="4679950" y="3893576"/>
            <a:ext cx="2832100" cy="6429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원국 위를 흐르는 운. 10년 대운과 1년 세운으로 시기의 흐름을 읽는다.</a:t>
            </a:r>
          </a:p>
        </p:txBody>
      </p:sp>
      <p:sp>
        <p:nvSpPr>
          <p:cNvPr id="16" name="Shape 16"/>
          <p:cNvSpPr/>
          <p:nvPr/>
        </p:nvSpPr>
        <p:spPr>
          <a:xfrm>
            <a:off x="8026400" y="2743200"/>
            <a:ext cx="34036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7"/>
          <p:cNvSpPr/>
          <p:nvPr/>
        </p:nvSpPr>
        <p:spPr>
          <a:xfrm>
            <a:off x="8312150" y="3312086"/>
            <a:ext cx="2832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3회차</a:t>
            </a:r>
          </a:p>
        </p:txBody>
      </p:sp>
      <p:sp>
        <p:nvSpPr>
          <p:cNvPr id="18" name="Text 18"/>
          <p:cNvSpPr/>
          <p:nvPr/>
        </p:nvSpPr>
        <p:spPr>
          <a:xfrm>
            <a:off x="8312150" y="3559736"/>
            <a:ext cx="28321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리딩 프로세스</a:t>
            </a:r>
          </a:p>
        </p:txBody>
      </p:sp>
      <p:sp>
        <p:nvSpPr>
          <p:cNvPr id="19" name="Text 19"/>
          <p:cNvSpPr/>
          <p:nvPr/>
        </p:nvSpPr>
        <p:spPr>
          <a:xfrm>
            <a:off x="8312150" y="3893576"/>
            <a:ext cx="2832100" cy="6429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흩어진 지식을 하나로 — 어떤 순서로 읽어야 답이 나오는지 배운다.</a:t>
            </a:r>
          </a:p>
        </p:txBody>
      </p:sp>
      <p:sp>
        <p:nvSpPr>
          <p:cNvPr id="20" name="Shape 20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Text 21"/>
          <p:cNvSpPr/>
          <p:nvPr/>
        </p:nvSpPr>
        <p:spPr>
          <a:xfrm>
            <a:off x="1066800" y="5334000"/>
            <a:ext cx="1524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오늘</a:t>
            </a:r>
          </a:p>
        </p:txBody>
      </p:sp>
      <p:sp>
        <p:nvSpPr>
          <p:cNvPr id="22" name="Text 22"/>
          <p:cNvSpPr/>
          <p:nvPr/>
        </p:nvSpPr>
        <p:spPr>
          <a:xfrm>
            <a:off x="2590800" y="5334000"/>
            <a:ext cx="8534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재료(원국)와 시간(운)을 알았으니, 이제 그것을 “요리하는 순서”를 익힙니다.</a:t>
            </a:r>
          </a:p>
        </p:txBody>
      </p:sp>
      <p:sp>
        <p:nvSpPr>
          <p:cNvPr id="23" name="Shape 23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4" name="Text 24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25" name="Text 25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04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620250" y="2667000"/>
            <a:ext cx="3429000" cy="3429000"/>
          </a:xfrm>
          <a:prstGeom prst="ellipse">
            <a:avLst/>
          </a:prstGeom>
          <a:solidFill>
            <a:srgbClr val="A8C8E8">
              <a:alpha val="16000"/>
            </a:srgbClr>
          </a:solidFill>
          <a:ln/>
        </p:spPr>
      </p:sp>
      <p:sp>
        <p:nvSpPr>
          <p:cNvPr id="3" name="Text 3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수수 사주교육</a:t>
            </a:r>
          </a:p>
        </p:txBody>
      </p:sp>
      <p:sp>
        <p:nvSpPr>
          <p:cNvPr id="4" name="Text 4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CORE</a:t>
            </a:r>
          </a:p>
        </p:txBody>
      </p:sp>
      <p:sp>
        <p:nvSpPr>
          <p:cNvPr id="5" name="Text 5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THE 4-STEP PROCESS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사주 풀이의 4단계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가장 중요한 뼈대 — 이 순서를 외우세요</a:t>
            </a:r>
          </a:p>
        </p:txBody>
      </p:sp>
      <p:sp>
        <p:nvSpPr>
          <p:cNvPr id="8" name="Shape 8"/>
          <p:cNvSpPr/>
          <p:nvPr/>
        </p:nvSpPr>
        <p:spPr>
          <a:xfrm>
            <a:off x="762000" y="2857500"/>
            <a:ext cx="2366963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9"/>
          <p:cNvSpPr/>
          <p:nvPr/>
        </p:nvSpPr>
        <p:spPr>
          <a:xfrm>
            <a:off x="762000" y="3048000"/>
            <a:ext cx="2366963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spc="12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1</a:t>
            </a:r>
          </a:p>
        </p:txBody>
      </p:sp>
      <p:sp>
        <p:nvSpPr>
          <p:cNvPr id="10" name="Text 10"/>
          <p:cNvSpPr/>
          <p:nvPr/>
        </p:nvSpPr>
        <p:spPr>
          <a:xfrm>
            <a:off x="762000" y="3257550"/>
            <a:ext cx="2366963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일간·월지</a:t>
            </a:r>
          </a:p>
        </p:txBody>
      </p:sp>
      <p:sp>
        <p:nvSpPr>
          <p:cNvPr id="11" name="Text 11"/>
          <p:cNvSpPr/>
          <p:nvPr/>
        </p:nvSpPr>
        <p:spPr>
          <a:xfrm>
            <a:off x="762000" y="3790950"/>
            <a:ext cx="2366963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주인공 + 계절</a:t>
            </a:r>
          </a:p>
        </p:txBody>
      </p:sp>
      <p:sp>
        <p:nvSpPr>
          <p:cNvPr id="12" name="Text 12"/>
          <p:cNvSpPr/>
          <p:nvPr/>
        </p:nvSpPr>
        <p:spPr>
          <a:xfrm>
            <a:off x="3128963" y="2857500"/>
            <a:ext cx="40005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A29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→</a:t>
            </a:r>
          </a:p>
        </p:txBody>
      </p:sp>
      <p:sp>
        <p:nvSpPr>
          <p:cNvPr id="13" name="Shape 13"/>
          <p:cNvSpPr/>
          <p:nvPr/>
        </p:nvSpPr>
        <p:spPr>
          <a:xfrm>
            <a:off x="3529013" y="2857500"/>
            <a:ext cx="2366963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Text 14"/>
          <p:cNvSpPr/>
          <p:nvPr/>
        </p:nvSpPr>
        <p:spPr>
          <a:xfrm>
            <a:off x="3529013" y="3048000"/>
            <a:ext cx="2366963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spc="12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2</a:t>
            </a:r>
          </a:p>
        </p:txBody>
      </p:sp>
      <p:sp>
        <p:nvSpPr>
          <p:cNvPr id="15" name="Text 15"/>
          <p:cNvSpPr/>
          <p:nvPr/>
        </p:nvSpPr>
        <p:spPr>
          <a:xfrm>
            <a:off x="3529013" y="3257550"/>
            <a:ext cx="2366963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신강·신약</a:t>
            </a:r>
          </a:p>
        </p:txBody>
      </p:sp>
      <p:sp>
        <p:nvSpPr>
          <p:cNvPr id="16" name="Text 16"/>
          <p:cNvSpPr/>
          <p:nvPr/>
        </p:nvSpPr>
        <p:spPr>
          <a:xfrm>
            <a:off x="3529013" y="3790950"/>
            <a:ext cx="2366963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힘의 강약</a:t>
            </a:r>
          </a:p>
        </p:txBody>
      </p:sp>
      <p:sp>
        <p:nvSpPr>
          <p:cNvPr id="17" name="Text 17"/>
          <p:cNvSpPr/>
          <p:nvPr/>
        </p:nvSpPr>
        <p:spPr>
          <a:xfrm>
            <a:off x="5895976" y="2857500"/>
            <a:ext cx="40005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A29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→</a:t>
            </a:r>
          </a:p>
        </p:txBody>
      </p:sp>
      <p:sp>
        <p:nvSpPr>
          <p:cNvPr id="18" name="Shape 18"/>
          <p:cNvSpPr/>
          <p:nvPr/>
        </p:nvSpPr>
        <p:spPr>
          <a:xfrm>
            <a:off x="6296026" y="2857500"/>
            <a:ext cx="2366963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Text 19"/>
          <p:cNvSpPr/>
          <p:nvPr/>
        </p:nvSpPr>
        <p:spPr>
          <a:xfrm>
            <a:off x="6296026" y="3048000"/>
            <a:ext cx="2366963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spc="12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3</a:t>
            </a:r>
          </a:p>
        </p:txBody>
      </p:sp>
      <p:sp>
        <p:nvSpPr>
          <p:cNvPr id="20" name="Text 20"/>
          <p:cNvSpPr/>
          <p:nvPr/>
        </p:nvSpPr>
        <p:spPr>
          <a:xfrm>
            <a:off x="6296026" y="3257550"/>
            <a:ext cx="2366963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용신</a:t>
            </a:r>
          </a:p>
        </p:txBody>
      </p:sp>
      <p:sp>
        <p:nvSpPr>
          <p:cNvPr id="21" name="Text 21"/>
          <p:cNvSpPr/>
          <p:nvPr/>
        </p:nvSpPr>
        <p:spPr>
          <a:xfrm>
            <a:off x="6296026" y="3790950"/>
            <a:ext cx="2366963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균형의 열쇠</a:t>
            </a:r>
          </a:p>
        </p:txBody>
      </p:sp>
      <p:sp>
        <p:nvSpPr>
          <p:cNvPr id="22" name="Text 22"/>
          <p:cNvSpPr/>
          <p:nvPr/>
        </p:nvSpPr>
        <p:spPr>
          <a:xfrm>
            <a:off x="8662989" y="2857500"/>
            <a:ext cx="40005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A29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→</a:t>
            </a:r>
          </a:p>
        </p:txBody>
      </p:sp>
      <p:sp>
        <p:nvSpPr>
          <p:cNvPr id="23" name="Shape 23"/>
          <p:cNvSpPr/>
          <p:nvPr/>
        </p:nvSpPr>
        <p:spPr>
          <a:xfrm>
            <a:off x="9063039" y="2857500"/>
            <a:ext cx="2366963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Text 24"/>
          <p:cNvSpPr/>
          <p:nvPr/>
        </p:nvSpPr>
        <p:spPr>
          <a:xfrm>
            <a:off x="9063039" y="3048000"/>
            <a:ext cx="2366963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spc="12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4</a:t>
            </a:r>
          </a:p>
        </p:txBody>
      </p:sp>
      <p:sp>
        <p:nvSpPr>
          <p:cNvPr id="25" name="Text 25"/>
          <p:cNvSpPr/>
          <p:nvPr/>
        </p:nvSpPr>
        <p:spPr>
          <a:xfrm>
            <a:off x="9063039" y="3257550"/>
            <a:ext cx="2366963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대입</a:t>
            </a:r>
          </a:p>
        </p:txBody>
      </p:sp>
      <p:sp>
        <p:nvSpPr>
          <p:cNvPr id="26" name="Text 26"/>
          <p:cNvSpPr/>
          <p:nvPr/>
        </p:nvSpPr>
        <p:spPr>
          <a:xfrm>
            <a:off x="9063039" y="3790950"/>
            <a:ext cx="2366963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운에 적용</a:t>
            </a:r>
          </a:p>
        </p:txBody>
      </p:sp>
      <p:sp>
        <p:nvSpPr>
          <p:cNvPr id="27" name="Shape 27"/>
          <p:cNvSpPr/>
          <p:nvPr/>
        </p:nvSpPr>
        <p:spPr>
          <a:xfrm>
            <a:off x="762000" y="4724400"/>
            <a:ext cx="10668000" cy="1219200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8" name="Text 28"/>
          <p:cNvSpPr/>
          <p:nvPr/>
        </p:nvSpPr>
        <p:spPr>
          <a:xfrm>
            <a:off x="1066800" y="4724400"/>
            <a:ext cx="15240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왜 순서인가</a:t>
            </a:r>
          </a:p>
        </p:txBody>
      </p:sp>
      <p:sp>
        <p:nvSpPr>
          <p:cNvPr id="29" name="Text 29"/>
          <p:cNvSpPr/>
          <p:nvPr/>
        </p:nvSpPr>
        <p:spPr>
          <a:xfrm>
            <a:off x="2590800" y="4724400"/>
            <a:ext cx="85344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사주는 정보가 많아 아무 데나 보면 길을 잃습니다.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주인공(일간)부터 정하고 → 계절(월지) → 힘(신강신약) → 열쇠(용신) 순으로 좁혀가면 반드시 답이 나옵니다.</a:t>
            </a:r>
          </a:p>
        </p:txBody>
      </p:sp>
      <p:sp>
        <p:nvSpPr>
          <p:cNvPr id="30" name="Shape 30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31" name="Text 31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32" name="Text 32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05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429750" y="2857500"/>
            <a:ext cx="3619500" cy="3619500"/>
          </a:xfrm>
          <a:prstGeom prst="ellipse">
            <a:avLst/>
          </a:prstGeom>
          <a:solidFill>
            <a:srgbClr val="A7E5D3">
              <a:alpha val="16000"/>
            </a:srgbClr>
          </a:solidFill>
          <a:ln/>
        </p:spPr>
      </p:sp>
      <p:sp>
        <p:nvSpPr>
          <p:cNvPr id="3" name="Shape 3"/>
          <p:cNvSpPr/>
          <p:nvPr/>
        </p:nvSpPr>
        <p:spPr>
          <a:xfrm>
            <a:off x="1428750" y="3429000"/>
            <a:ext cx="3429000" cy="3429000"/>
          </a:xfrm>
          <a:prstGeom prst="ellipse">
            <a:avLst/>
          </a:prstGeom>
          <a:solidFill>
            <a:srgbClr val="A7E5D3">
              <a:alpha val="18000"/>
            </a:srgbClr>
          </a:solidFill>
          <a:ln/>
        </p:spPr>
      </p:sp>
      <p:sp>
        <p:nvSpPr>
          <p:cNvPr id="4" name="Text 4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수수 사주교육</a:t>
            </a:r>
          </a:p>
        </p:txBody>
      </p:sp>
      <p:sp>
        <p:nvSpPr>
          <p:cNvPr id="5" name="Text 5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01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2381250"/>
            <a:ext cx="5715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spc="5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01</a:t>
            </a:r>
          </a:p>
        </p:txBody>
      </p:sp>
      <p:sp>
        <p:nvSpPr>
          <p:cNvPr id="7" name="Text 7"/>
          <p:cNvSpPr/>
          <p:nvPr/>
        </p:nvSpPr>
        <p:spPr>
          <a:xfrm>
            <a:off x="723900" y="2724150"/>
            <a:ext cx="10668000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800" kern="0" spc="-1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일간과 월지</a:t>
            </a:r>
          </a:p>
        </p:txBody>
      </p:sp>
      <p:sp>
        <p:nvSpPr>
          <p:cNvPr id="8" name="Text 8"/>
          <p:cNvSpPr/>
          <p:nvPr/>
        </p:nvSpPr>
        <p:spPr>
          <a:xfrm>
            <a:off x="762000" y="3733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spc="200" dirty="0">
                <a:solidFill>
                  <a:srgbClr val="A8A29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THE SELF &amp; THE SEASON</a:t>
            </a:r>
          </a:p>
        </p:txBody>
      </p:sp>
      <p:sp>
        <p:nvSpPr>
          <p:cNvPr id="9" name="Text 9"/>
          <p:cNvSpPr/>
          <p:nvPr/>
        </p:nvSpPr>
        <p:spPr>
          <a:xfrm>
            <a:off x="762000" y="4191000"/>
            <a:ext cx="83820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먼저 “주인공(일간)”을 정하고, 그 주인공이 “어느 계절(월지)”에 태어났는지를 봅니다. 모든 해석의 출발점입니다.</a:t>
            </a:r>
          </a:p>
        </p:txBody>
      </p:sp>
      <p:sp>
        <p:nvSpPr>
          <p:cNvPr id="10" name="Shape 10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11" name="Text 11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12" name="Text 12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06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048750" y="3238500"/>
            <a:ext cx="3810000" cy="3810000"/>
          </a:xfrm>
          <a:prstGeom prst="ellipse">
            <a:avLst/>
          </a:prstGeom>
          <a:solidFill>
            <a:srgbClr val="C8B8E0">
              <a:alpha val="16000"/>
            </a:srgbClr>
          </a:solidFill>
          <a:ln/>
        </p:spPr>
      </p:sp>
      <p:sp>
        <p:nvSpPr>
          <p:cNvPr id="3" name="Shape 3"/>
          <p:cNvSpPr/>
          <p:nvPr/>
        </p:nvSpPr>
        <p:spPr>
          <a:xfrm>
            <a:off x="-762000" y="4572000"/>
            <a:ext cx="3048000" cy="3048000"/>
          </a:xfrm>
          <a:prstGeom prst="ellipse">
            <a:avLst/>
          </a:prstGeom>
          <a:solidFill>
            <a:srgbClr val="F4C5A8">
              <a:alpha val="14000"/>
            </a:srgbClr>
          </a:solidFill>
          <a:ln/>
        </p:spPr>
      </p:sp>
      <p:sp>
        <p:nvSpPr>
          <p:cNvPr id="4" name="Text 4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수수 사주교육</a:t>
            </a:r>
          </a:p>
        </p:txBody>
      </p:sp>
      <p:sp>
        <p:nvSpPr>
          <p:cNvPr id="5" name="Text 5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1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1 · 일간과 월지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일간(日干) — 나의 본질</a:t>
            </a:r>
          </a:p>
        </p:txBody>
      </p:sp>
      <p:sp>
        <p:nvSpPr>
          <p:cNvPr id="8" name="Text 8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사주의 주인공, 태어난 날의 천간</a:t>
            </a:r>
          </a:p>
        </p:txBody>
      </p:sp>
      <p:sp>
        <p:nvSpPr>
          <p:cNvPr id="9" name="Shape 9"/>
          <p:cNvSpPr/>
          <p:nvPr/>
        </p:nvSpPr>
        <p:spPr>
          <a:xfrm>
            <a:off x="762000" y="2743200"/>
            <a:ext cx="34036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Text 10"/>
          <p:cNvSpPr/>
          <p:nvPr/>
        </p:nvSpPr>
        <p:spPr>
          <a:xfrm>
            <a:off x="1047750" y="3312086"/>
            <a:ext cx="2832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WHO</a:t>
            </a:r>
          </a:p>
        </p:txBody>
      </p:sp>
      <p:sp>
        <p:nvSpPr>
          <p:cNvPr id="11" name="Text 11"/>
          <p:cNvSpPr/>
          <p:nvPr/>
        </p:nvSpPr>
        <p:spPr>
          <a:xfrm>
            <a:off x="1047750" y="3559736"/>
            <a:ext cx="28321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일간 = 나</a:t>
            </a:r>
          </a:p>
        </p:txBody>
      </p:sp>
      <p:sp>
        <p:nvSpPr>
          <p:cNvPr id="12" name="Text 12"/>
          <p:cNvSpPr/>
          <p:nvPr/>
        </p:nvSpPr>
        <p:spPr>
          <a:xfrm>
            <a:off x="1047750" y="3893576"/>
            <a:ext cx="2832100" cy="6429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기둥 중 “일주”의 위 글자. 나의 성격과 기질이 시작되는 자리입니다.</a:t>
            </a:r>
          </a:p>
        </p:txBody>
      </p:sp>
      <p:sp>
        <p:nvSpPr>
          <p:cNvPr id="13" name="Shape 13"/>
          <p:cNvSpPr/>
          <p:nvPr/>
        </p:nvSpPr>
        <p:spPr>
          <a:xfrm>
            <a:off x="4394200" y="2743200"/>
            <a:ext cx="34036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Text 14"/>
          <p:cNvSpPr/>
          <p:nvPr/>
        </p:nvSpPr>
        <p:spPr>
          <a:xfrm>
            <a:off x="4679950" y="3312086"/>
            <a:ext cx="2832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10천간</a:t>
            </a:r>
          </a:p>
        </p:txBody>
      </p:sp>
      <p:sp>
        <p:nvSpPr>
          <p:cNvPr id="15" name="Text 15"/>
          <p:cNvSpPr/>
          <p:nvPr/>
        </p:nvSpPr>
        <p:spPr>
          <a:xfrm>
            <a:off x="4679950" y="3559736"/>
            <a:ext cx="28321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열 개의 성향</a:t>
            </a:r>
          </a:p>
        </p:txBody>
      </p:sp>
      <p:sp>
        <p:nvSpPr>
          <p:cNvPr id="16" name="Text 16"/>
          <p:cNvSpPr/>
          <p:nvPr/>
        </p:nvSpPr>
        <p:spPr>
          <a:xfrm>
            <a:off x="4679950" y="3893576"/>
            <a:ext cx="2832100" cy="6429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甲乙丙丁戊己庚辛壬癸 — 저마다 다른 성향과 오행을 지닌 열 가지 주인공.</a:t>
            </a:r>
          </a:p>
        </p:txBody>
      </p:sp>
      <p:sp>
        <p:nvSpPr>
          <p:cNvPr id="17" name="Shape 17"/>
          <p:cNvSpPr/>
          <p:nvPr/>
        </p:nvSpPr>
        <p:spPr>
          <a:xfrm>
            <a:off x="8026400" y="2743200"/>
            <a:ext cx="34036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Text 18"/>
          <p:cNvSpPr/>
          <p:nvPr/>
        </p:nvSpPr>
        <p:spPr>
          <a:xfrm>
            <a:off x="8312150" y="3312086"/>
            <a:ext cx="2832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기준점</a:t>
            </a:r>
          </a:p>
        </p:txBody>
      </p:sp>
      <p:sp>
        <p:nvSpPr>
          <p:cNvPr id="19" name="Text 19"/>
          <p:cNvSpPr/>
          <p:nvPr/>
        </p:nvSpPr>
        <p:spPr>
          <a:xfrm>
            <a:off x="8312150" y="3559736"/>
            <a:ext cx="28321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모든 해석의 축</a:t>
            </a:r>
          </a:p>
        </p:txBody>
      </p:sp>
      <p:sp>
        <p:nvSpPr>
          <p:cNvPr id="20" name="Text 20"/>
          <p:cNvSpPr/>
          <p:nvPr/>
        </p:nvSpPr>
        <p:spPr>
          <a:xfrm>
            <a:off x="8312150" y="3893576"/>
            <a:ext cx="2832100" cy="6429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신강·신약, 용신, 십성 — 사주의 모든 판단이 이 일간을 기준으로 정해집니다.</a:t>
            </a:r>
          </a:p>
        </p:txBody>
      </p:sp>
      <p:sp>
        <p:nvSpPr>
          <p:cNvPr id="21" name="Shape 21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Text 22"/>
          <p:cNvSpPr/>
          <p:nvPr/>
        </p:nvSpPr>
        <p:spPr>
          <a:xfrm>
            <a:off x="1066800" y="5334000"/>
            <a:ext cx="1524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1-a</a:t>
            </a:r>
          </a:p>
        </p:txBody>
      </p:sp>
      <p:sp>
        <p:nvSpPr>
          <p:cNvPr id="23" name="Text 23"/>
          <p:cNvSpPr/>
          <p:nvPr/>
        </p:nvSpPr>
        <p:spPr>
          <a:xfrm>
            <a:off x="2590800" y="5334000"/>
            <a:ext cx="8534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먼저 일간을 찾는다 — “이 사주의 주인공은 누구인가”를 정하는 일.</a:t>
            </a:r>
          </a:p>
        </p:txBody>
      </p:sp>
      <p:sp>
        <p:nvSpPr>
          <p:cNvPr id="24" name="Shape 24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5" name="Text 25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26" name="Text 26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07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620250" y="2667000"/>
            <a:ext cx="3429000" cy="3429000"/>
          </a:xfrm>
          <a:prstGeom prst="ellipse">
            <a:avLst/>
          </a:prstGeom>
          <a:solidFill>
            <a:srgbClr val="A8C8E8">
              <a:alpha val="16000"/>
            </a:srgbClr>
          </a:solidFill>
          <a:ln/>
        </p:spPr>
      </p:sp>
      <p:sp>
        <p:nvSpPr>
          <p:cNvPr id="3" name="Text 3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수수 사주교육</a:t>
            </a:r>
          </a:p>
        </p:txBody>
      </p:sp>
      <p:sp>
        <p:nvSpPr>
          <p:cNvPr id="4" name="Text 4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1</a:t>
            </a:r>
          </a:p>
        </p:txBody>
      </p:sp>
      <p:sp>
        <p:nvSpPr>
          <p:cNvPr id="5" name="Text 5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1 · 일간과 월지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월지(月支) — 태어난 계절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조후와 격국의 뿌리</a:t>
            </a:r>
          </a:p>
        </p:txBody>
      </p:sp>
      <p:sp>
        <p:nvSpPr>
          <p:cNvPr id="8" name="Shape 8"/>
          <p:cNvSpPr/>
          <p:nvPr/>
        </p:nvSpPr>
        <p:spPr>
          <a:xfrm>
            <a:off x="762000" y="2743200"/>
            <a:ext cx="34036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9"/>
          <p:cNvSpPr/>
          <p:nvPr/>
        </p:nvSpPr>
        <p:spPr>
          <a:xfrm>
            <a:off x="1047750" y="3312086"/>
            <a:ext cx="2832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가장 힘센 자리</a:t>
            </a:r>
          </a:p>
        </p:txBody>
      </p:sp>
      <p:sp>
        <p:nvSpPr>
          <p:cNvPr id="10" name="Text 10"/>
          <p:cNvSpPr/>
          <p:nvPr/>
        </p:nvSpPr>
        <p:spPr>
          <a:xfrm>
            <a:off x="1047750" y="3559736"/>
            <a:ext cx="28321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계절의 지배</a:t>
            </a:r>
          </a:p>
        </p:txBody>
      </p:sp>
      <p:sp>
        <p:nvSpPr>
          <p:cNvPr id="11" name="Text 11"/>
          <p:cNvSpPr/>
          <p:nvPr/>
        </p:nvSpPr>
        <p:spPr>
          <a:xfrm>
            <a:off x="1047750" y="3893576"/>
            <a:ext cx="2832100" cy="6429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월지는 여덟 글자 중 영향력이 제일 큽니다. 계절의 기운이 원국 전체를 물들입니다.</a:t>
            </a:r>
          </a:p>
        </p:txBody>
      </p:sp>
      <p:sp>
        <p:nvSpPr>
          <p:cNvPr id="12" name="Shape 12"/>
          <p:cNvSpPr/>
          <p:nvPr/>
        </p:nvSpPr>
        <p:spPr>
          <a:xfrm>
            <a:off x="4394200" y="2743200"/>
            <a:ext cx="34036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3"/>
          <p:cNvSpPr/>
          <p:nvPr/>
        </p:nvSpPr>
        <p:spPr>
          <a:xfrm>
            <a:off x="4679950" y="3312086"/>
            <a:ext cx="2832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조후 調候</a:t>
            </a:r>
          </a:p>
        </p:txBody>
      </p:sp>
      <p:sp>
        <p:nvSpPr>
          <p:cNvPr id="14" name="Text 14"/>
          <p:cNvSpPr/>
          <p:nvPr/>
        </p:nvSpPr>
        <p:spPr>
          <a:xfrm>
            <a:off x="4679950" y="3559736"/>
            <a:ext cx="28321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춥고 더움</a:t>
            </a:r>
          </a:p>
        </p:txBody>
      </p:sp>
      <p:sp>
        <p:nvSpPr>
          <p:cNvPr id="15" name="Text 15"/>
          <p:cNvSpPr/>
          <p:nvPr/>
        </p:nvSpPr>
        <p:spPr>
          <a:xfrm>
            <a:off x="4679950" y="3893576"/>
            <a:ext cx="2832100" cy="6429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월지로 사주의 온도를 봅니다. 추우면 火, 더우면 水가 필요해집니다.</a:t>
            </a:r>
          </a:p>
        </p:txBody>
      </p:sp>
      <p:sp>
        <p:nvSpPr>
          <p:cNvPr id="16" name="Shape 16"/>
          <p:cNvSpPr/>
          <p:nvPr/>
        </p:nvSpPr>
        <p:spPr>
          <a:xfrm>
            <a:off x="8026400" y="2743200"/>
            <a:ext cx="34036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7"/>
          <p:cNvSpPr/>
          <p:nvPr/>
        </p:nvSpPr>
        <p:spPr>
          <a:xfrm>
            <a:off x="8312150" y="3312086"/>
            <a:ext cx="2832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격국 格局</a:t>
            </a:r>
          </a:p>
        </p:txBody>
      </p:sp>
      <p:sp>
        <p:nvSpPr>
          <p:cNvPr id="18" name="Text 18"/>
          <p:cNvSpPr/>
          <p:nvPr/>
        </p:nvSpPr>
        <p:spPr>
          <a:xfrm>
            <a:off x="8312150" y="3559736"/>
            <a:ext cx="28321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그릇의 골격</a:t>
            </a:r>
          </a:p>
        </p:txBody>
      </p:sp>
      <p:sp>
        <p:nvSpPr>
          <p:cNvPr id="19" name="Text 19"/>
          <p:cNvSpPr/>
          <p:nvPr/>
        </p:nvSpPr>
        <p:spPr>
          <a:xfrm>
            <a:off x="8312150" y="3893576"/>
            <a:ext cx="2832100" cy="6429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월지를 중심으로 사주의 큰 골격, 곧 “직업적 그릇”을 잡습니다.</a:t>
            </a:r>
          </a:p>
        </p:txBody>
      </p:sp>
      <p:sp>
        <p:nvSpPr>
          <p:cNvPr id="20" name="Shape 20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Text 21"/>
          <p:cNvSpPr/>
          <p:nvPr/>
        </p:nvSpPr>
        <p:spPr>
          <a:xfrm>
            <a:off x="1066800" y="5334000"/>
            <a:ext cx="1524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1-b</a:t>
            </a:r>
          </a:p>
        </p:txBody>
      </p:sp>
      <p:sp>
        <p:nvSpPr>
          <p:cNvPr id="22" name="Text 22"/>
          <p:cNvSpPr/>
          <p:nvPr/>
        </p:nvSpPr>
        <p:spPr>
          <a:xfrm>
            <a:off x="2590800" y="5334000"/>
            <a:ext cx="8534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일간을 찾았으면 월지를 본다 — “나는 어느 계절에 태어난 무엇인가.”</a:t>
            </a:r>
          </a:p>
        </p:txBody>
      </p:sp>
      <p:sp>
        <p:nvSpPr>
          <p:cNvPr id="23" name="Shape 23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4" name="Text 24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25" name="Text 25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08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620250" y="3238500"/>
            <a:ext cx="3429000" cy="3429000"/>
          </a:xfrm>
          <a:prstGeom prst="ellipse">
            <a:avLst/>
          </a:prstGeom>
          <a:solidFill>
            <a:srgbClr val="E8B8C4">
              <a:alpha val="15000"/>
            </a:srgbClr>
          </a:solidFill>
          <a:ln/>
        </p:spPr>
      </p:sp>
      <p:sp>
        <p:nvSpPr>
          <p:cNvPr id="3" name="Text 3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수수 사주교육</a:t>
            </a:r>
          </a:p>
        </p:txBody>
      </p:sp>
      <p:sp>
        <p:nvSpPr>
          <p:cNvPr id="4" name="Text 4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1</a:t>
            </a:r>
          </a:p>
        </p:txBody>
      </p:sp>
      <p:sp>
        <p:nvSpPr>
          <p:cNvPr id="5" name="Text 5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1 · 일간과 월지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조후 — 계절의 균형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추우면 데우고, 더우면 식힌다</a:t>
            </a:r>
          </a:p>
        </p:txBody>
      </p:sp>
      <p:sp>
        <p:nvSpPr>
          <p:cNvPr id="8" name="Shape 8"/>
          <p:cNvSpPr/>
          <p:nvPr/>
        </p:nvSpPr>
        <p:spPr>
          <a:xfrm>
            <a:off x="762000" y="2857500"/>
            <a:ext cx="3289300" cy="1524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9"/>
          <p:cNvSpPr/>
          <p:nvPr/>
        </p:nvSpPr>
        <p:spPr>
          <a:xfrm>
            <a:off x="762000" y="3048000"/>
            <a:ext cx="32893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spc="12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계절</a:t>
            </a:r>
          </a:p>
        </p:txBody>
      </p:sp>
      <p:sp>
        <p:nvSpPr>
          <p:cNvPr id="10" name="Text 10"/>
          <p:cNvSpPr/>
          <p:nvPr/>
        </p:nvSpPr>
        <p:spPr>
          <a:xfrm>
            <a:off x="762000" y="3257550"/>
            <a:ext cx="32893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한겨울</a:t>
            </a:r>
          </a:p>
        </p:txBody>
      </p:sp>
      <p:sp>
        <p:nvSpPr>
          <p:cNvPr id="11" name="Text 11"/>
          <p:cNvSpPr/>
          <p:nvPr/>
        </p:nvSpPr>
        <p:spPr>
          <a:xfrm>
            <a:off x="762000" y="3790950"/>
            <a:ext cx="32893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丑월생</a:t>
            </a:r>
          </a:p>
        </p:txBody>
      </p:sp>
      <p:sp>
        <p:nvSpPr>
          <p:cNvPr id="12" name="Text 12"/>
          <p:cNvSpPr/>
          <p:nvPr/>
        </p:nvSpPr>
        <p:spPr>
          <a:xfrm>
            <a:off x="4051300" y="2857500"/>
            <a:ext cx="400050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A29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→</a:t>
            </a:r>
          </a:p>
        </p:txBody>
      </p:sp>
      <p:sp>
        <p:nvSpPr>
          <p:cNvPr id="13" name="Shape 13"/>
          <p:cNvSpPr/>
          <p:nvPr/>
        </p:nvSpPr>
        <p:spPr>
          <a:xfrm>
            <a:off x="4451350" y="2857500"/>
            <a:ext cx="3289300" cy="1524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Text 14"/>
          <p:cNvSpPr/>
          <p:nvPr/>
        </p:nvSpPr>
        <p:spPr>
          <a:xfrm>
            <a:off x="4451350" y="3048000"/>
            <a:ext cx="32893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spc="12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일간</a:t>
            </a:r>
          </a:p>
        </p:txBody>
      </p:sp>
      <p:sp>
        <p:nvSpPr>
          <p:cNvPr id="15" name="Text 15"/>
          <p:cNvSpPr/>
          <p:nvPr/>
        </p:nvSpPr>
        <p:spPr>
          <a:xfrm>
            <a:off x="4451350" y="3257550"/>
            <a:ext cx="32893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丁火</a:t>
            </a:r>
          </a:p>
        </p:txBody>
      </p:sp>
      <p:sp>
        <p:nvSpPr>
          <p:cNvPr id="16" name="Text 16"/>
          <p:cNvSpPr/>
          <p:nvPr/>
        </p:nvSpPr>
        <p:spPr>
          <a:xfrm>
            <a:off x="4451350" y="3790950"/>
            <a:ext cx="32893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촛불</a:t>
            </a:r>
          </a:p>
        </p:txBody>
      </p:sp>
      <p:sp>
        <p:nvSpPr>
          <p:cNvPr id="17" name="Text 17"/>
          <p:cNvSpPr/>
          <p:nvPr/>
        </p:nvSpPr>
        <p:spPr>
          <a:xfrm>
            <a:off x="7740650" y="2857500"/>
            <a:ext cx="400050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A29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→</a:t>
            </a:r>
          </a:p>
        </p:txBody>
      </p:sp>
      <p:sp>
        <p:nvSpPr>
          <p:cNvPr id="18" name="Shape 18"/>
          <p:cNvSpPr/>
          <p:nvPr/>
        </p:nvSpPr>
        <p:spPr>
          <a:xfrm>
            <a:off x="8140700" y="2857500"/>
            <a:ext cx="3289300" cy="1524000"/>
          </a:xfrm>
          <a:prstGeom prst="roundRect">
            <a:avLst>
              <a:gd name="adj" fmla="val 9000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Text 19"/>
          <p:cNvSpPr/>
          <p:nvPr/>
        </p:nvSpPr>
        <p:spPr>
          <a:xfrm>
            <a:off x="8140700" y="3048000"/>
            <a:ext cx="32893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spc="12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필요</a:t>
            </a:r>
          </a:p>
        </p:txBody>
      </p:sp>
      <p:sp>
        <p:nvSpPr>
          <p:cNvPr id="20" name="Text 20"/>
          <p:cNvSpPr/>
          <p:nvPr/>
        </p:nvSpPr>
        <p:spPr>
          <a:xfrm>
            <a:off x="8140700" y="3257550"/>
            <a:ext cx="32893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木·火</a:t>
            </a:r>
          </a:p>
        </p:txBody>
      </p:sp>
      <p:sp>
        <p:nvSpPr>
          <p:cNvPr id="21" name="Text 21"/>
          <p:cNvSpPr/>
          <p:nvPr/>
        </p:nvSpPr>
        <p:spPr>
          <a:xfrm>
            <a:off x="8140700" y="3790950"/>
            <a:ext cx="32893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온기 보충</a:t>
            </a:r>
          </a:p>
        </p:txBody>
      </p:sp>
      <p:sp>
        <p:nvSpPr>
          <p:cNvPr id="22" name="Shape 22"/>
          <p:cNvSpPr/>
          <p:nvPr/>
        </p:nvSpPr>
        <p:spPr>
          <a:xfrm>
            <a:off x="762000" y="4648200"/>
            <a:ext cx="10668000" cy="1143000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Text 23"/>
          <p:cNvSpPr/>
          <p:nvPr/>
        </p:nvSpPr>
        <p:spPr>
          <a:xfrm>
            <a:off x="1066800" y="4648200"/>
            <a:ext cx="1371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조후란</a:t>
            </a:r>
          </a:p>
        </p:txBody>
      </p:sp>
      <p:sp>
        <p:nvSpPr>
          <p:cNvPr id="24" name="Text 24"/>
          <p:cNvSpPr/>
          <p:nvPr/>
        </p:nvSpPr>
        <p:spPr>
          <a:xfrm>
            <a:off x="2438400" y="4648200"/>
            <a:ext cx="8686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한겨울에 태어난 작은 촛불(丁火)은 춥습니다 → 따뜻한 나무(木)·불(火)이 필요하겠구나!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이렇게 계절의 온도를 맞추는 관점이 “조후”. 용신을 잡는 중요한 단서가 됩니다.</a:t>
            </a:r>
          </a:p>
        </p:txBody>
      </p:sp>
      <p:sp>
        <p:nvSpPr>
          <p:cNvPr id="25" name="Shape 25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6" name="Text 26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27" name="Text 27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09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429750" y="2857500"/>
            <a:ext cx="3619500" cy="3619500"/>
          </a:xfrm>
          <a:prstGeom prst="ellipse">
            <a:avLst/>
          </a:prstGeom>
          <a:solidFill>
            <a:srgbClr val="A7E5D3">
              <a:alpha val="16000"/>
            </a:srgbClr>
          </a:solidFill>
          <a:ln/>
        </p:spPr>
      </p:sp>
      <p:sp>
        <p:nvSpPr>
          <p:cNvPr id="3" name="Text 3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수수 사주교육</a:t>
            </a:r>
          </a:p>
        </p:txBody>
      </p:sp>
      <p:sp>
        <p:nvSpPr>
          <p:cNvPr id="4" name="Text 4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1 · 실습</a:t>
            </a:r>
          </a:p>
        </p:txBody>
      </p:sp>
      <p:sp>
        <p:nvSpPr>
          <p:cNvPr id="5" name="Text 5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1 · 실습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실습 ① 내 일간과 월지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신민규 님 명식 (양력 1999.9.5 9시경)</a:t>
            </a:r>
          </a:p>
        </p:txBody>
      </p:sp>
      <p:sp>
        <p:nvSpPr>
          <p:cNvPr id="8" name="Shape 8"/>
          <p:cNvSpPr/>
          <p:nvPr/>
        </p:nvSpPr>
        <p:spPr>
          <a:xfrm>
            <a:off x="762000" y="2743200"/>
            <a:ext cx="5219700" cy="2209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9"/>
          <p:cNvSpPr/>
          <p:nvPr/>
        </p:nvSpPr>
        <p:spPr>
          <a:xfrm>
            <a:off x="1047750" y="3047767"/>
            <a:ext cx="685800" cy="685800"/>
          </a:xfrm>
          <a:prstGeom prst="ellipse">
            <a:avLst/>
          </a:prstGeom>
          <a:solidFill>
            <a:srgbClr val="C8B8E0">
              <a:alpha val="85000"/>
            </a:srgbClr>
          </a:solidFill>
          <a:ln/>
        </p:spPr>
      </p:sp>
      <p:sp>
        <p:nvSpPr>
          <p:cNvPr id="10" name="Text 10"/>
          <p:cNvSpPr/>
          <p:nvPr/>
        </p:nvSpPr>
        <p:spPr>
          <a:xfrm>
            <a:off x="1047750" y="3047767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庚</a:t>
            </a:r>
          </a:p>
        </p:txBody>
      </p:sp>
      <p:sp>
        <p:nvSpPr>
          <p:cNvPr id="11" name="Text 11"/>
          <p:cNvSpPr/>
          <p:nvPr/>
        </p:nvSpPr>
        <p:spPr>
          <a:xfrm>
            <a:off x="1047750" y="3885967"/>
            <a:ext cx="46482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일간 庚金 — 원석·도끼</a:t>
            </a:r>
          </a:p>
        </p:txBody>
      </p:sp>
      <p:sp>
        <p:nvSpPr>
          <p:cNvPr id="12" name="Text 12"/>
          <p:cNvSpPr/>
          <p:nvPr/>
        </p:nvSpPr>
        <p:spPr>
          <a:xfrm>
            <a:off x="1047750" y="4219807"/>
            <a:ext cx="4648200" cy="4286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다듬어지지 않은 강철. 의리 있고 결단력이 강한 강단형. 이 사주의 주인공입니다.</a:t>
            </a:r>
          </a:p>
        </p:txBody>
      </p:sp>
      <p:sp>
        <p:nvSpPr>
          <p:cNvPr id="13" name="Shape 13"/>
          <p:cNvSpPr/>
          <p:nvPr/>
        </p:nvSpPr>
        <p:spPr>
          <a:xfrm>
            <a:off x="6210300" y="2743200"/>
            <a:ext cx="5219700" cy="2209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4"/>
          <p:cNvSpPr/>
          <p:nvPr/>
        </p:nvSpPr>
        <p:spPr>
          <a:xfrm>
            <a:off x="6496050" y="3047767"/>
            <a:ext cx="685800" cy="685800"/>
          </a:xfrm>
          <a:prstGeom prst="ellipse">
            <a:avLst/>
          </a:prstGeom>
          <a:solidFill>
            <a:srgbClr val="A8C8E8">
              <a:alpha val="85000"/>
            </a:srgbClr>
          </a:solidFill>
          <a:ln/>
        </p:spPr>
      </p:sp>
      <p:sp>
        <p:nvSpPr>
          <p:cNvPr id="15" name="Text 15"/>
          <p:cNvSpPr/>
          <p:nvPr/>
        </p:nvSpPr>
        <p:spPr>
          <a:xfrm>
            <a:off x="6496050" y="3047767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申</a:t>
            </a:r>
          </a:p>
        </p:txBody>
      </p:sp>
      <p:sp>
        <p:nvSpPr>
          <p:cNvPr id="16" name="Text 16"/>
          <p:cNvSpPr/>
          <p:nvPr/>
        </p:nvSpPr>
        <p:spPr>
          <a:xfrm>
            <a:off x="6496050" y="3885967"/>
            <a:ext cx="46482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월지 申 — 초가을</a:t>
            </a:r>
          </a:p>
        </p:txBody>
      </p:sp>
      <p:sp>
        <p:nvSpPr>
          <p:cNvPr id="17" name="Text 17"/>
          <p:cNvSpPr/>
          <p:nvPr/>
        </p:nvSpPr>
        <p:spPr>
          <a:xfrm>
            <a:off x="6496050" y="4219807"/>
            <a:ext cx="4648200" cy="4286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결실이 시작되는 초가을생. 거두고 정리하는 기운을 타고났습니다. (금 기운이 센 계절)</a:t>
            </a:r>
          </a:p>
        </p:txBody>
      </p:sp>
      <p:sp>
        <p:nvSpPr>
          <p:cNvPr id="18" name="Shape 18"/>
          <p:cNvSpPr/>
          <p:nvPr/>
        </p:nvSpPr>
        <p:spPr>
          <a:xfrm>
            <a:off x="762000" y="5105400"/>
            <a:ext cx="10668000" cy="990600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Text 19"/>
          <p:cNvSpPr/>
          <p:nvPr/>
        </p:nvSpPr>
        <p:spPr>
          <a:xfrm>
            <a:off x="1066800" y="5105400"/>
            <a:ext cx="1524000" cy="990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1차 판단</a:t>
            </a:r>
          </a:p>
        </p:txBody>
      </p:sp>
      <p:sp>
        <p:nvSpPr>
          <p:cNvPr id="20" name="Text 20"/>
          <p:cNvSpPr/>
          <p:nvPr/>
        </p:nvSpPr>
        <p:spPr>
          <a:xfrm>
            <a:off x="2590800" y="5105400"/>
            <a:ext cx="8534400" cy="990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원석 같은 庚金이, 금 기운까지 센 초가을에 태어났습니다.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단단한데 계절이 금을 더 보태는 그림 → “신강”이 예상됩니다.</a:t>
            </a:r>
          </a:p>
        </p:txBody>
      </p:sp>
      <p:sp>
        <p:nvSpPr>
          <p:cNvPr id="21" name="Shape 21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2" name="Text 22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23" name="Text 23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620250" y="2667000"/>
            <a:ext cx="3429000" cy="3429000"/>
          </a:xfrm>
          <a:prstGeom prst="ellipse">
            <a:avLst/>
          </a:prstGeom>
          <a:solidFill>
            <a:srgbClr val="A8C8E8">
              <a:alpha val="16000"/>
            </a:srgbClr>
          </a:solidFill>
          <a:ln/>
        </p:spPr>
      </p:sp>
      <p:sp>
        <p:nvSpPr>
          <p:cNvPr id="3" name="Shape 3"/>
          <p:cNvSpPr/>
          <p:nvPr/>
        </p:nvSpPr>
        <p:spPr>
          <a:xfrm>
            <a:off x="1428750" y="3429000"/>
            <a:ext cx="3429000" cy="3429000"/>
          </a:xfrm>
          <a:prstGeom prst="ellipse">
            <a:avLst/>
          </a:prstGeom>
          <a:solidFill>
            <a:srgbClr val="A8C8E8">
              <a:alpha val="16000"/>
            </a:srgbClr>
          </a:solidFill>
          <a:ln/>
        </p:spPr>
      </p:sp>
      <p:sp>
        <p:nvSpPr>
          <p:cNvPr id="4" name="Text 4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수수 사주교육</a:t>
            </a:r>
          </a:p>
        </p:txBody>
      </p:sp>
      <p:sp>
        <p:nvSpPr>
          <p:cNvPr id="5" name="Text 5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02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2381250"/>
            <a:ext cx="5715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spc="5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02</a:t>
            </a:r>
          </a:p>
        </p:txBody>
      </p:sp>
      <p:sp>
        <p:nvSpPr>
          <p:cNvPr id="7" name="Text 7"/>
          <p:cNvSpPr/>
          <p:nvPr/>
        </p:nvSpPr>
        <p:spPr>
          <a:xfrm>
            <a:off x="723900" y="2724150"/>
            <a:ext cx="10668000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800" kern="0" spc="-1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신강과 신약</a:t>
            </a:r>
          </a:p>
        </p:txBody>
      </p:sp>
      <p:sp>
        <p:nvSpPr>
          <p:cNvPr id="8" name="Text 8"/>
          <p:cNvSpPr/>
          <p:nvPr/>
        </p:nvSpPr>
        <p:spPr>
          <a:xfrm>
            <a:off x="762000" y="3733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spc="200" dirty="0">
                <a:solidFill>
                  <a:srgbClr val="A8A29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STRONG or WEAK</a:t>
            </a:r>
          </a:p>
        </p:txBody>
      </p:sp>
      <p:sp>
        <p:nvSpPr>
          <p:cNvPr id="9" name="Text 9"/>
          <p:cNvSpPr/>
          <p:nvPr/>
        </p:nvSpPr>
        <p:spPr>
          <a:xfrm>
            <a:off x="762000" y="4191000"/>
            <a:ext cx="83820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주인공의 “힘”을 잽니다. 내 편이 많아 스스로 끌고 가는 신강인지, 도움이 필요한 신약인지 — 용신의 방향이 여기서 갈립니다.</a:t>
            </a:r>
          </a:p>
        </p:txBody>
      </p:sp>
      <p:sp>
        <p:nvSpPr>
          <p:cNvPr id="10" name="Shape 10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11" name="Text 11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12" name="Text 12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048750" y="3238500"/>
            <a:ext cx="3810000" cy="3810000"/>
          </a:xfrm>
          <a:prstGeom prst="ellipse">
            <a:avLst/>
          </a:prstGeom>
          <a:solidFill>
            <a:srgbClr val="C8B8E0">
              <a:alpha val="16000"/>
            </a:srgbClr>
          </a:solidFill>
          <a:ln/>
        </p:spPr>
      </p:sp>
      <p:sp>
        <p:nvSpPr>
          <p:cNvPr id="3" name="Shape 3"/>
          <p:cNvSpPr/>
          <p:nvPr/>
        </p:nvSpPr>
        <p:spPr>
          <a:xfrm>
            <a:off x="-762000" y="4572000"/>
            <a:ext cx="3048000" cy="3048000"/>
          </a:xfrm>
          <a:prstGeom prst="ellipse">
            <a:avLst/>
          </a:prstGeom>
          <a:solidFill>
            <a:srgbClr val="F4C5A8">
              <a:alpha val="14000"/>
            </a:srgbClr>
          </a:solidFill>
          <a:ln/>
        </p:spPr>
      </p:sp>
      <p:sp>
        <p:nvSpPr>
          <p:cNvPr id="4" name="Text 4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수수 사주교육</a:t>
            </a:r>
          </a:p>
        </p:txBody>
      </p:sp>
      <p:sp>
        <p:nvSpPr>
          <p:cNvPr id="5" name="Text 5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2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2 · 신강·신약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신강(身强)과 신약(身弱)</a:t>
            </a:r>
          </a:p>
        </p:txBody>
      </p:sp>
      <p:sp>
        <p:nvSpPr>
          <p:cNvPr id="8" name="Text 8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내 에너지가 강한가, 약한가</a:t>
            </a:r>
          </a:p>
        </p:txBody>
      </p:sp>
      <p:sp>
        <p:nvSpPr>
          <p:cNvPr id="9" name="Shape 9"/>
          <p:cNvSpPr/>
          <p:nvPr/>
        </p:nvSpPr>
        <p:spPr>
          <a:xfrm>
            <a:off x="762000" y="2743200"/>
            <a:ext cx="5181600" cy="2438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10"/>
          <p:cNvSpPr/>
          <p:nvPr/>
        </p:nvSpPr>
        <p:spPr>
          <a:xfrm>
            <a:off x="762000" y="2743200"/>
            <a:ext cx="5181600" cy="152400"/>
          </a:xfrm>
          <a:prstGeom prst="roundRect">
            <a:avLst>
              <a:gd name="adj" fmla="val 0"/>
            </a:avLst>
          </a:prstGeom>
          <a:solidFill>
            <a:srgbClr val="A7E5D3"/>
          </a:solidFill>
          <a:ln/>
        </p:spPr>
      </p:sp>
      <p:sp>
        <p:nvSpPr>
          <p:cNvPr id="11" name="Text 11"/>
          <p:cNvSpPr/>
          <p:nvPr/>
        </p:nvSpPr>
        <p:spPr>
          <a:xfrm>
            <a:off x="1104900" y="3048000"/>
            <a:ext cx="449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spc="15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身强 · 신강</a:t>
            </a:r>
          </a:p>
        </p:txBody>
      </p:sp>
      <p:sp>
        <p:nvSpPr>
          <p:cNvPr id="12" name="Text 12"/>
          <p:cNvSpPr/>
          <p:nvPr/>
        </p:nvSpPr>
        <p:spPr>
          <a:xfrm>
            <a:off x="1104900" y="3314700"/>
            <a:ext cx="449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스스로 끌고 간다</a:t>
            </a:r>
          </a:p>
        </p:txBody>
      </p:sp>
      <p:sp>
        <p:nvSpPr>
          <p:cNvPr id="13" name="Shape 13"/>
          <p:cNvSpPr/>
          <p:nvPr/>
        </p:nvSpPr>
        <p:spPr>
          <a:xfrm>
            <a:off x="1104900" y="3848100"/>
            <a:ext cx="44958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14" name="Text 14"/>
          <p:cNvSpPr/>
          <p:nvPr/>
        </p:nvSpPr>
        <p:spPr>
          <a:xfrm>
            <a:off x="1104900" y="4000500"/>
            <a:ext cx="4495800" cy="838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일간의 힘이 강하다</a:t>
            </a:r>
          </a:p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주관 뚜렷 · 추진력 · 자신감</a:t>
            </a:r>
          </a:p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단, 고집·독선으로 비칠 수 있음</a:t>
            </a:r>
          </a:p>
        </p:txBody>
      </p:sp>
      <p:sp>
        <p:nvSpPr>
          <p:cNvPr id="15" name="Shape 15"/>
          <p:cNvSpPr/>
          <p:nvPr/>
        </p:nvSpPr>
        <p:spPr>
          <a:xfrm>
            <a:off x="6248400" y="2743200"/>
            <a:ext cx="5181600" cy="2438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6"/>
          <p:cNvSpPr/>
          <p:nvPr/>
        </p:nvSpPr>
        <p:spPr>
          <a:xfrm>
            <a:off x="6248400" y="2743200"/>
            <a:ext cx="5181600" cy="152400"/>
          </a:xfrm>
          <a:prstGeom prst="roundRect">
            <a:avLst>
              <a:gd name="adj" fmla="val 0"/>
            </a:avLst>
          </a:prstGeom>
          <a:solidFill>
            <a:srgbClr val="A8C8E8"/>
          </a:solidFill>
          <a:ln/>
        </p:spPr>
      </p:sp>
      <p:sp>
        <p:nvSpPr>
          <p:cNvPr id="17" name="Text 17"/>
          <p:cNvSpPr/>
          <p:nvPr/>
        </p:nvSpPr>
        <p:spPr>
          <a:xfrm>
            <a:off x="6591300" y="3048000"/>
            <a:ext cx="449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spc="15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身弱 · 신약</a:t>
            </a:r>
          </a:p>
        </p:txBody>
      </p:sp>
      <p:sp>
        <p:nvSpPr>
          <p:cNvPr id="18" name="Text 18"/>
          <p:cNvSpPr/>
          <p:nvPr/>
        </p:nvSpPr>
        <p:spPr>
          <a:xfrm>
            <a:off x="6591300" y="3314700"/>
            <a:ext cx="449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주변 도움이 필요</a:t>
            </a:r>
          </a:p>
        </p:txBody>
      </p:sp>
      <p:sp>
        <p:nvSpPr>
          <p:cNvPr id="19" name="Shape 19"/>
          <p:cNvSpPr/>
          <p:nvPr/>
        </p:nvSpPr>
        <p:spPr>
          <a:xfrm>
            <a:off x="6591300" y="3848100"/>
            <a:ext cx="44958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0" name="Text 20"/>
          <p:cNvSpPr/>
          <p:nvPr/>
        </p:nvSpPr>
        <p:spPr>
          <a:xfrm>
            <a:off x="6591300" y="4000500"/>
            <a:ext cx="4495800" cy="838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일간의 힘이 약하다</a:t>
            </a:r>
          </a:p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유연 · 섬세 · 협조적</a:t>
            </a:r>
          </a:p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단, 줏대 없이 흔들리기 쉬움</a:t>
            </a:r>
          </a:p>
        </p:txBody>
      </p:sp>
      <p:sp>
        <p:nvSpPr>
          <p:cNvPr id="21" name="Shape 21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Text 22"/>
          <p:cNvSpPr/>
          <p:nvPr/>
        </p:nvSpPr>
        <p:spPr>
          <a:xfrm>
            <a:off x="1066800" y="5334000"/>
            <a:ext cx="1524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핵심</a:t>
            </a:r>
          </a:p>
        </p:txBody>
      </p:sp>
      <p:sp>
        <p:nvSpPr>
          <p:cNvPr id="23" name="Text 23"/>
          <p:cNvSpPr/>
          <p:nvPr/>
        </p:nvSpPr>
        <p:spPr>
          <a:xfrm>
            <a:off x="2590800" y="5334000"/>
            <a:ext cx="8534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좋고 나쁨이 아니라 “힘의 크기”. 강하면 덜어내고, 약하면 채워주는 것이 용신의 방향입니다.</a:t>
            </a:r>
          </a:p>
        </p:txBody>
      </p:sp>
      <p:sp>
        <p:nvSpPr>
          <p:cNvPr id="24" name="Shape 24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5" name="Text 25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26" name="Text 26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048750" y="3048000"/>
            <a:ext cx="3810000" cy="3810000"/>
          </a:xfrm>
          <a:prstGeom prst="ellipse">
            <a:avLst/>
          </a:prstGeom>
          <a:solidFill>
            <a:srgbClr val="F4C5A8">
              <a:alpha val="15000"/>
            </a:srgbClr>
          </a:solidFill>
          <a:ln/>
        </p:spPr>
      </p:sp>
      <p:sp>
        <p:nvSpPr>
          <p:cNvPr id="3" name="Text 3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수수 사주교육</a:t>
            </a:r>
          </a:p>
        </p:txBody>
      </p:sp>
      <p:sp>
        <p:nvSpPr>
          <p:cNvPr id="4" name="Text 4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2</a:t>
            </a:r>
          </a:p>
        </p:txBody>
      </p:sp>
      <p:sp>
        <p:nvSpPr>
          <p:cNvPr id="5" name="Text 5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2 · 신강·신약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무엇으로 판별하나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득령 · 득지 · 득세</a:t>
            </a:r>
          </a:p>
        </p:txBody>
      </p:sp>
      <p:sp>
        <p:nvSpPr>
          <p:cNvPr id="8" name="Shape 8"/>
          <p:cNvSpPr/>
          <p:nvPr/>
        </p:nvSpPr>
        <p:spPr>
          <a:xfrm>
            <a:off x="762000" y="2743200"/>
            <a:ext cx="34036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9"/>
          <p:cNvSpPr/>
          <p:nvPr/>
        </p:nvSpPr>
        <p:spPr>
          <a:xfrm>
            <a:off x="1047750" y="3312086"/>
            <a:ext cx="2832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得令 · 득령</a:t>
            </a:r>
          </a:p>
        </p:txBody>
      </p:sp>
      <p:sp>
        <p:nvSpPr>
          <p:cNvPr id="10" name="Text 10"/>
          <p:cNvSpPr/>
          <p:nvPr/>
        </p:nvSpPr>
        <p:spPr>
          <a:xfrm>
            <a:off x="1047750" y="3559736"/>
            <a:ext cx="28321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월지가 내 편?</a:t>
            </a:r>
          </a:p>
        </p:txBody>
      </p:sp>
      <p:sp>
        <p:nvSpPr>
          <p:cNvPr id="11" name="Text 11"/>
          <p:cNvSpPr/>
          <p:nvPr/>
        </p:nvSpPr>
        <p:spPr>
          <a:xfrm>
            <a:off x="1047750" y="3893576"/>
            <a:ext cx="2832100" cy="6429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계절(월지)의 기운을 얻었는가. 셋 중 비중이 가장 큰 요소입니다.</a:t>
            </a:r>
          </a:p>
        </p:txBody>
      </p:sp>
      <p:sp>
        <p:nvSpPr>
          <p:cNvPr id="12" name="Shape 12"/>
          <p:cNvSpPr/>
          <p:nvPr/>
        </p:nvSpPr>
        <p:spPr>
          <a:xfrm>
            <a:off x="4394200" y="2743200"/>
            <a:ext cx="34036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3"/>
          <p:cNvSpPr/>
          <p:nvPr/>
        </p:nvSpPr>
        <p:spPr>
          <a:xfrm>
            <a:off x="4679950" y="3312086"/>
            <a:ext cx="2832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得地 · 득지</a:t>
            </a:r>
          </a:p>
        </p:txBody>
      </p:sp>
      <p:sp>
        <p:nvSpPr>
          <p:cNvPr id="14" name="Text 14"/>
          <p:cNvSpPr/>
          <p:nvPr/>
        </p:nvSpPr>
        <p:spPr>
          <a:xfrm>
            <a:off x="4679950" y="3559736"/>
            <a:ext cx="28321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일지가 내 편?</a:t>
            </a:r>
          </a:p>
        </p:txBody>
      </p:sp>
      <p:sp>
        <p:nvSpPr>
          <p:cNvPr id="15" name="Text 15"/>
          <p:cNvSpPr/>
          <p:nvPr/>
        </p:nvSpPr>
        <p:spPr>
          <a:xfrm>
            <a:off x="4679950" y="3893576"/>
            <a:ext cx="2832100" cy="6429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발밑(일지)이 나를 받쳐주는가. 뿌리가 튼튼하면 힘이 붙습니다.</a:t>
            </a:r>
          </a:p>
        </p:txBody>
      </p:sp>
      <p:sp>
        <p:nvSpPr>
          <p:cNvPr id="16" name="Shape 16"/>
          <p:cNvSpPr/>
          <p:nvPr/>
        </p:nvSpPr>
        <p:spPr>
          <a:xfrm>
            <a:off x="8026400" y="2743200"/>
            <a:ext cx="34036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7"/>
          <p:cNvSpPr/>
          <p:nvPr/>
        </p:nvSpPr>
        <p:spPr>
          <a:xfrm>
            <a:off x="8312150" y="3312086"/>
            <a:ext cx="2832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得勢 · 득세</a:t>
            </a:r>
          </a:p>
        </p:txBody>
      </p:sp>
      <p:sp>
        <p:nvSpPr>
          <p:cNvPr id="18" name="Text 18"/>
          <p:cNvSpPr/>
          <p:nvPr/>
        </p:nvSpPr>
        <p:spPr>
          <a:xfrm>
            <a:off x="8312150" y="3559736"/>
            <a:ext cx="28321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주변이 내 편?</a:t>
            </a:r>
          </a:p>
        </p:txBody>
      </p:sp>
      <p:sp>
        <p:nvSpPr>
          <p:cNvPr id="19" name="Text 19"/>
          <p:cNvSpPr/>
          <p:nvPr/>
        </p:nvSpPr>
        <p:spPr>
          <a:xfrm>
            <a:off x="8312150" y="3893576"/>
            <a:ext cx="2832100" cy="6429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둘레에 내 편(비겁·인성)이 많은가. 세력이 많을수록 강해집니다.</a:t>
            </a:r>
          </a:p>
        </p:txBody>
      </p:sp>
      <p:sp>
        <p:nvSpPr>
          <p:cNvPr id="20" name="Shape 20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Text 21"/>
          <p:cNvSpPr/>
          <p:nvPr/>
        </p:nvSpPr>
        <p:spPr>
          <a:xfrm>
            <a:off x="1066800" y="5334000"/>
            <a:ext cx="1524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정리</a:t>
            </a:r>
          </a:p>
        </p:txBody>
      </p:sp>
      <p:sp>
        <p:nvSpPr>
          <p:cNvPr id="22" name="Text 22"/>
          <p:cNvSpPr/>
          <p:nvPr/>
        </p:nvSpPr>
        <p:spPr>
          <a:xfrm>
            <a:off x="2590800" y="5334000"/>
            <a:ext cx="8534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가지에서 내 편이 많으면 신강, 적으면 신약. 특히 “득령(월지)”의 힘이 큽니다.</a:t>
            </a:r>
          </a:p>
        </p:txBody>
      </p:sp>
      <p:sp>
        <p:nvSpPr>
          <p:cNvPr id="23" name="Shape 23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4" name="Text 24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25" name="Text 25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620250" y="3238500"/>
            <a:ext cx="3429000" cy="3429000"/>
          </a:xfrm>
          <a:prstGeom prst="ellipse">
            <a:avLst/>
          </a:prstGeom>
          <a:solidFill>
            <a:srgbClr val="E8B8C4">
              <a:alpha val="15000"/>
            </a:srgbClr>
          </a:solidFill>
          <a:ln/>
        </p:spPr>
      </p:sp>
      <p:sp>
        <p:nvSpPr>
          <p:cNvPr id="3" name="Text 3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수수 사주교육</a:t>
            </a:r>
          </a:p>
        </p:txBody>
      </p:sp>
      <p:sp>
        <p:nvSpPr>
          <p:cNvPr id="4" name="Text 4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2</a:t>
            </a:r>
          </a:p>
        </p:txBody>
      </p:sp>
      <p:sp>
        <p:nvSpPr>
          <p:cNvPr id="5" name="Text 5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2 · 신강·신약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누가 내 편인가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일간을 돕는 글자 vs 힘 빼는 글자</a:t>
            </a:r>
          </a:p>
        </p:txBody>
      </p:sp>
      <p:sp>
        <p:nvSpPr>
          <p:cNvPr id="8" name="Shape 8"/>
          <p:cNvSpPr/>
          <p:nvPr/>
        </p:nvSpPr>
        <p:spPr>
          <a:xfrm>
            <a:off x="762000" y="2743200"/>
            <a:ext cx="5181600" cy="2438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9"/>
          <p:cNvSpPr/>
          <p:nvPr/>
        </p:nvSpPr>
        <p:spPr>
          <a:xfrm>
            <a:off x="762000" y="2743200"/>
            <a:ext cx="5181600" cy="152400"/>
          </a:xfrm>
          <a:prstGeom prst="roundRect">
            <a:avLst>
              <a:gd name="adj" fmla="val 0"/>
            </a:avLst>
          </a:prstGeom>
          <a:solidFill>
            <a:srgbClr val="A7E5D3"/>
          </a:solidFill>
          <a:ln/>
        </p:spPr>
      </p:sp>
      <p:sp>
        <p:nvSpPr>
          <p:cNvPr id="10" name="Text 10"/>
          <p:cNvSpPr/>
          <p:nvPr/>
        </p:nvSpPr>
        <p:spPr>
          <a:xfrm>
            <a:off x="1104900" y="3048000"/>
            <a:ext cx="449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spc="15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내 편 · 강하게</a:t>
            </a:r>
          </a:p>
        </p:txBody>
      </p:sp>
      <p:sp>
        <p:nvSpPr>
          <p:cNvPr id="11" name="Text 11"/>
          <p:cNvSpPr/>
          <p:nvPr/>
        </p:nvSpPr>
        <p:spPr>
          <a:xfrm>
            <a:off x="1104900" y="3314700"/>
            <a:ext cx="449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비겁 · 인성</a:t>
            </a:r>
          </a:p>
        </p:txBody>
      </p:sp>
      <p:sp>
        <p:nvSpPr>
          <p:cNvPr id="12" name="Shape 12"/>
          <p:cNvSpPr/>
          <p:nvPr/>
        </p:nvSpPr>
        <p:spPr>
          <a:xfrm>
            <a:off x="1104900" y="3848100"/>
            <a:ext cx="44958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13" name="Text 13"/>
          <p:cNvSpPr/>
          <p:nvPr/>
        </p:nvSpPr>
        <p:spPr>
          <a:xfrm>
            <a:off x="1104900" y="4000500"/>
            <a:ext cx="4495800" cy="838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비겁 — 나와 같은 오행 (형제·동료)</a:t>
            </a:r>
          </a:p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인성 — 나를 낳아주는 오행 (부모·지원)</a:t>
            </a:r>
          </a:p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많을수록 → 신강</a:t>
            </a:r>
          </a:p>
        </p:txBody>
      </p:sp>
      <p:sp>
        <p:nvSpPr>
          <p:cNvPr id="14" name="Shape 14"/>
          <p:cNvSpPr/>
          <p:nvPr/>
        </p:nvSpPr>
        <p:spPr>
          <a:xfrm>
            <a:off x="6248400" y="2743200"/>
            <a:ext cx="5181600" cy="2438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5"/>
          <p:cNvSpPr/>
          <p:nvPr/>
        </p:nvSpPr>
        <p:spPr>
          <a:xfrm>
            <a:off x="6248400" y="2743200"/>
            <a:ext cx="5181600" cy="152400"/>
          </a:xfrm>
          <a:prstGeom prst="roundRect">
            <a:avLst>
              <a:gd name="adj" fmla="val 0"/>
            </a:avLst>
          </a:prstGeom>
          <a:solidFill>
            <a:srgbClr val="E8B8C4"/>
          </a:solidFill>
          <a:ln/>
        </p:spPr>
      </p:sp>
      <p:sp>
        <p:nvSpPr>
          <p:cNvPr id="16" name="Text 16"/>
          <p:cNvSpPr/>
          <p:nvPr/>
        </p:nvSpPr>
        <p:spPr>
          <a:xfrm>
            <a:off x="6591300" y="3048000"/>
            <a:ext cx="449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spc="15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힘 빼는 편 · 약하게</a:t>
            </a:r>
          </a:p>
        </p:txBody>
      </p:sp>
      <p:sp>
        <p:nvSpPr>
          <p:cNvPr id="17" name="Text 17"/>
          <p:cNvSpPr/>
          <p:nvPr/>
        </p:nvSpPr>
        <p:spPr>
          <a:xfrm>
            <a:off x="6591300" y="3314700"/>
            <a:ext cx="449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식상 · 재성 · 관성</a:t>
            </a:r>
          </a:p>
        </p:txBody>
      </p:sp>
      <p:sp>
        <p:nvSpPr>
          <p:cNvPr id="18" name="Shape 18"/>
          <p:cNvSpPr/>
          <p:nvPr/>
        </p:nvSpPr>
        <p:spPr>
          <a:xfrm>
            <a:off x="6591300" y="3848100"/>
            <a:ext cx="44958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19" name="Text 19"/>
          <p:cNvSpPr/>
          <p:nvPr/>
        </p:nvSpPr>
        <p:spPr>
          <a:xfrm>
            <a:off x="6591300" y="4000500"/>
            <a:ext cx="4495800" cy="838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식상 — 내가 낳는 오행 (표현·활동)</a:t>
            </a:r>
          </a:p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재성 — 내가 극하는 오행 (재물)</a:t>
            </a:r>
          </a:p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관성 — 나를 극하는 오행 (규율) · 많을수록 → 신약</a:t>
            </a:r>
          </a:p>
        </p:txBody>
      </p:sp>
      <p:sp>
        <p:nvSpPr>
          <p:cNvPr id="20" name="Shape 20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Text 21"/>
          <p:cNvSpPr/>
          <p:nvPr/>
        </p:nvSpPr>
        <p:spPr>
          <a:xfrm>
            <a:off x="1066800" y="5334000"/>
            <a:ext cx="1524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세는 법</a:t>
            </a:r>
          </a:p>
        </p:txBody>
      </p:sp>
      <p:sp>
        <p:nvSpPr>
          <p:cNvPr id="22" name="Text 22"/>
          <p:cNvSpPr/>
          <p:nvPr/>
        </p:nvSpPr>
        <p:spPr>
          <a:xfrm>
            <a:off x="2590800" y="5334000"/>
            <a:ext cx="8534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“내 편(비겁·인성)”과 “힘 빼는 편(식상·재성·관성)”의 비율을 세면 신강·신약이 보입니다.</a:t>
            </a:r>
          </a:p>
        </p:txBody>
      </p:sp>
      <p:sp>
        <p:nvSpPr>
          <p:cNvPr id="23" name="Shape 23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4" name="Text 24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25" name="Text 25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429750" y="2857500"/>
            <a:ext cx="3619500" cy="3619500"/>
          </a:xfrm>
          <a:prstGeom prst="ellipse">
            <a:avLst/>
          </a:prstGeom>
          <a:solidFill>
            <a:srgbClr val="A7E5D3">
              <a:alpha val="16000"/>
            </a:srgbClr>
          </a:solidFill>
          <a:ln/>
        </p:spPr>
      </p:sp>
      <p:sp>
        <p:nvSpPr>
          <p:cNvPr id="3" name="Text 3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수수 사주교육</a:t>
            </a:r>
          </a:p>
        </p:txBody>
      </p:sp>
      <p:sp>
        <p:nvSpPr>
          <p:cNvPr id="4" name="Text 4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2 · 실습</a:t>
            </a:r>
          </a:p>
        </p:txBody>
      </p:sp>
      <p:sp>
        <p:nvSpPr>
          <p:cNvPr id="5" name="Text 5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2 · 실습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실습 ② 신강일까 신약일까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신민규 님 명식 — 오행 분포로 세어보기</a:t>
            </a:r>
          </a:p>
        </p:txBody>
      </p:sp>
      <p:sp>
        <p:nvSpPr>
          <p:cNvPr id="8" name="Shape 8"/>
          <p:cNvSpPr/>
          <p:nvPr/>
        </p:nvSpPr>
        <p:spPr>
          <a:xfrm>
            <a:off x="762000" y="2686050"/>
            <a:ext cx="10668000" cy="685800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9"/>
          <p:cNvSpPr/>
          <p:nvPr/>
        </p:nvSpPr>
        <p:spPr>
          <a:xfrm>
            <a:off x="1066800" y="2686050"/>
            <a:ext cx="167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오행 분포</a:t>
            </a:r>
          </a:p>
        </p:txBody>
      </p:sp>
      <p:sp>
        <p:nvSpPr>
          <p:cNvPr id="10" name="Text 10"/>
          <p:cNvSpPr/>
          <p:nvPr/>
        </p:nvSpPr>
        <p:spPr>
          <a:xfrm>
            <a:off x="2743200" y="2686050"/>
            <a:ext cx="838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金 4 · 木 1 · 火 1 · 土 1 · 水 1 — 여덟 글자 중 金(비겁)이 4개로 압도적입니다.</a:t>
            </a:r>
          </a:p>
        </p:txBody>
      </p:sp>
      <p:sp>
        <p:nvSpPr>
          <p:cNvPr id="11" name="Shape 11"/>
          <p:cNvSpPr/>
          <p:nvPr/>
        </p:nvSpPr>
        <p:spPr>
          <a:xfrm>
            <a:off x="762000" y="3505200"/>
            <a:ext cx="34036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Text 12"/>
          <p:cNvSpPr/>
          <p:nvPr/>
        </p:nvSpPr>
        <p:spPr>
          <a:xfrm>
            <a:off x="1047750" y="4035986"/>
            <a:ext cx="2832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내 편 세기</a:t>
            </a:r>
          </a:p>
        </p:txBody>
      </p:sp>
      <p:sp>
        <p:nvSpPr>
          <p:cNvPr id="13" name="Text 13"/>
          <p:cNvSpPr/>
          <p:nvPr/>
        </p:nvSpPr>
        <p:spPr>
          <a:xfrm>
            <a:off x="1047750" y="4283636"/>
            <a:ext cx="28321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비겁 + 인성</a:t>
            </a:r>
          </a:p>
        </p:txBody>
      </p:sp>
      <p:sp>
        <p:nvSpPr>
          <p:cNvPr id="14" name="Text 14"/>
          <p:cNvSpPr/>
          <p:nvPr/>
        </p:nvSpPr>
        <p:spPr>
          <a:xfrm>
            <a:off x="1047750" y="4617476"/>
            <a:ext cx="2832100" cy="6429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비겁 金 4개 + 인성 土 1개 = 5개. 여덟 글자의 63%가 내 편입니다.</a:t>
            </a:r>
          </a:p>
        </p:txBody>
      </p:sp>
      <p:sp>
        <p:nvSpPr>
          <p:cNvPr id="15" name="Shape 15"/>
          <p:cNvSpPr/>
          <p:nvPr/>
        </p:nvSpPr>
        <p:spPr>
          <a:xfrm>
            <a:off x="4394200" y="3505200"/>
            <a:ext cx="34036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Text 16"/>
          <p:cNvSpPr/>
          <p:nvPr/>
        </p:nvSpPr>
        <p:spPr>
          <a:xfrm>
            <a:off x="4679950" y="4143142"/>
            <a:ext cx="2832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게다가</a:t>
            </a:r>
          </a:p>
        </p:txBody>
      </p:sp>
      <p:sp>
        <p:nvSpPr>
          <p:cNvPr id="17" name="Text 17"/>
          <p:cNvSpPr/>
          <p:nvPr/>
        </p:nvSpPr>
        <p:spPr>
          <a:xfrm>
            <a:off x="4679950" y="4390792"/>
            <a:ext cx="28321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득령까지</a:t>
            </a:r>
          </a:p>
        </p:txBody>
      </p:sp>
      <p:sp>
        <p:nvSpPr>
          <p:cNvPr id="18" name="Text 18"/>
          <p:cNvSpPr/>
          <p:nvPr/>
        </p:nvSpPr>
        <p:spPr>
          <a:xfrm>
            <a:off x="4679950" y="4724632"/>
            <a:ext cx="2832100" cy="4286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월지 申도 금(金) — 계절의 힘(득령)까지 얻었습니다.</a:t>
            </a:r>
          </a:p>
        </p:txBody>
      </p:sp>
      <p:sp>
        <p:nvSpPr>
          <p:cNvPr id="19" name="Shape 19"/>
          <p:cNvSpPr/>
          <p:nvPr/>
        </p:nvSpPr>
        <p:spPr>
          <a:xfrm>
            <a:off x="8026400" y="3505200"/>
            <a:ext cx="34036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Text 20"/>
          <p:cNvSpPr/>
          <p:nvPr/>
        </p:nvSpPr>
        <p:spPr>
          <a:xfrm>
            <a:off x="8312150" y="4143142"/>
            <a:ext cx="2832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판정</a:t>
            </a:r>
          </a:p>
        </p:txBody>
      </p:sp>
      <p:sp>
        <p:nvSpPr>
          <p:cNvPr id="21" name="Text 21"/>
          <p:cNvSpPr/>
          <p:nvPr/>
        </p:nvSpPr>
        <p:spPr>
          <a:xfrm>
            <a:off x="8312150" y="4390792"/>
            <a:ext cx="28321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신강 사주</a:t>
            </a:r>
          </a:p>
        </p:txBody>
      </p:sp>
      <p:sp>
        <p:nvSpPr>
          <p:cNvPr id="22" name="Text 22"/>
          <p:cNvSpPr/>
          <p:nvPr/>
        </p:nvSpPr>
        <p:spPr>
          <a:xfrm>
            <a:off x="8312150" y="4724632"/>
            <a:ext cx="2832100" cy="4286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45% 이상이면 신강. 63% + 득령이니 확실한 신강입니다.</a:t>
            </a:r>
          </a:p>
        </p:txBody>
      </p:sp>
      <p:sp>
        <p:nvSpPr>
          <p:cNvPr id="23" name="Text 23"/>
          <p:cNvSpPr/>
          <p:nvPr/>
        </p:nvSpPr>
        <p:spPr>
          <a:xfrm>
            <a:off x="762000" y="5867400"/>
            <a:ext cx="1066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 — 신강. 힘이 넘치니, 이제 “넘치는 기운을 어디로 흘려보낼까”가 다음 과제입니다.</a:t>
            </a:r>
          </a:p>
        </p:txBody>
      </p:sp>
      <p:sp>
        <p:nvSpPr>
          <p:cNvPr id="24" name="Shape 24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5" name="Text 25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26" name="Text 26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048750" y="3048000"/>
            <a:ext cx="3810000" cy="3810000"/>
          </a:xfrm>
          <a:prstGeom prst="ellipse">
            <a:avLst/>
          </a:prstGeom>
          <a:solidFill>
            <a:srgbClr val="F4C5A8">
              <a:alpha val="15000"/>
            </a:srgbClr>
          </a:solidFill>
          <a:ln/>
        </p:spPr>
      </p:sp>
      <p:sp>
        <p:nvSpPr>
          <p:cNvPr id="3" name="Shape 3"/>
          <p:cNvSpPr/>
          <p:nvPr/>
        </p:nvSpPr>
        <p:spPr>
          <a:xfrm>
            <a:off x="1428750" y="3429000"/>
            <a:ext cx="3429000" cy="3429000"/>
          </a:xfrm>
          <a:prstGeom prst="ellipse">
            <a:avLst/>
          </a:prstGeom>
          <a:solidFill>
            <a:srgbClr val="F4C5A8">
              <a:alpha val="16000"/>
            </a:srgbClr>
          </a:solidFill>
          <a:ln/>
        </p:spPr>
      </p:sp>
      <p:sp>
        <p:nvSpPr>
          <p:cNvPr id="4" name="Text 4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수수 사주교육</a:t>
            </a:r>
          </a:p>
        </p:txBody>
      </p:sp>
      <p:sp>
        <p:nvSpPr>
          <p:cNvPr id="5" name="Text 5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03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2381250"/>
            <a:ext cx="5715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spc="5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03</a:t>
            </a:r>
          </a:p>
        </p:txBody>
      </p:sp>
      <p:sp>
        <p:nvSpPr>
          <p:cNvPr id="7" name="Text 7"/>
          <p:cNvSpPr/>
          <p:nvPr/>
        </p:nvSpPr>
        <p:spPr>
          <a:xfrm>
            <a:off x="723900" y="2724150"/>
            <a:ext cx="10668000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800" kern="0" spc="-1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용신 찾기</a:t>
            </a:r>
          </a:p>
        </p:txBody>
      </p:sp>
      <p:sp>
        <p:nvSpPr>
          <p:cNvPr id="8" name="Text 8"/>
          <p:cNvSpPr/>
          <p:nvPr/>
        </p:nvSpPr>
        <p:spPr>
          <a:xfrm>
            <a:off x="762000" y="3733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spc="200" dirty="0">
                <a:solidFill>
                  <a:srgbClr val="A8A29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THE KEY ELEMENT</a:t>
            </a:r>
          </a:p>
        </p:txBody>
      </p:sp>
      <p:sp>
        <p:nvSpPr>
          <p:cNvPr id="9" name="Text 9"/>
          <p:cNvSpPr/>
          <p:nvPr/>
        </p:nvSpPr>
        <p:spPr>
          <a:xfrm>
            <a:off x="762000" y="4191000"/>
            <a:ext cx="83820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사주의 균형을 잡아주는 “열쇠 오행”을 고릅니다. 신강이면 덜어내고 신약이면 채우는 방향 — 이것이 억부 용신법입니다.</a:t>
            </a:r>
          </a:p>
        </p:txBody>
      </p:sp>
      <p:sp>
        <p:nvSpPr>
          <p:cNvPr id="10" name="Shape 10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11" name="Text 11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12" name="Text 12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620250" y="2667000"/>
            <a:ext cx="3429000" cy="3429000"/>
          </a:xfrm>
          <a:prstGeom prst="ellipse">
            <a:avLst/>
          </a:prstGeom>
          <a:solidFill>
            <a:srgbClr val="A8C8E8">
              <a:alpha val="16000"/>
            </a:srgbClr>
          </a:solidFill>
          <a:ln/>
        </p:spPr>
      </p:sp>
      <p:sp>
        <p:nvSpPr>
          <p:cNvPr id="3" name="Text 3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수수 사주교육</a:t>
            </a:r>
          </a:p>
        </p:txBody>
      </p:sp>
      <p:sp>
        <p:nvSpPr>
          <p:cNvPr id="4" name="Text 4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3</a:t>
            </a:r>
          </a:p>
        </p:txBody>
      </p:sp>
      <p:sp>
        <p:nvSpPr>
          <p:cNvPr id="5" name="Text 5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3 · 용신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용신(用神) — 사주의 열쇠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균형을 잡아주는 해결사 글자</a:t>
            </a:r>
          </a:p>
        </p:txBody>
      </p:sp>
      <p:sp>
        <p:nvSpPr>
          <p:cNvPr id="8" name="Shape 8"/>
          <p:cNvSpPr/>
          <p:nvPr/>
        </p:nvSpPr>
        <p:spPr>
          <a:xfrm>
            <a:off x="762000" y="2743200"/>
            <a:ext cx="34036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9"/>
          <p:cNvSpPr/>
          <p:nvPr/>
        </p:nvSpPr>
        <p:spPr>
          <a:xfrm>
            <a:off x="1047750" y="3312086"/>
            <a:ext cx="2832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해결사</a:t>
            </a:r>
          </a:p>
        </p:txBody>
      </p:sp>
      <p:sp>
        <p:nvSpPr>
          <p:cNvPr id="10" name="Text 10"/>
          <p:cNvSpPr/>
          <p:nvPr/>
        </p:nvSpPr>
        <p:spPr>
          <a:xfrm>
            <a:off x="1047750" y="3559736"/>
            <a:ext cx="28321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가장 요긴한 오행</a:t>
            </a:r>
          </a:p>
        </p:txBody>
      </p:sp>
      <p:sp>
        <p:nvSpPr>
          <p:cNvPr id="11" name="Text 11"/>
          <p:cNvSpPr/>
          <p:nvPr/>
        </p:nvSpPr>
        <p:spPr>
          <a:xfrm>
            <a:off x="1047750" y="3893576"/>
            <a:ext cx="2832100" cy="6429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사주의 균형을 잡아주는 핵심 오행. 이 글자를 만나는 운이 좋은 시기입니다.</a:t>
            </a:r>
          </a:p>
        </p:txBody>
      </p:sp>
      <p:sp>
        <p:nvSpPr>
          <p:cNvPr id="12" name="Shape 12"/>
          <p:cNvSpPr/>
          <p:nvPr/>
        </p:nvSpPr>
        <p:spPr>
          <a:xfrm>
            <a:off x="4394200" y="2743200"/>
            <a:ext cx="34036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3"/>
          <p:cNvSpPr/>
          <p:nvPr/>
        </p:nvSpPr>
        <p:spPr>
          <a:xfrm>
            <a:off x="4679950" y="3312086"/>
            <a:ext cx="2832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저울추</a:t>
            </a:r>
          </a:p>
        </p:txBody>
      </p:sp>
      <p:sp>
        <p:nvSpPr>
          <p:cNvPr id="14" name="Text 14"/>
          <p:cNvSpPr/>
          <p:nvPr/>
        </p:nvSpPr>
        <p:spPr>
          <a:xfrm>
            <a:off x="4679950" y="3559736"/>
            <a:ext cx="28321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넘치면 덜고</a:t>
            </a:r>
          </a:p>
        </p:txBody>
      </p:sp>
      <p:sp>
        <p:nvSpPr>
          <p:cNvPr id="15" name="Text 15"/>
          <p:cNvSpPr/>
          <p:nvPr/>
        </p:nvSpPr>
        <p:spPr>
          <a:xfrm>
            <a:off x="4679950" y="3893576"/>
            <a:ext cx="2832100" cy="6429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넘치면 덜어내고 모자라면 채운다 — 용신은 사주의 균형을 맞추는 저울추입니다.</a:t>
            </a:r>
          </a:p>
        </p:txBody>
      </p:sp>
      <p:sp>
        <p:nvSpPr>
          <p:cNvPr id="16" name="Shape 16"/>
          <p:cNvSpPr/>
          <p:nvPr/>
        </p:nvSpPr>
        <p:spPr>
          <a:xfrm>
            <a:off x="8026400" y="2743200"/>
            <a:ext cx="34036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7"/>
          <p:cNvSpPr/>
          <p:nvPr/>
        </p:nvSpPr>
        <p:spPr>
          <a:xfrm>
            <a:off x="8312150" y="3312086"/>
            <a:ext cx="2832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실전 핵심</a:t>
            </a:r>
          </a:p>
        </p:txBody>
      </p:sp>
      <p:sp>
        <p:nvSpPr>
          <p:cNvPr id="18" name="Text 18"/>
          <p:cNvSpPr/>
          <p:nvPr/>
        </p:nvSpPr>
        <p:spPr>
          <a:xfrm>
            <a:off x="8312150" y="3559736"/>
            <a:ext cx="28321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운의 나침반</a:t>
            </a:r>
          </a:p>
        </p:txBody>
      </p:sp>
      <p:sp>
        <p:nvSpPr>
          <p:cNvPr id="19" name="Text 19"/>
          <p:cNvSpPr/>
          <p:nvPr/>
        </p:nvSpPr>
        <p:spPr>
          <a:xfrm>
            <a:off x="8312150" y="3893576"/>
            <a:ext cx="2832100" cy="6429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용신을 알면 어떤 대운·세운이 나에게 순풍인지 판단할 수 있습니다. (2회차 연결)</a:t>
            </a:r>
          </a:p>
        </p:txBody>
      </p:sp>
      <p:sp>
        <p:nvSpPr>
          <p:cNvPr id="20" name="Shape 20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Text 21"/>
          <p:cNvSpPr/>
          <p:nvPr/>
        </p:nvSpPr>
        <p:spPr>
          <a:xfrm>
            <a:off x="1066800" y="5334000"/>
            <a:ext cx="1524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한마디</a:t>
            </a:r>
          </a:p>
        </p:txBody>
      </p:sp>
      <p:sp>
        <p:nvSpPr>
          <p:cNvPr id="22" name="Text 22"/>
          <p:cNvSpPr/>
          <p:nvPr/>
        </p:nvSpPr>
        <p:spPr>
          <a:xfrm>
            <a:off x="2590800" y="5334000"/>
            <a:ext cx="8534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용신은 “이 사주에 지금 가장 필요한 오행”. 사주 리딩의 최종 목적지입니다.</a:t>
            </a:r>
          </a:p>
        </p:txBody>
      </p:sp>
      <p:sp>
        <p:nvSpPr>
          <p:cNvPr id="23" name="Shape 23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4" name="Text 24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25" name="Text 25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048750" y="3238500"/>
            <a:ext cx="3810000" cy="3810000"/>
          </a:xfrm>
          <a:prstGeom prst="ellipse">
            <a:avLst/>
          </a:prstGeom>
          <a:solidFill>
            <a:srgbClr val="C8B8E0">
              <a:alpha val="16000"/>
            </a:srgbClr>
          </a:solidFill>
          <a:ln/>
        </p:spPr>
      </p:sp>
      <p:sp>
        <p:nvSpPr>
          <p:cNvPr id="3" name="Shape 3"/>
          <p:cNvSpPr/>
          <p:nvPr/>
        </p:nvSpPr>
        <p:spPr>
          <a:xfrm>
            <a:off x="-762000" y="4572000"/>
            <a:ext cx="3048000" cy="3048000"/>
          </a:xfrm>
          <a:prstGeom prst="ellipse">
            <a:avLst/>
          </a:prstGeom>
          <a:solidFill>
            <a:srgbClr val="F4C5A8">
              <a:alpha val="14000"/>
            </a:srgbClr>
          </a:solidFill>
          <a:ln/>
        </p:spPr>
      </p:sp>
      <p:sp>
        <p:nvSpPr>
          <p:cNvPr id="4" name="Text 4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수수 사주교육</a:t>
            </a:r>
          </a:p>
        </p:txBody>
      </p:sp>
      <p:sp>
        <p:nvSpPr>
          <p:cNvPr id="5" name="Text 5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3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3 · 용신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용신 고르는 원리</a:t>
            </a:r>
          </a:p>
        </p:txBody>
      </p:sp>
      <p:sp>
        <p:nvSpPr>
          <p:cNvPr id="8" name="Text 8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신강이면 덜고, 신약이면 채운다</a:t>
            </a:r>
          </a:p>
        </p:txBody>
      </p:sp>
      <p:sp>
        <p:nvSpPr>
          <p:cNvPr id="9" name="Shape 9"/>
          <p:cNvSpPr/>
          <p:nvPr/>
        </p:nvSpPr>
        <p:spPr>
          <a:xfrm>
            <a:off x="762000" y="2743200"/>
            <a:ext cx="5181600" cy="2438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10"/>
          <p:cNvSpPr/>
          <p:nvPr/>
        </p:nvSpPr>
        <p:spPr>
          <a:xfrm>
            <a:off x="762000" y="2743200"/>
            <a:ext cx="5181600" cy="152400"/>
          </a:xfrm>
          <a:prstGeom prst="roundRect">
            <a:avLst>
              <a:gd name="adj" fmla="val 0"/>
            </a:avLst>
          </a:prstGeom>
          <a:solidFill>
            <a:srgbClr val="A7E5D3"/>
          </a:solidFill>
          <a:ln/>
        </p:spPr>
      </p:sp>
      <p:sp>
        <p:nvSpPr>
          <p:cNvPr id="11" name="Text 11"/>
          <p:cNvSpPr/>
          <p:nvPr/>
        </p:nvSpPr>
        <p:spPr>
          <a:xfrm>
            <a:off x="1104900" y="3048000"/>
            <a:ext cx="449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spc="15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신강 사주</a:t>
            </a:r>
          </a:p>
        </p:txBody>
      </p:sp>
      <p:sp>
        <p:nvSpPr>
          <p:cNvPr id="12" name="Text 12"/>
          <p:cNvSpPr/>
          <p:nvPr/>
        </p:nvSpPr>
        <p:spPr>
          <a:xfrm>
            <a:off x="1104900" y="3314700"/>
            <a:ext cx="449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덜어낸다</a:t>
            </a:r>
          </a:p>
        </p:txBody>
      </p:sp>
      <p:sp>
        <p:nvSpPr>
          <p:cNvPr id="13" name="Shape 13"/>
          <p:cNvSpPr/>
          <p:nvPr/>
        </p:nvSpPr>
        <p:spPr>
          <a:xfrm>
            <a:off x="1104900" y="3848100"/>
            <a:ext cx="44958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14" name="Text 14"/>
          <p:cNvSpPr/>
          <p:nvPr/>
        </p:nvSpPr>
        <p:spPr>
          <a:xfrm>
            <a:off x="1104900" y="4000500"/>
            <a:ext cx="4495800" cy="838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기운이 넘친다 → 빼야 균형</a:t>
            </a:r>
          </a:p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식상(표현)·재성(재물)·관성(규율)으로 덜어냄</a:t>
            </a:r>
          </a:p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→ 식재관(食財官)이 용신</a:t>
            </a:r>
          </a:p>
        </p:txBody>
      </p:sp>
      <p:sp>
        <p:nvSpPr>
          <p:cNvPr id="15" name="Shape 15"/>
          <p:cNvSpPr/>
          <p:nvPr/>
        </p:nvSpPr>
        <p:spPr>
          <a:xfrm>
            <a:off x="6248400" y="2743200"/>
            <a:ext cx="5181600" cy="2438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6"/>
          <p:cNvSpPr/>
          <p:nvPr/>
        </p:nvSpPr>
        <p:spPr>
          <a:xfrm>
            <a:off x="6248400" y="2743200"/>
            <a:ext cx="5181600" cy="152400"/>
          </a:xfrm>
          <a:prstGeom prst="roundRect">
            <a:avLst>
              <a:gd name="adj" fmla="val 0"/>
            </a:avLst>
          </a:prstGeom>
          <a:solidFill>
            <a:srgbClr val="A8C8E8"/>
          </a:solidFill>
          <a:ln/>
        </p:spPr>
      </p:sp>
      <p:sp>
        <p:nvSpPr>
          <p:cNvPr id="17" name="Text 17"/>
          <p:cNvSpPr/>
          <p:nvPr/>
        </p:nvSpPr>
        <p:spPr>
          <a:xfrm>
            <a:off x="6591300" y="3048000"/>
            <a:ext cx="449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spc="15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신약 사주</a:t>
            </a:r>
          </a:p>
        </p:txBody>
      </p:sp>
      <p:sp>
        <p:nvSpPr>
          <p:cNvPr id="18" name="Text 18"/>
          <p:cNvSpPr/>
          <p:nvPr/>
        </p:nvSpPr>
        <p:spPr>
          <a:xfrm>
            <a:off x="6591300" y="3314700"/>
            <a:ext cx="449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채운다</a:t>
            </a:r>
          </a:p>
        </p:txBody>
      </p:sp>
      <p:sp>
        <p:nvSpPr>
          <p:cNvPr id="19" name="Shape 19"/>
          <p:cNvSpPr/>
          <p:nvPr/>
        </p:nvSpPr>
        <p:spPr>
          <a:xfrm>
            <a:off x="6591300" y="3848100"/>
            <a:ext cx="44958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0" name="Text 20"/>
          <p:cNvSpPr/>
          <p:nvPr/>
        </p:nvSpPr>
        <p:spPr>
          <a:xfrm>
            <a:off x="6591300" y="4000500"/>
            <a:ext cx="4495800" cy="838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기운이 모자란다 → 채워야 균형</a:t>
            </a:r>
          </a:p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인성(지원)·비겁(동료)으로 힘을 보탬</a:t>
            </a:r>
          </a:p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→ 인비(印比)가 용신</a:t>
            </a:r>
          </a:p>
        </p:txBody>
      </p:sp>
      <p:sp>
        <p:nvSpPr>
          <p:cNvPr id="21" name="Shape 21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Text 22"/>
          <p:cNvSpPr/>
          <p:nvPr/>
        </p:nvSpPr>
        <p:spPr>
          <a:xfrm>
            <a:off x="1066800" y="5334000"/>
            <a:ext cx="1524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억부 抑扶</a:t>
            </a:r>
          </a:p>
        </p:txBody>
      </p:sp>
      <p:sp>
        <p:nvSpPr>
          <p:cNvPr id="23" name="Text 23"/>
          <p:cNvSpPr/>
          <p:nvPr/>
        </p:nvSpPr>
        <p:spPr>
          <a:xfrm>
            <a:off x="2590800" y="5334000"/>
            <a:ext cx="8534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신강·신약을 정하고, 그 반대 방향의 오행을 용신으로 잡는다 — 이것이 “억부 용신법”.</a:t>
            </a:r>
          </a:p>
        </p:txBody>
      </p:sp>
      <p:sp>
        <p:nvSpPr>
          <p:cNvPr id="24" name="Shape 24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5" name="Text 25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26" name="Text 26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620250" y="3238500"/>
            <a:ext cx="3429000" cy="3429000"/>
          </a:xfrm>
          <a:prstGeom prst="ellipse">
            <a:avLst/>
          </a:prstGeom>
          <a:solidFill>
            <a:srgbClr val="E8B8C4">
              <a:alpha val="15000"/>
            </a:srgbClr>
          </a:solidFill>
          <a:ln/>
        </p:spPr>
      </p:sp>
      <p:sp>
        <p:nvSpPr>
          <p:cNvPr id="3" name="Text 3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수수 사주교육</a:t>
            </a:r>
          </a:p>
        </p:txBody>
      </p:sp>
      <p:sp>
        <p:nvSpPr>
          <p:cNvPr id="4" name="Text 4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3</a:t>
            </a:r>
          </a:p>
        </p:txBody>
      </p:sp>
      <p:sp>
        <p:nvSpPr>
          <p:cNvPr id="5" name="Text 5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3 · 용신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희신과 기신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용신을 돕는 편, 방해하는 편</a:t>
            </a:r>
          </a:p>
        </p:txBody>
      </p:sp>
      <p:sp>
        <p:nvSpPr>
          <p:cNvPr id="8" name="Shape 8"/>
          <p:cNvSpPr/>
          <p:nvPr/>
        </p:nvSpPr>
        <p:spPr>
          <a:xfrm>
            <a:off x="762000" y="2743200"/>
            <a:ext cx="34036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9"/>
          <p:cNvSpPr/>
          <p:nvPr/>
        </p:nvSpPr>
        <p:spPr>
          <a:xfrm>
            <a:off x="1047750" y="3123967"/>
            <a:ext cx="685800" cy="685800"/>
          </a:xfrm>
          <a:prstGeom prst="ellipse">
            <a:avLst/>
          </a:prstGeom>
          <a:solidFill>
            <a:srgbClr val="A7E5D3">
              <a:alpha val="85000"/>
            </a:srgbClr>
          </a:solidFill>
          <a:ln/>
        </p:spPr>
      </p:sp>
      <p:sp>
        <p:nvSpPr>
          <p:cNvPr id="10" name="Text 10"/>
          <p:cNvSpPr/>
          <p:nvPr/>
        </p:nvSpPr>
        <p:spPr>
          <a:xfrm>
            <a:off x="1047750" y="3123967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用</a:t>
            </a:r>
          </a:p>
        </p:txBody>
      </p:sp>
      <p:sp>
        <p:nvSpPr>
          <p:cNvPr id="11" name="Text 11"/>
          <p:cNvSpPr/>
          <p:nvPr/>
        </p:nvSpPr>
        <p:spPr>
          <a:xfrm>
            <a:off x="1047750" y="3962167"/>
            <a:ext cx="28321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용신(用神)</a:t>
            </a:r>
          </a:p>
        </p:txBody>
      </p:sp>
      <p:sp>
        <p:nvSpPr>
          <p:cNvPr id="12" name="Text 12"/>
          <p:cNvSpPr/>
          <p:nvPr/>
        </p:nvSpPr>
        <p:spPr>
          <a:xfrm>
            <a:off x="1047750" y="4296007"/>
            <a:ext cx="2832100" cy="4286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사주에 가장 필요한 오행. 이 운이 최고의 순풍입니다.</a:t>
            </a:r>
          </a:p>
        </p:txBody>
      </p:sp>
      <p:sp>
        <p:nvSpPr>
          <p:cNvPr id="13" name="Shape 13"/>
          <p:cNvSpPr/>
          <p:nvPr/>
        </p:nvSpPr>
        <p:spPr>
          <a:xfrm>
            <a:off x="4394200" y="2743200"/>
            <a:ext cx="34036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4"/>
          <p:cNvSpPr/>
          <p:nvPr/>
        </p:nvSpPr>
        <p:spPr>
          <a:xfrm>
            <a:off x="4679950" y="3123967"/>
            <a:ext cx="685800" cy="685800"/>
          </a:xfrm>
          <a:prstGeom prst="ellipse">
            <a:avLst/>
          </a:prstGeom>
          <a:solidFill>
            <a:srgbClr val="A8C8E8">
              <a:alpha val="85000"/>
            </a:srgbClr>
          </a:solidFill>
          <a:ln/>
        </p:spPr>
      </p:sp>
      <p:sp>
        <p:nvSpPr>
          <p:cNvPr id="15" name="Text 15"/>
          <p:cNvSpPr/>
          <p:nvPr/>
        </p:nvSpPr>
        <p:spPr>
          <a:xfrm>
            <a:off x="4679950" y="3123967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喜</a:t>
            </a:r>
          </a:p>
        </p:txBody>
      </p:sp>
      <p:sp>
        <p:nvSpPr>
          <p:cNvPr id="16" name="Text 16"/>
          <p:cNvSpPr/>
          <p:nvPr/>
        </p:nvSpPr>
        <p:spPr>
          <a:xfrm>
            <a:off x="4679950" y="3962167"/>
            <a:ext cx="28321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희신(喜神)</a:t>
            </a:r>
          </a:p>
        </p:txBody>
      </p:sp>
      <p:sp>
        <p:nvSpPr>
          <p:cNvPr id="17" name="Text 17"/>
          <p:cNvSpPr/>
          <p:nvPr/>
        </p:nvSpPr>
        <p:spPr>
          <a:xfrm>
            <a:off x="4679950" y="4296007"/>
            <a:ext cx="2832100" cy="4286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용신을 도와주는 오행. 용신 다음으로 반가운 기운입니다.</a:t>
            </a:r>
          </a:p>
        </p:txBody>
      </p:sp>
      <p:sp>
        <p:nvSpPr>
          <p:cNvPr id="18" name="Shape 18"/>
          <p:cNvSpPr/>
          <p:nvPr/>
        </p:nvSpPr>
        <p:spPr>
          <a:xfrm>
            <a:off x="8026400" y="2743200"/>
            <a:ext cx="34036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9"/>
          <p:cNvSpPr/>
          <p:nvPr/>
        </p:nvSpPr>
        <p:spPr>
          <a:xfrm>
            <a:off x="8312150" y="3123967"/>
            <a:ext cx="685800" cy="685800"/>
          </a:xfrm>
          <a:prstGeom prst="ellipse">
            <a:avLst/>
          </a:prstGeom>
          <a:solidFill>
            <a:srgbClr val="E8B8C4">
              <a:alpha val="85000"/>
            </a:srgbClr>
          </a:solidFill>
          <a:ln/>
        </p:spPr>
      </p:sp>
      <p:sp>
        <p:nvSpPr>
          <p:cNvPr id="20" name="Text 20"/>
          <p:cNvSpPr/>
          <p:nvPr/>
        </p:nvSpPr>
        <p:spPr>
          <a:xfrm>
            <a:off x="8312150" y="3123967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忌</a:t>
            </a:r>
          </a:p>
        </p:txBody>
      </p:sp>
      <p:sp>
        <p:nvSpPr>
          <p:cNvPr id="21" name="Text 21"/>
          <p:cNvSpPr/>
          <p:nvPr/>
        </p:nvSpPr>
        <p:spPr>
          <a:xfrm>
            <a:off x="8312150" y="3962167"/>
            <a:ext cx="28321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기신(忌神)</a:t>
            </a:r>
          </a:p>
        </p:txBody>
      </p:sp>
      <p:sp>
        <p:nvSpPr>
          <p:cNvPr id="22" name="Text 22"/>
          <p:cNvSpPr/>
          <p:nvPr/>
        </p:nvSpPr>
        <p:spPr>
          <a:xfrm>
            <a:off x="8312150" y="4296007"/>
            <a:ext cx="2832100" cy="4286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용신을 방해해 흐름을 꼬는 오행. 이 운은 조심 구간입니다.</a:t>
            </a:r>
          </a:p>
        </p:txBody>
      </p:sp>
      <p:sp>
        <p:nvSpPr>
          <p:cNvPr id="23" name="Shape 23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Text 24"/>
          <p:cNvSpPr/>
          <p:nvPr/>
        </p:nvSpPr>
        <p:spPr>
          <a:xfrm>
            <a:off x="1066800" y="5334000"/>
            <a:ext cx="1524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운에 적용</a:t>
            </a:r>
          </a:p>
        </p:txBody>
      </p:sp>
      <p:sp>
        <p:nvSpPr>
          <p:cNvPr id="25" name="Text 25"/>
          <p:cNvSpPr/>
          <p:nvPr/>
        </p:nvSpPr>
        <p:spPr>
          <a:xfrm>
            <a:off x="2590800" y="5334000"/>
            <a:ext cx="8534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용신·희신 운 = 순풍, 기신 운 = 역풍. 2회차의 순풍·역풍과 똑같은 원리입니다.</a:t>
            </a:r>
          </a:p>
        </p:txBody>
      </p:sp>
      <p:sp>
        <p:nvSpPr>
          <p:cNvPr id="26" name="Shape 2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7" name="Text 2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28" name="Text 2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429750" y="2857500"/>
            <a:ext cx="3619500" cy="3619500"/>
          </a:xfrm>
          <a:prstGeom prst="ellipse">
            <a:avLst/>
          </a:prstGeom>
          <a:solidFill>
            <a:srgbClr val="A7E5D3">
              <a:alpha val="16000"/>
            </a:srgbClr>
          </a:solidFill>
          <a:ln/>
        </p:spPr>
      </p:sp>
      <p:sp>
        <p:nvSpPr>
          <p:cNvPr id="3" name="Text 3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수수 사주교육</a:t>
            </a:r>
          </a:p>
        </p:txBody>
      </p:sp>
      <p:sp>
        <p:nvSpPr>
          <p:cNvPr id="4" name="Text 4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3 · 실습</a:t>
            </a:r>
          </a:p>
        </p:txBody>
      </p:sp>
      <p:sp>
        <p:nvSpPr>
          <p:cNvPr id="5" name="Text 5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3 · 실습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실습 ③ 내 용신은?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신민규 님 명식 — 신강 金을 어떻게 풀까</a:t>
            </a:r>
          </a:p>
        </p:txBody>
      </p:sp>
      <p:sp>
        <p:nvSpPr>
          <p:cNvPr id="8" name="Shape 8"/>
          <p:cNvSpPr/>
          <p:nvPr/>
        </p:nvSpPr>
        <p:spPr>
          <a:xfrm>
            <a:off x="762000" y="2857500"/>
            <a:ext cx="3289300" cy="1524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9"/>
          <p:cNvSpPr/>
          <p:nvPr/>
        </p:nvSpPr>
        <p:spPr>
          <a:xfrm>
            <a:off x="762000" y="3048000"/>
            <a:ext cx="32893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spc="12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상태</a:t>
            </a:r>
          </a:p>
        </p:txBody>
      </p:sp>
      <p:sp>
        <p:nvSpPr>
          <p:cNvPr id="10" name="Text 10"/>
          <p:cNvSpPr/>
          <p:nvPr/>
        </p:nvSpPr>
        <p:spPr>
          <a:xfrm>
            <a:off x="762000" y="3257550"/>
            <a:ext cx="32893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신강 金</a:t>
            </a:r>
          </a:p>
        </p:txBody>
      </p:sp>
      <p:sp>
        <p:nvSpPr>
          <p:cNvPr id="11" name="Text 11"/>
          <p:cNvSpPr/>
          <p:nvPr/>
        </p:nvSpPr>
        <p:spPr>
          <a:xfrm>
            <a:off x="762000" y="3790950"/>
            <a:ext cx="32893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금이 넘친다</a:t>
            </a:r>
          </a:p>
        </p:txBody>
      </p:sp>
      <p:sp>
        <p:nvSpPr>
          <p:cNvPr id="12" name="Text 12"/>
          <p:cNvSpPr/>
          <p:nvPr/>
        </p:nvSpPr>
        <p:spPr>
          <a:xfrm>
            <a:off x="4051300" y="2857500"/>
            <a:ext cx="400050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A29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→</a:t>
            </a:r>
          </a:p>
        </p:txBody>
      </p:sp>
      <p:sp>
        <p:nvSpPr>
          <p:cNvPr id="13" name="Shape 13"/>
          <p:cNvSpPr/>
          <p:nvPr/>
        </p:nvSpPr>
        <p:spPr>
          <a:xfrm>
            <a:off x="4451350" y="2857500"/>
            <a:ext cx="3289300" cy="1524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Text 14"/>
          <p:cNvSpPr/>
          <p:nvPr/>
        </p:nvSpPr>
        <p:spPr>
          <a:xfrm>
            <a:off x="4451350" y="3048000"/>
            <a:ext cx="32893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spc="12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처방</a:t>
            </a:r>
          </a:p>
        </p:txBody>
      </p:sp>
      <p:sp>
        <p:nvSpPr>
          <p:cNvPr id="15" name="Text 15"/>
          <p:cNvSpPr/>
          <p:nvPr/>
        </p:nvSpPr>
        <p:spPr>
          <a:xfrm>
            <a:off x="4451350" y="3257550"/>
            <a:ext cx="32893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흘려보낸다</a:t>
            </a:r>
          </a:p>
        </p:txBody>
      </p:sp>
      <p:sp>
        <p:nvSpPr>
          <p:cNvPr id="16" name="Text 16"/>
          <p:cNvSpPr/>
          <p:nvPr/>
        </p:nvSpPr>
        <p:spPr>
          <a:xfrm>
            <a:off x="4451350" y="3790950"/>
            <a:ext cx="32893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식상 = 水</a:t>
            </a:r>
          </a:p>
        </p:txBody>
      </p:sp>
      <p:sp>
        <p:nvSpPr>
          <p:cNvPr id="17" name="Text 17"/>
          <p:cNvSpPr/>
          <p:nvPr/>
        </p:nvSpPr>
        <p:spPr>
          <a:xfrm>
            <a:off x="7740650" y="2857500"/>
            <a:ext cx="400050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A29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→</a:t>
            </a:r>
          </a:p>
        </p:txBody>
      </p:sp>
      <p:sp>
        <p:nvSpPr>
          <p:cNvPr id="18" name="Shape 18"/>
          <p:cNvSpPr/>
          <p:nvPr/>
        </p:nvSpPr>
        <p:spPr>
          <a:xfrm>
            <a:off x="8140700" y="2857500"/>
            <a:ext cx="3289300" cy="1524000"/>
          </a:xfrm>
          <a:prstGeom prst="roundRect">
            <a:avLst>
              <a:gd name="adj" fmla="val 9000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Text 19"/>
          <p:cNvSpPr/>
          <p:nvPr/>
        </p:nvSpPr>
        <p:spPr>
          <a:xfrm>
            <a:off x="8140700" y="3048000"/>
            <a:ext cx="32893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spc="12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결론</a:t>
            </a:r>
          </a:p>
        </p:txBody>
      </p:sp>
      <p:sp>
        <p:nvSpPr>
          <p:cNvPr id="20" name="Text 20"/>
          <p:cNvSpPr/>
          <p:nvPr/>
        </p:nvSpPr>
        <p:spPr>
          <a:xfrm>
            <a:off x="8140700" y="3257550"/>
            <a:ext cx="32893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용신 水</a:t>
            </a:r>
          </a:p>
        </p:txBody>
      </p:sp>
      <p:sp>
        <p:nvSpPr>
          <p:cNvPr id="21" name="Text 21"/>
          <p:cNvSpPr/>
          <p:nvPr/>
        </p:nvSpPr>
        <p:spPr>
          <a:xfrm>
            <a:off x="8140700" y="3790950"/>
            <a:ext cx="32893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희신 金 · 기신 土</a:t>
            </a:r>
          </a:p>
        </p:txBody>
      </p:sp>
      <p:sp>
        <p:nvSpPr>
          <p:cNvPr id="22" name="Shape 22"/>
          <p:cNvSpPr/>
          <p:nvPr/>
        </p:nvSpPr>
        <p:spPr>
          <a:xfrm>
            <a:off x="762000" y="4648200"/>
            <a:ext cx="10668000" cy="762000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Text 23"/>
          <p:cNvSpPr/>
          <p:nvPr/>
        </p:nvSpPr>
        <p:spPr>
          <a:xfrm>
            <a:off x="1066800" y="4648200"/>
            <a:ext cx="1524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해석</a:t>
            </a:r>
          </a:p>
        </p:txBody>
      </p:sp>
      <p:sp>
        <p:nvSpPr>
          <p:cNvPr id="24" name="Text 24"/>
          <p:cNvSpPr/>
          <p:nvPr/>
        </p:nvSpPr>
        <p:spPr>
          <a:xfrm>
            <a:off x="2590800" y="4648200"/>
            <a:ext cx="8534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넘치는 金 기운을 물(水)로 흘려보낸다 → 용신 水, 희신 金, 기신 土. 물·금 기운이 오는 시기가 순풍.</a:t>
            </a:r>
          </a:p>
        </p:txBody>
      </p:sp>
      <p:sp>
        <p:nvSpPr>
          <p:cNvPr id="25" name="Text 25"/>
          <p:cNvSpPr/>
          <p:nvPr/>
        </p:nvSpPr>
        <p:spPr>
          <a:xfrm>
            <a:off x="762000" y="5562600"/>
            <a:ext cx="1066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간이 억부법 기준입니다. 조후·통관까지 종합하는 전문 감정과는 차이가 있을 수 있어요.</a:t>
            </a:r>
          </a:p>
        </p:txBody>
      </p:sp>
      <p:sp>
        <p:nvSpPr>
          <p:cNvPr id="26" name="Shape 2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7" name="Text 2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28" name="Text 2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429750" y="2857500"/>
            <a:ext cx="3619500" cy="3619500"/>
          </a:xfrm>
          <a:prstGeom prst="ellipse">
            <a:avLst/>
          </a:prstGeom>
          <a:solidFill>
            <a:srgbClr val="A7E5D3">
              <a:alpha val="16000"/>
            </a:srgbClr>
          </a:solidFill>
          <a:ln/>
        </p:spPr>
      </p:sp>
      <p:sp>
        <p:nvSpPr>
          <p:cNvPr id="3" name="Shape 3"/>
          <p:cNvSpPr/>
          <p:nvPr/>
        </p:nvSpPr>
        <p:spPr>
          <a:xfrm>
            <a:off x="1428750" y="3429000"/>
            <a:ext cx="3429000" cy="3429000"/>
          </a:xfrm>
          <a:prstGeom prst="ellipse">
            <a:avLst/>
          </a:prstGeom>
          <a:solidFill>
            <a:srgbClr val="C8B8E0">
              <a:alpha val="16000"/>
            </a:srgbClr>
          </a:solidFill>
          <a:ln/>
        </p:spPr>
      </p:sp>
      <p:sp>
        <p:nvSpPr>
          <p:cNvPr id="4" name="Text 4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수수 사주교육</a:t>
            </a:r>
          </a:p>
        </p:txBody>
      </p:sp>
      <p:sp>
        <p:nvSpPr>
          <p:cNvPr id="5" name="Text 5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04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2381250"/>
            <a:ext cx="5715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spc="5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04</a:t>
            </a:r>
          </a:p>
        </p:txBody>
      </p:sp>
      <p:sp>
        <p:nvSpPr>
          <p:cNvPr id="7" name="Text 7"/>
          <p:cNvSpPr/>
          <p:nvPr/>
        </p:nvSpPr>
        <p:spPr>
          <a:xfrm>
            <a:off x="723900" y="2724150"/>
            <a:ext cx="10668000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800" kern="0" spc="-1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종합 실습</a:t>
            </a:r>
          </a:p>
        </p:txBody>
      </p:sp>
      <p:sp>
        <p:nvSpPr>
          <p:cNvPr id="8" name="Text 8"/>
          <p:cNvSpPr/>
          <p:nvPr/>
        </p:nvSpPr>
        <p:spPr>
          <a:xfrm>
            <a:off x="762000" y="3733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spc="200" dirty="0">
                <a:solidFill>
                  <a:srgbClr val="A8A29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READING IT ALL TOGETHER</a:t>
            </a:r>
          </a:p>
        </p:txBody>
      </p:sp>
      <p:sp>
        <p:nvSpPr>
          <p:cNvPr id="9" name="Text 9"/>
          <p:cNvSpPr/>
          <p:nvPr/>
        </p:nvSpPr>
        <p:spPr>
          <a:xfrm>
            <a:off x="762000" y="4191000"/>
            <a:ext cx="83820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명식 하나를 놓고 1~4단계를 순서대로 적용해, 원국부터 대운까지 한 번에 읽어봅니다. 오늘 배운 모든 것의 합.</a:t>
            </a:r>
          </a:p>
        </p:txBody>
      </p:sp>
      <p:sp>
        <p:nvSpPr>
          <p:cNvPr id="10" name="Shape 10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11" name="Text 11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12" name="Text 12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620250" y="2667000"/>
            <a:ext cx="3429000" cy="3429000"/>
          </a:xfrm>
          <a:prstGeom prst="ellipse">
            <a:avLst/>
          </a:prstGeom>
          <a:solidFill>
            <a:srgbClr val="A8C8E8">
              <a:alpha val="16000"/>
            </a:srgbClr>
          </a:solidFill>
          <a:ln/>
        </p:spPr>
      </p:sp>
      <p:sp>
        <p:nvSpPr>
          <p:cNvPr id="3" name="Text 3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수수 사주교육</a:t>
            </a:r>
          </a:p>
        </p:txBody>
      </p:sp>
      <p:sp>
        <p:nvSpPr>
          <p:cNvPr id="4" name="Text 4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4 · 실습</a:t>
            </a:r>
          </a:p>
        </p:txBody>
      </p:sp>
      <p:sp>
        <p:nvSpPr>
          <p:cNvPr id="5" name="Text 5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4 · 종합 실습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전체 명식 한눈에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신민규 · 남성 · 양력 1999.9.5 9시경</a:t>
            </a:r>
          </a:p>
        </p:txBody>
      </p:sp>
      <p:sp>
        <p:nvSpPr>
          <p:cNvPr id="8" name="Shape 8"/>
          <p:cNvSpPr/>
          <p:nvPr/>
        </p:nvSpPr>
        <p:spPr>
          <a:xfrm>
            <a:off x="762000" y="2705100"/>
            <a:ext cx="2495550" cy="22669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9"/>
          <p:cNvSpPr/>
          <p:nvPr/>
        </p:nvSpPr>
        <p:spPr>
          <a:xfrm>
            <a:off x="762000" y="2857500"/>
            <a:ext cx="249555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시주</a:t>
            </a:r>
          </a:p>
        </p:txBody>
      </p:sp>
      <p:sp>
        <p:nvSpPr>
          <p:cNvPr id="10" name="Text 10"/>
          <p:cNvSpPr/>
          <p:nvPr/>
        </p:nvSpPr>
        <p:spPr>
          <a:xfrm>
            <a:off x="762000" y="3143250"/>
            <a:ext cx="24955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겁재</a:t>
            </a:r>
          </a:p>
        </p:txBody>
      </p:sp>
      <p:sp>
        <p:nvSpPr>
          <p:cNvPr id="11" name="Shape 11"/>
          <p:cNvSpPr/>
          <p:nvPr/>
        </p:nvSpPr>
        <p:spPr>
          <a:xfrm>
            <a:off x="1704975" y="3429000"/>
            <a:ext cx="609600" cy="609600"/>
          </a:xfrm>
          <a:prstGeom prst="ellipse">
            <a:avLst/>
          </a:prstGeom>
          <a:solidFill>
            <a:srgbClr val="C8B8E0">
              <a:alpha val="80000"/>
            </a:srgbClr>
          </a:solidFill>
          <a:ln/>
        </p:spPr>
      </p:sp>
      <p:sp>
        <p:nvSpPr>
          <p:cNvPr id="12" name="Text 12"/>
          <p:cNvSpPr/>
          <p:nvPr/>
        </p:nvSpPr>
        <p:spPr>
          <a:xfrm>
            <a:off x="1704975" y="342900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辛</a:t>
            </a:r>
          </a:p>
        </p:txBody>
      </p:sp>
      <p:sp>
        <p:nvSpPr>
          <p:cNvPr id="13" name="Shape 13"/>
          <p:cNvSpPr/>
          <p:nvPr/>
        </p:nvSpPr>
        <p:spPr>
          <a:xfrm>
            <a:off x="1704975" y="4114800"/>
            <a:ext cx="609600" cy="609600"/>
          </a:xfrm>
          <a:prstGeom prst="ellipse">
            <a:avLst/>
          </a:prstGeom>
          <a:solidFill>
            <a:srgbClr val="E8B8C4">
              <a:alpha val="80000"/>
            </a:srgbClr>
          </a:solidFill>
          <a:ln/>
        </p:spPr>
      </p:sp>
      <p:sp>
        <p:nvSpPr>
          <p:cNvPr id="14" name="Text 14"/>
          <p:cNvSpPr/>
          <p:nvPr/>
        </p:nvSpPr>
        <p:spPr>
          <a:xfrm>
            <a:off x="1704975" y="411480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巳</a:t>
            </a:r>
          </a:p>
        </p:txBody>
      </p:sp>
      <p:sp>
        <p:nvSpPr>
          <p:cNvPr id="15" name="Text 15"/>
          <p:cNvSpPr/>
          <p:nvPr/>
        </p:nvSpPr>
        <p:spPr>
          <a:xfrm>
            <a:off x="762000" y="4610100"/>
            <a:ext cx="249555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편관</a:t>
            </a:r>
          </a:p>
        </p:txBody>
      </p:sp>
      <p:sp>
        <p:nvSpPr>
          <p:cNvPr id="16" name="Shape 16"/>
          <p:cNvSpPr/>
          <p:nvPr/>
        </p:nvSpPr>
        <p:spPr>
          <a:xfrm>
            <a:off x="3486150" y="2705100"/>
            <a:ext cx="2495550" cy="226695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2700">
            <a:solidFill>
              <a:srgbClr val="A8C8E8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7"/>
          <p:cNvSpPr/>
          <p:nvPr/>
        </p:nvSpPr>
        <p:spPr>
          <a:xfrm>
            <a:off x="3486150" y="2857500"/>
            <a:ext cx="249555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일주</a:t>
            </a:r>
          </a:p>
        </p:txBody>
      </p:sp>
      <p:sp>
        <p:nvSpPr>
          <p:cNvPr id="18" name="Text 18"/>
          <p:cNvSpPr/>
          <p:nvPr/>
        </p:nvSpPr>
        <p:spPr>
          <a:xfrm>
            <a:off x="3486150" y="3143250"/>
            <a:ext cx="24955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일간(나)</a:t>
            </a:r>
          </a:p>
        </p:txBody>
      </p:sp>
      <p:sp>
        <p:nvSpPr>
          <p:cNvPr id="19" name="Shape 19"/>
          <p:cNvSpPr/>
          <p:nvPr/>
        </p:nvSpPr>
        <p:spPr>
          <a:xfrm>
            <a:off x="4429125" y="3429000"/>
            <a:ext cx="609600" cy="609600"/>
          </a:xfrm>
          <a:prstGeom prst="ellipse">
            <a:avLst/>
          </a:prstGeom>
          <a:solidFill>
            <a:srgbClr val="C8B8E0">
              <a:alpha val="80000"/>
            </a:srgbClr>
          </a:solidFill>
          <a:ln/>
        </p:spPr>
      </p:sp>
      <p:sp>
        <p:nvSpPr>
          <p:cNvPr id="20" name="Text 20"/>
          <p:cNvSpPr/>
          <p:nvPr/>
        </p:nvSpPr>
        <p:spPr>
          <a:xfrm>
            <a:off x="4429125" y="342900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庚</a:t>
            </a:r>
          </a:p>
        </p:txBody>
      </p:sp>
      <p:sp>
        <p:nvSpPr>
          <p:cNvPr id="21" name="Shape 21"/>
          <p:cNvSpPr/>
          <p:nvPr/>
        </p:nvSpPr>
        <p:spPr>
          <a:xfrm>
            <a:off x="4429125" y="4114800"/>
            <a:ext cx="609600" cy="609600"/>
          </a:xfrm>
          <a:prstGeom prst="ellipse">
            <a:avLst/>
          </a:prstGeom>
          <a:solidFill>
            <a:srgbClr val="C8B8E0">
              <a:alpha val="80000"/>
            </a:srgbClr>
          </a:solidFill>
          <a:ln/>
        </p:spPr>
      </p:sp>
      <p:sp>
        <p:nvSpPr>
          <p:cNvPr id="22" name="Text 22"/>
          <p:cNvSpPr/>
          <p:nvPr/>
        </p:nvSpPr>
        <p:spPr>
          <a:xfrm>
            <a:off x="4429125" y="411480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申</a:t>
            </a:r>
          </a:p>
        </p:txBody>
      </p:sp>
      <p:sp>
        <p:nvSpPr>
          <p:cNvPr id="23" name="Text 23"/>
          <p:cNvSpPr/>
          <p:nvPr/>
        </p:nvSpPr>
        <p:spPr>
          <a:xfrm>
            <a:off x="3486150" y="4610100"/>
            <a:ext cx="249555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비견</a:t>
            </a:r>
          </a:p>
        </p:txBody>
      </p:sp>
      <p:sp>
        <p:nvSpPr>
          <p:cNvPr id="24" name="Shape 24"/>
          <p:cNvSpPr/>
          <p:nvPr/>
        </p:nvSpPr>
        <p:spPr>
          <a:xfrm>
            <a:off x="6210300" y="2705100"/>
            <a:ext cx="2495550" cy="22669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Text 25"/>
          <p:cNvSpPr/>
          <p:nvPr/>
        </p:nvSpPr>
        <p:spPr>
          <a:xfrm>
            <a:off x="6210300" y="2857500"/>
            <a:ext cx="249555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월주</a:t>
            </a:r>
          </a:p>
        </p:txBody>
      </p:sp>
      <p:sp>
        <p:nvSpPr>
          <p:cNvPr id="26" name="Text 26"/>
          <p:cNvSpPr/>
          <p:nvPr/>
        </p:nvSpPr>
        <p:spPr>
          <a:xfrm>
            <a:off x="6210300" y="3143250"/>
            <a:ext cx="24955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식신</a:t>
            </a:r>
          </a:p>
        </p:txBody>
      </p:sp>
      <p:sp>
        <p:nvSpPr>
          <p:cNvPr id="27" name="Shape 27"/>
          <p:cNvSpPr/>
          <p:nvPr/>
        </p:nvSpPr>
        <p:spPr>
          <a:xfrm>
            <a:off x="7153275" y="3429000"/>
            <a:ext cx="609600" cy="609600"/>
          </a:xfrm>
          <a:prstGeom prst="ellipse">
            <a:avLst/>
          </a:prstGeom>
          <a:solidFill>
            <a:srgbClr val="A8C8E8">
              <a:alpha val="80000"/>
            </a:srgbClr>
          </a:solidFill>
          <a:ln/>
        </p:spPr>
      </p:sp>
      <p:sp>
        <p:nvSpPr>
          <p:cNvPr id="28" name="Text 28"/>
          <p:cNvSpPr/>
          <p:nvPr/>
        </p:nvSpPr>
        <p:spPr>
          <a:xfrm>
            <a:off x="7153275" y="342900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壬</a:t>
            </a:r>
          </a:p>
        </p:txBody>
      </p:sp>
      <p:sp>
        <p:nvSpPr>
          <p:cNvPr id="29" name="Shape 29"/>
          <p:cNvSpPr/>
          <p:nvPr/>
        </p:nvSpPr>
        <p:spPr>
          <a:xfrm>
            <a:off x="7153275" y="4114800"/>
            <a:ext cx="609600" cy="609600"/>
          </a:xfrm>
          <a:prstGeom prst="ellipse">
            <a:avLst/>
          </a:prstGeom>
          <a:solidFill>
            <a:srgbClr val="C8B8E0">
              <a:alpha val="80000"/>
            </a:srgbClr>
          </a:solidFill>
          <a:ln/>
        </p:spPr>
      </p:sp>
      <p:sp>
        <p:nvSpPr>
          <p:cNvPr id="30" name="Text 30"/>
          <p:cNvSpPr/>
          <p:nvPr/>
        </p:nvSpPr>
        <p:spPr>
          <a:xfrm>
            <a:off x="7153275" y="411480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申</a:t>
            </a:r>
          </a:p>
        </p:txBody>
      </p:sp>
      <p:sp>
        <p:nvSpPr>
          <p:cNvPr id="31" name="Text 31"/>
          <p:cNvSpPr/>
          <p:nvPr/>
        </p:nvSpPr>
        <p:spPr>
          <a:xfrm>
            <a:off x="6210300" y="4610100"/>
            <a:ext cx="249555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비견</a:t>
            </a:r>
          </a:p>
        </p:txBody>
      </p:sp>
      <p:sp>
        <p:nvSpPr>
          <p:cNvPr id="32" name="Shape 32"/>
          <p:cNvSpPr/>
          <p:nvPr/>
        </p:nvSpPr>
        <p:spPr>
          <a:xfrm>
            <a:off x="8934450" y="2705100"/>
            <a:ext cx="2495550" cy="22669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3" name="Text 33"/>
          <p:cNvSpPr/>
          <p:nvPr/>
        </p:nvSpPr>
        <p:spPr>
          <a:xfrm>
            <a:off x="8934450" y="2857500"/>
            <a:ext cx="249555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년주</a:t>
            </a:r>
          </a:p>
        </p:txBody>
      </p:sp>
      <p:sp>
        <p:nvSpPr>
          <p:cNvPr id="34" name="Text 34"/>
          <p:cNvSpPr/>
          <p:nvPr/>
        </p:nvSpPr>
        <p:spPr>
          <a:xfrm>
            <a:off x="8934450" y="3143250"/>
            <a:ext cx="24955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정인</a:t>
            </a:r>
          </a:p>
        </p:txBody>
      </p:sp>
      <p:sp>
        <p:nvSpPr>
          <p:cNvPr id="35" name="Shape 35"/>
          <p:cNvSpPr/>
          <p:nvPr/>
        </p:nvSpPr>
        <p:spPr>
          <a:xfrm>
            <a:off x="9877425" y="3429000"/>
            <a:ext cx="609600" cy="609600"/>
          </a:xfrm>
          <a:prstGeom prst="ellipse">
            <a:avLst/>
          </a:prstGeom>
          <a:solidFill>
            <a:srgbClr val="F4C5A8">
              <a:alpha val="80000"/>
            </a:srgbClr>
          </a:solidFill>
          <a:ln/>
        </p:spPr>
      </p:sp>
      <p:sp>
        <p:nvSpPr>
          <p:cNvPr id="36" name="Text 36"/>
          <p:cNvSpPr/>
          <p:nvPr/>
        </p:nvSpPr>
        <p:spPr>
          <a:xfrm>
            <a:off x="9877425" y="342900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己</a:t>
            </a:r>
          </a:p>
        </p:txBody>
      </p:sp>
      <p:sp>
        <p:nvSpPr>
          <p:cNvPr id="37" name="Shape 37"/>
          <p:cNvSpPr/>
          <p:nvPr/>
        </p:nvSpPr>
        <p:spPr>
          <a:xfrm>
            <a:off x="9877425" y="4114800"/>
            <a:ext cx="609600" cy="609600"/>
          </a:xfrm>
          <a:prstGeom prst="ellipse">
            <a:avLst/>
          </a:prstGeom>
          <a:solidFill>
            <a:srgbClr val="A7E5D3">
              <a:alpha val="80000"/>
            </a:srgbClr>
          </a:solidFill>
          <a:ln/>
        </p:spPr>
      </p:sp>
      <p:sp>
        <p:nvSpPr>
          <p:cNvPr id="38" name="Text 38"/>
          <p:cNvSpPr/>
          <p:nvPr/>
        </p:nvSpPr>
        <p:spPr>
          <a:xfrm>
            <a:off x="9877425" y="411480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卯</a:t>
            </a:r>
          </a:p>
        </p:txBody>
      </p:sp>
      <p:sp>
        <p:nvSpPr>
          <p:cNvPr id="39" name="Text 39"/>
          <p:cNvSpPr/>
          <p:nvPr/>
        </p:nvSpPr>
        <p:spPr>
          <a:xfrm>
            <a:off x="8934450" y="4610100"/>
            <a:ext cx="249555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정재</a:t>
            </a:r>
          </a:p>
        </p:txBody>
      </p:sp>
      <p:sp>
        <p:nvSpPr>
          <p:cNvPr id="40" name="Shape 40"/>
          <p:cNvSpPr/>
          <p:nvPr/>
        </p:nvSpPr>
        <p:spPr>
          <a:xfrm>
            <a:off x="762000" y="5105400"/>
            <a:ext cx="2011680" cy="762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41" name="Text 41"/>
          <p:cNvSpPr/>
          <p:nvPr/>
        </p:nvSpPr>
        <p:spPr>
          <a:xfrm>
            <a:off x="952500" y="5105400"/>
            <a:ext cx="163068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木</a:t>
            </a:r>
          </a:p>
        </p:txBody>
      </p:sp>
      <p:sp>
        <p:nvSpPr>
          <p:cNvPr id="42" name="Text 42"/>
          <p:cNvSpPr/>
          <p:nvPr/>
        </p:nvSpPr>
        <p:spPr>
          <a:xfrm>
            <a:off x="952500" y="5105400"/>
            <a:ext cx="163068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dirty="0">
                <a:solidFill>
                  <a:srgbClr val="77716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1</a:t>
            </a:r>
          </a:p>
        </p:txBody>
      </p:sp>
      <p:sp>
        <p:nvSpPr>
          <p:cNvPr id="43" name="Shape 43"/>
          <p:cNvSpPr/>
          <p:nvPr/>
        </p:nvSpPr>
        <p:spPr>
          <a:xfrm>
            <a:off x="2926080" y="5105400"/>
            <a:ext cx="2011680" cy="762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44" name="Text 44"/>
          <p:cNvSpPr/>
          <p:nvPr/>
        </p:nvSpPr>
        <p:spPr>
          <a:xfrm>
            <a:off x="3116580" y="5105400"/>
            <a:ext cx="163068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火</a:t>
            </a:r>
          </a:p>
        </p:txBody>
      </p:sp>
      <p:sp>
        <p:nvSpPr>
          <p:cNvPr id="45" name="Text 45"/>
          <p:cNvSpPr/>
          <p:nvPr/>
        </p:nvSpPr>
        <p:spPr>
          <a:xfrm>
            <a:off x="3116580" y="5105400"/>
            <a:ext cx="163068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dirty="0">
                <a:solidFill>
                  <a:srgbClr val="77716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1</a:t>
            </a:r>
          </a:p>
        </p:txBody>
      </p:sp>
      <p:sp>
        <p:nvSpPr>
          <p:cNvPr id="46" name="Shape 46"/>
          <p:cNvSpPr/>
          <p:nvPr/>
        </p:nvSpPr>
        <p:spPr>
          <a:xfrm>
            <a:off x="5090160" y="5105400"/>
            <a:ext cx="2011680" cy="762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47" name="Text 47"/>
          <p:cNvSpPr/>
          <p:nvPr/>
        </p:nvSpPr>
        <p:spPr>
          <a:xfrm>
            <a:off x="5280660" y="5105400"/>
            <a:ext cx="163068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土</a:t>
            </a:r>
          </a:p>
        </p:txBody>
      </p:sp>
      <p:sp>
        <p:nvSpPr>
          <p:cNvPr id="48" name="Text 48"/>
          <p:cNvSpPr/>
          <p:nvPr/>
        </p:nvSpPr>
        <p:spPr>
          <a:xfrm>
            <a:off x="5280660" y="5105400"/>
            <a:ext cx="163068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dirty="0">
                <a:solidFill>
                  <a:srgbClr val="77716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1</a:t>
            </a:r>
          </a:p>
        </p:txBody>
      </p:sp>
      <p:sp>
        <p:nvSpPr>
          <p:cNvPr id="49" name="Shape 49"/>
          <p:cNvSpPr/>
          <p:nvPr/>
        </p:nvSpPr>
        <p:spPr>
          <a:xfrm>
            <a:off x="7254240" y="5105400"/>
            <a:ext cx="2011680" cy="762000"/>
          </a:xfrm>
          <a:prstGeom prst="roundRect">
            <a:avLst>
              <a:gd name="adj" fmla="val 16000"/>
            </a:avLst>
          </a:prstGeom>
          <a:solidFill>
            <a:srgbClr val="C8B8E0"/>
          </a:solidFill>
          <a:ln w="12700">
            <a:solidFill>
              <a:srgbClr val="C8B8E0"/>
            </a:solidFill>
            <a:prstDash val="solid"/>
          </a:ln>
        </p:spPr>
      </p:sp>
      <p:sp>
        <p:nvSpPr>
          <p:cNvPr id="50" name="Text 50"/>
          <p:cNvSpPr/>
          <p:nvPr/>
        </p:nvSpPr>
        <p:spPr>
          <a:xfrm>
            <a:off x="7444740" y="5105400"/>
            <a:ext cx="163068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金</a:t>
            </a:r>
          </a:p>
        </p:txBody>
      </p:sp>
      <p:sp>
        <p:nvSpPr>
          <p:cNvPr id="51" name="Text 51"/>
          <p:cNvSpPr/>
          <p:nvPr/>
        </p:nvSpPr>
        <p:spPr>
          <a:xfrm>
            <a:off x="7444740" y="5105400"/>
            <a:ext cx="163068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4</a:t>
            </a:r>
          </a:p>
        </p:txBody>
      </p:sp>
      <p:sp>
        <p:nvSpPr>
          <p:cNvPr id="52" name="Shape 52"/>
          <p:cNvSpPr/>
          <p:nvPr/>
        </p:nvSpPr>
        <p:spPr>
          <a:xfrm>
            <a:off x="9418320" y="5105400"/>
            <a:ext cx="2011680" cy="762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53" name="Text 53"/>
          <p:cNvSpPr/>
          <p:nvPr/>
        </p:nvSpPr>
        <p:spPr>
          <a:xfrm>
            <a:off x="9608820" y="5105400"/>
            <a:ext cx="163068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水</a:t>
            </a:r>
          </a:p>
        </p:txBody>
      </p:sp>
      <p:sp>
        <p:nvSpPr>
          <p:cNvPr id="54" name="Text 54"/>
          <p:cNvSpPr/>
          <p:nvPr/>
        </p:nvSpPr>
        <p:spPr>
          <a:xfrm>
            <a:off x="9608820" y="5105400"/>
            <a:ext cx="163068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dirty="0">
                <a:solidFill>
                  <a:srgbClr val="77716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1</a:t>
            </a:r>
          </a:p>
        </p:txBody>
      </p:sp>
      <p:sp>
        <p:nvSpPr>
          <p:cNvPr id="55" name="Text 55"/>
          <p:cNvSpPr/>
          <p:nvPr/>
        </p:nvSpPr>
        <p:spPr>
          <a:xfrm>
            <a:off x="762000" y="5943600"/>
            <a:ext cx="10668000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金 4개로 가장 강하고 木 1개로 가장 약함 → 금이 넘치는 신강 사주.</a:t>
            </a:r>
          </a:p>
        </p:txBody>
      </p:sp>
      <p:sp>
        <p:nvSpPr>
          <p:cNvPr id="56" name="Shape 5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7" name="Text 5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58" name="Text 5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048750" y="3238500"/>
            <a:ext cx="3810000" cy="3810000"/>
          </a:xfrm>
          <a:prstGeom prst="ellipse">
            <a:avLst/>
          </a:prstGeom>
          <a:solidFill>
            <a:srgbClr val="C8B8E0">
              <a:alpha val="16000"/>
            </a:srgbClr>
          </a:solidFill>
          <a:ln/>
        </p:spPr>
      </p:sp>
      <p:sp>
        <p:nvSpPr>
          <p:cNvPr id="3" name="Shape 3"/>
          <p:cNvSpPr/>
          <p:nvPr/>
        </p:nvSpPr>
        <p:spPr>
          <a:xfrm>
            <a:off x="-762000" y="4572000"/>
            <a:ext cx="3048000" cy="3048000"/>
          </a:xfrm>
          <a:prstGeom prst="ellipse">
            <a:avLst/>
          </a:prstGeom>
          <a:solidFill>
            <a:srgbClr val="F4C5A8">
              <a:alpha val="14000"/>
            </a:srgbClr>
          </a:solidFill>
          <a:ln/>
        </p:spPr>
      </p:sp>
      <p:sp>
        <p:nvSpPr>
          <p:cNvPr id="4" name="Text 4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수수 사주교육</a:t>
            </a:r>
          </a:p>
        </p:txBody>
      </p:sp>
      <p:sp>
        <p:nvSpPr>
          <p:cNvPr id="5" name="Text 5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4 · 실습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4 · 종합 실습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4단계로 읽어보기</a:t>
            </a:r>
          </a:p>
        </p:txBody>
      </p:sp>
      <p:sp>
        <p:nvSpPr>
          <p:cNvPr id="8" name="Text 8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신민규 님 명식을 순서대로</a:t>
            </a:r>
          </a:p>
        </p:txBody>
      </p:sp>
      <p:sp>
        <p:nvSpPr>
          <p:cNvPr id="9" name="Shape 9"/>
          <p:cNvSpPr/>
          <p:nvPr/>
        </p:nvSpPr>
        <p:spPr>
          <a:xfrm>
            <a:off x="762000" y="2838450"/>
            <a:ext cx="609600" cy="609600"/>
          </a:xfrm>
          <a:prstGeom prst="ellipse">
            <a:avLst/>
          </a:prstGeom>
          <a:solidFill>
            <a:srgbClr val="A7E5D3">
              <a:alpha val="80000"/>
            </a:srgbClr>
          </a:solidFill>
          <a:ln/>
        </p:spPr>
      </p:sp>
      <p:sp>
        <p:nvSpPr>
          <p:cNvPr id="10" name="Text 10"/>
          <p:cNvSpPr/>
          <p:nvPr/>
        </p:nvSpPr>
        <p:spPr>
          <a:xfrm>
            <a:off x="762000" y="283845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1</a:t>
            </a:r>
          </a:p>
        </p:txBody>
      </p:sp>
      <p:sp>
        <p:nvSpPr>
          <p:cNvPr id="11" name="Text 11"/>
          <p:cNvSpPr/>
          <p:nvPr/>
        </p:nvSpPr>
        <p:spPr>
          <a:xfrm>
            <a:off x="1600200" y="2743200"/>
            <a:ext cx="9829800" cy="4160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일간·월지 — 庚金 · 초가을(申)</a:t>
            </a:r>
          </a:p>
        </p:txBody>
      </p:sp>
      <p:sp>
        <p:nvSpPr>
          <p:cNvPr id="12" name="Text 12"/>
          <p:cNvSpPr/>
          <p:nvPr/>
        </p:nvSpPr>
        <p:spPr>
          <a:xfrm>
            <a:off x="1600200" y="3143250"/>
            <a:ext cx="98298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원석 같은 금이 금 기운 센 계절에 태어났다</a:t>
            </a:r>
          </a:p>
        </p:txBody>
      </p:sp>
      <p:sp>
        <p:nvSpPr>
          <p:cNvPr id="13" name="Shape 13"/>
          <p:cNvSpPr/>
          <p:nvPr/>
        </p:nvSpPr>
        <p:spPr>
          <a:xfrm>
            <a:off x="1600200" y="3581400"/>
            <a:ext cx="98298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14" name="Shape 14"/>
          <p:cNvSpPr/>
          <p:nvPr/>
        </p:nvSpPr>
        <p:spPr>
          <a:xfrm>
            <a:off x="762000" y="3714750"/>
            <a:ext cx="609600" cy="609600"/>
          </a:xfrm>
          <a:prstGeom prst="ellipse">
            <a:avLst/>
          </a:prstGeom>
          <a:solidFill>
            <a:srgbClr val="A8C8E8">
              <a:alpha val="80000"/>
            </a:srgbClr>
          </a:solidFill>
          <a:ln/>
        </p:spPr>
      </p:sp>
      <p:sp>
        <p:nvSpPr>
          <p:cNvPr id="15" name="Text 15"/>
          <p:cNvSpPr/>
          <p:nvPr/>
        </p:nvSpPr>
        <p:spPr>
          <a:xfrm>
            <a:off x="762000" y="371475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2</a:t>
            </a:r>
          </a:p>
        </p:txBody>
      </p:sp>
      <p:sp>
        <p:nvSpPr>
          <p:cNvPr id="16" name="Text 16"/>
          <p:cNvSpPr/>
          <p:nvPr/>
        </p:nvSpPr>
        <p:spPr>
          <a:xfrm>
            <a:off x="1600200" y="3619500"/>
            <a:ext cx="9829800" cy="4160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신강·신약 — 신강</a:t>
            </a:r>
          </a:p>
        </p:txBody>
      </p:sp>
      <p:sp>
        <p:nvSpPr>
          <p:cNvPr id="17" name="Text 17"/>
          <p:cNvSpPr/>
          <p:nvPr/>
        </p:nvSpPr>
        <p:spPr>
          <a:xfrm>
            <a:off x="1600200" y="4019550"/>
            <a:ext cx="98298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비겁 金4 + 인성 土1 = 5개(63%) + 득령 → 확실한 신강</a:t>
            </a:r>
          </a:p>
        </p:txBody>
      </p:sp>
      <p:sp>
        <p:nvSpPr>
          <p:cNvPr id="18" name="Shape 18"/>
          <p:cNvSpPr/>
          <p:nvPr/>
        </p:nvSpPr>
        <p:spPr>
          <a:xfrm>
            <a:off x="1600200" y="4457700"/>
            <a:ext cx="98298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19" name="Shape 19"/>
          <p:cNvSpPr/>
          <p:nvPr/>
        </p:nvSpPr>
        <p:spPr>
          <a:xfrm>
            <a:off x="762000" y="4591050"/>
            <a:ext cx="609600" cy="609600"/>
          </a:xfrm>
          <a:prstGeom prst="ellipse">
            <a:avLst/>
          </a:prstGeom>
          <a:solidFill>
            <a:srgbClr val="F4C5A8">
              <a:alpha val="80000"/>
            </a:srgbClr>
          </a:solidFill>
          <a:ln/>
        </p:spPr>
      </p:sp>
      <p:sp>
        <p:nvSpPr>
          <p:cNvPr id="20" name="Text 20"/>
          <p:cNvSpPr/>
          <p:nvPr/>
        </p:nvSpPr>
        <p:spPr>
          <a:xfrm>
            <a:off x="762000" y="459105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3</a:t>
            </a:r>
          </a:p>
        </p:txBody>
      </p:sp>
      <p:sp>
        <p:nvSpPr>
          <p:cNvPr id="21" name="Text 21"/>
          <p:cNvSpPr/>
          <p:nvPr/>
        </p:nvSpPr>
        <p:spPr>
          <a:xfrm>
            <a:off x="1600200" y="4495800"/>
            <a:ext cx="9829800" cy="4160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용신 — 水 (희신 金 · 기신 土)</a:t>
            </a:r>
          </a:p>
        </p:txBody>
      </p:sp>
      <p:sp>
        <p:nvSpPr>
          <p:cNvPr id="22" name="Text 22"/>
          <p:cNvSpPr/>
          <p:nvPr/>
        </p:nvSpPr>
        <p:spPr>
          <a:xfrm>
            <a:off x="1600200" y="4895850"/>
            <a:ext cx="98298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넘치는 金을 물로 설기 → 균형을 잡는 열쇠는 水</a:t>
            </a:r>
          </a:p>
        </p:txBody>
      </p:sp>
      <p:sp>
        <p:nvSpPr>
          <p:cNvPr id="23" name="Shape 23"/>
          <p:cNvSpPr/>
          <p:nvPr/>
        </p:nvSpPr>
        <p:spPr>
          <a:xfrm>
            <a:off x="1600200" y="5334000"/>
            <a:ext cx="98298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4" name="Shape 24"/>
          <p:cNvSpPr/>
          <p:nvPr/>
        </p:nvSpPr>
        <p:spPr>
          <a:xfrm>
            <a:off x="762000" y="5467350"/>
            <a:ext cx="609600" cy="609600"/>
          </a:xfrm>
          <a:prstGeom prst="ellipse">
            <a:avLst/>
          </a:prstGeom>
          <a:solidFill>
            <a:srgbClr val="C8B8E0">
              <a:alpha val="80000"/>
            </a:srgbClr>
          </a:solidFill>
          <a:ln/>
        </p:spPr>
      </p:sp>
      <p:sp>
        <p:nvSpPr>
          <p:cNvPr id="25" name="Text 25"/>
          <p:cNvSpPr/>
          <p:nvPr/>
        </p:nvSpPr>
        <p:spPr>
          <a:xfrm>
            <a:off x="762000" y="546735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4</a:t>
            </a:r>
          </a:p>
        </p:txBody>
      </p:sp>
      <p:sp>
        <p:nvSpPr>
          <p:cNvPr id="26" name="Text 26"/>
          <p:cNvSpPr/>
          <p:nvPr/>
        </p:nvSpPr>
        <p:spPr>
          <a:xfrm>
            <a:off x="1600200" y="5372100"/>
            <a:ext cx="9829800" cy="4160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대운 대입 — 시기 읽기</a:t>
            </a:r>
          </a:p>
        </p:txBody>
      </p:sp>
      <p:sp>
        <p:nvSpPr>
          <p:cNvPr id="27" name="Text 27"/>
          <p:cNvSpPr/>
          <p:nvPr/>
        </p:nvSpPr>
        <p:spPr>
          <a:xfrm>
            <a:off x="1600200" y="5772150"/>
            <a:ext cx="98298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용신 水·희신 金이 드는 시기가 순풍, 土 강한 시기는 조심</a:t>
            </a:r>
          </a:p>
        </p:txBody>
      </p:sp>
      <p:sp>
        <p:nvSpPr>
          <p:cNvPr id="28" name="Shape 28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9" name="Text 29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30" name="Text 30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048750" y="3048000"/>
            <a:ext cx="3810000" cy="3810000"/>
          </a:xfrm>
          <a:prstGeom prst="ellipse">
            <a:avLst/>
          </a:prstGeom>
          <a:solidFill>
            <a:srgbClr val="F4C5A8">
              <a:alpha val="15000"/>
            </a:srgbClr>
          </a:solidFill>
          <a:ln/>
        </p:spPr>
      </p:sp>
      <p:sp>
        <p:nvSpPr>
          <p:cNvPr id="3" name="Text 3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수수 사주교육</a:t>
            </a:r>
          </a:p>
        </p:txBody>
      </p:sp>
      <p:sp>
        <p:nvSpPr>
          <p:cNvPr id="4" name="Text 4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4 · 실습</a:t>
            </a:r>
          </a:p>
        </p:txBody>
      </p:sp>
      <p:sp>
        <p:nvSpPr>
          <p:cNvPr id="5" name="Text 5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STEP 4 · 종합 실습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대운에 대입하기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용신 水 · 희신 金의 눈으로 시기 읽기</a:t>
            </a:r>
          </a:p>
        </p:txBody>
      </p:sp>
      <p:sp>
        <p:nvSpPr>
          <p:cNvPr id="8" name="Shape 8"/>
          <p:cNvSpPr/>
          <p:nvPr/>
        </p:nvSpPr>
        <p:spPr>
          <a:xfrm>
            <a:off x="762000" y="2819400"/>
            <a:ext cx="1083733" cy="1219200"/>
          </a:xfrm>
          <a:prstGeom prst="roundRect">
            <a:avLst>
              <a:gd name="adj" fmla="val 12000"/>
            </a:avLst>
          </a:prstGeom>
          <a:solidFill>
            <a:srgbClr val="A8C8E8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9" name="Text 9"/>
          <p:cNvSpPr/>
          <p:nvPr/>
        </p:nvSpPr>
        <p:spPr>
          <a:xfrm>
            <a:off x="762000" y="2971800"/>
            <a:ext cx="1083733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辛未</a:t>
            </a:r>
          </a:p>
        </p:txBody>
      </p:sp>
      <p:sp>
        <p:nvSpPr>
          <p:cNvPr id="10" name="Text 10"/>
          <p:cNvSpPr/>
          <p:nvPr/>
        </p:nvSpPr>
        <p:spPr>
          <a:xfrm>
            <a:off x="762000" y="3676650"/>
            <a:ext cx="1083733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11세</a:t>
            </a:r>
          </a:p>
        </p:txBody>
      </p:sp>
      <p:sp>
        <p:nvSpPr>
          <p:cNvPr id="11" name="Shape 11"/>
          <p:cNvSpPr/>
          <p:nvPr/>
        </p:nvSpPr>
        <p:spPr>
          <a:xfrm>
            <a:off x="1960033" y="2819400"/>
            <a:ext cx="1083733" cy="1219200"/>
          </a:xfrm>
          <a:prstGeom prst="roundRect">
            <a:avLst>
              <a:gd name="adj" fmla="val 12000"/>
            </a:avLst>
          </a:prstGeom>
          <a:solidFill>
            <a:srgbClr val="A8C8E8"/>
          </a:solidFill>
          <a:ln w="19050">
            <a:solidFill>
              <a:srgbClr val="0C0A09"/>
            </a:solidFill>
            <a:prstDash val="solid"/>
          </a:ln>
        </p:spPr>
      </p:sp>
      <p:sp>
        <p:nvSpPr>
          <p:cNvPr id="12" name="Text 12"/>
          <p:cNvSpPr/>
          <p:nvPr/>
        </p:nvSpPr>
        <p:spPr>
          <a:xfrm>
            <a:off x="1960033" y="2971800"/>
            <a:ext cx="1083733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庚午</a:t>
            </a:r>
          </a:p>
        </p:txBody>
      </p:sp>
      <p:sp>
        <p:nvSpPr>
          <p:cNvPr id="13" name="Text 13"/>
          <p:cNvSpPr/>
          <p:nvPr/>
        </p:nvSpPr>
        <p:spPr>
          <a:xfrm>
            <a:off x="1960033" y="3676650"/>
            <a:ext cx="1083733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21세</a:t>
            </a:r>
          </a:p>
        </p:txBody>
      </p:sp>
      <p:sp>
        <p:nvSpPr>
          <p:cNvPr id="14" name="Shape 14"/>
          <p:cNvSpPr/>
          <p:nvPr/>
        </p:nvSpPr>
        <p:spPr>
          <a:xfrm>
            <a:off x="3158066" y="2819400"/>
            <a:ext cx="1083733" cy="1219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5" name="Text 15"/>
          <p:cNvSpPr/>
          <p:nvPr/>
        </p:nvSpPr>
        <p:spPr>
          <a:xfrm>
            <a:off x="3158066" y="2971800"/>
            <a:ext cx="1083733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己巳</a:t>
            </a:r>
          </a:p>
        </p:txBody>
      </p:sp>
      <p:sp>
        <p:nvSpPr>
          <p:cNvPr id="16" name="Text 16"/>
          <p:cNvSpPr/>
          <p:nvPr/>
        </p:nvSpPr>
        <p:spPr>
          <a:xfrm>
            <a:off x="3158066" y="3676650"/>
            <a:ext cx="1083733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31세</a:t>
            </a:r>
          </a:p>
        </p:txBody>
      </p:sp>
      <p:sp>
        <p:nvSpPr>
          <p:cNvPr id="17" name="Shape 17"/>
          <p:cNvSpPr/>
          <p:nvPr/>
        </p:nvSpPr>
        <p:spPr>
          <a:xfrm>
            <a:off x="4356099" y="2819400"/>
            <a:ext cx="1083733" cy="1219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8" name="Text 18"/>
          <p:cNvSpPr/>
          <p:nvPr/>
        </p:nvSpPr>
        <p:spPr>
          <a:xfrm>
            <a:off x="4356099" y="2971800"/>
            <a:ext cx="1083733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戊辰</a:t>
            </a:r>
          </a:p>
        </p:txBody>
      </p:sp>
      <p:sp>
        <p:nvSpPr>
          <p:cNvPr id="19" name="Text 19"/>
          <p:cNvSpPr/>
          <p:nvPr/>
        </p:nvSpPr>
        <p:spPr>
          <a:xfrm>
            <a:off x="4356099" y="3676650"/>
            <a:ext cx="1083733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41세</a:t>
            </a:r>
          </a:p>
        </p:txBody>
      </p:sp>
      <p:sp>
        <p:nvSpPr>
          <p:cNvPr id="20" name="Shape 20"/>
          <p:cNvSpPr/>
          <p:nvPr/>
        </p:nvSpPr>
        <p:spPr>
          <a:xfrm>
            <a:off x="5554132" y="2819400"/>
            <a:ext cx="1083733" cy="1219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1" name="Text 21"/>
          <p:cNvSpPr/>
          <p:nvPr/>
        </p:nvSpPr>
        <p:spPr>
          <a:xfrm>
            <a:off x="5554132" y="2971800"/>
            <a:ext cx="1083733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丁卯</a:t>
            </a:r>
          </a:p>
        </p:txBody>
      </p:sp>
      <p:sp>
        <p:nvSpPr>
          <p:cNvPr id="22" name="Text 22"/>
          <p:cNvSpPr/>
          <p:nvPr/>
        </p:nvSpPr>
        <p:spPr>
          <a:xfrm>
            <a:off x="5554132" y="3676650"/>
            <a:ext cx="1083733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51세</a:t>
            </a:r>
          </a:p>
        </p:txBody>
      </p:sp>
      <p:sp>
        <p:nvSpPr>
          <p:cNvPr id="23" name="Shape 23"/>
          <p:cNvSpPr/>
          <p:nvPr/>
        </p:nvSpPr>
        <p:spPr>
          <a:xfrm>
            <a:off x="6752165" y="2819400"/>
            <a:ext cx="1083733" cy="1219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4" name="Text 24"/>
          <p:cNvSpPr/>
          <p:nvPr/>
        </p:nvSpPr>
        <p:spPr>
          <a:xfrm>
            <a:off x="6752165" y="2971800"/>
            <a:ext cx="1083733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丙寅</a:t>
            </a:r>
          </a:p>
        </p:txBody>
      </p:sp>
      <p:sp>
        <p:nvSpPr>
          <p:cNvPr id="25" name="Text 25"/>
          <p:cNvSpPr/>
          <p:nvPr/>
        </p:nvSpPr>
        <p:spPr>
          <a:xfrm>
            <a:off x="6752165" y="3676650"/>
            <a:ext cx="1083733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61세</a:t>
            </a:r>
          </a:p>
        </p:txBody>
      </p:sp>
      <p:sp>
        <p:nvSpPr>
          <p:cNvPr id="26" name="Shape 26"/>
          <p:cNvSpPr/>
          <p:nvPr/>
        </p:nvSpPr>
        <p:spPr>
          <a:xfrm>
            <a:off x="7950198" y="2819400"/>
            <a:ext cx="1083733" cy="1219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7" name="Text 27"/>
          <p:cNvSpPr/>
          <p:nvPr/>
        </p:nvSpPr>
        <p:spPr>
          <a:xfrm>
            <a:off x="7950198" y="2971800"/>
            <a:ext cx="1083733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乙丑</a:t>
            </a:r>
          </a:p>
        </p:txBody>
      </p:sp>
      <p:sp>
        <p:nvSpPr>
          <p:cNvPr id="28" name="Text 28"/>
          <p:cNvSpPr/>
          <p:nvPr/>
        </p:nvSpPr>
        <p:spPr>
          <a:xfrm>
            <a:off x="7950198" y="3676650"/>
            <a:ext cx="1083733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71세</a:t>
            </a:r>
          </a:p>
        </p:txBody>
      </p:sp>
      <p:sp>
        <p:nvSpPr>
          <p:cNvPr id="29" name="Shape 29"/>
          <p:cNvSpPr/>
          <p:nvPr/>
        </p:nvSpPr>
        <p:spPr>
          <a:xfrm>
            <a:off x="9148231" y="2819400"/>
            <a:ext cx="1083733" cy="1219200"/>
          </a:xfrm>
          <a:prstGeom prst="roundRect">
            <a:avLst>
              <a:gd name="adj" fmla="val 12000"/>
            </a:avLst>
          </a:prstGeom>
          <a:solidFill>
            <a:srgbClr val="A8C8E8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30" name="Text 30"/>
          <p:cNvSpPr/>
          <p:nvPr/>
        </p:nvSpPr>
        <p:spPr>
          <a:xfrm>
            <a:off x="9148231" y="2971800"/>
            <a:ext cx="1083733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甲子</a:t>
            </a:r>
          </a:p>
        </p:txBody>
      </p:sp>
      <p:sp>
        <p:nvSpPr>
          <p:cNvPr id="31" name="Text 31"/>
          <p:cNvSpPr/>
          <p:nvPr/>
        </p:nvSpPr>
        <p:spPr>
          <a:xfrm>
            <a:off x="9148231" y="3676650"/>
            <a:ext cx="1083733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81세</a:t>
            </a:r>
          </a:p>
        </p:txBody>
      </p:sp>
      <p:sp>
        <p:nvSpPr>
          <p:cNvPr id="32" name="Shape 32"/>
          <p:cNvSpPr/>
          <p:nvPr/>
        </p:nvSpPr>
        <p:spPr>
          <a:xfrm>
            <a:off x="10346264" y="2819400"/>
            <a:ext cx="1083733" cy="1219200"/>
          </a:xfrm>
          <a:prstGeom prst="roundRect">
            <a:avLst>
              <a:gd name="adj" fmla="val 12000"/>
            </a:avLst>
          </a:prstGeom>
          <a:solidFill>
            <a:srgbClr val="A8C8E8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33" name="Text 33"/>
          <p:cNvSpPr/>
          <p:nvPr/>
        </p:nvSpPr>
        <p:spPr>
          <a:xfrm>
            <a:off x="10346264" y="2971800"/>
            <a:ext cx="1083733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癸亥</a:t>
            </a:r>
          </a:p>
        </p:txBody>
      </p:sp>
      <p:sp>
        <p:nvSpPr>
          <p:cNvPr id="34" name="Text 34"/>
          <p:cNvSpPr/>
          <p:nvPr/>
        </p:nvSpPr>
        <p:spPr>
          <a:xfrm>
            <a:off x="10346264" y="3676650"/>
            <a:ext cx="1083733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91세</a:t>
            </a:r>
          </a:p>
        </p:txBody>
      </p:sp>
      <p:sp>
        <p:nvSpPr>
          <p:cNvPr id="35" name="Shape 35"/>
          <p:cNvSpPr/>
          <p:nvPr/>
        </p:nvSpPr>
        <p:spPr>
          <a:xfrm>
            <a:off x="762000" y="4267200"/>
            <a:ext cx="10668000" cy="990600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6" name="Text 36"/>
          <p:cNvSpPr/>
          <p:nvPr/>
        </p:nvSpPr>
        <p:spPr>
          <a:xfrm>
            <a:off x="1066800" y="4267200"/>
            <a:ext cx="1371600" cy="990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읽는 법</a:t>
            </a:r>
          </a:p>
        </p:txBody>
      </p:sp>
      <p:sp>
        <p:nvSpPr>
          <p:cNvPr id="37" name="Text 37"/>
          <p:cNvSpPr/>
          <p:nvPr/>
        </p:nvSpPr>
        <p:spPr>
          <a:xfrm>
            <a:off x="2438400" y="4267200"/>
            <a:ext cx="8686800" cy="990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용신 水·희신 金이 드는 시기(파란 칸)가 상대적 순풍 — 넘치는 금을 잘 흘려보내는 때.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반대로 기신 土가 강한 대운(戊辰 등)은 무리보다 “다지는” 전략. (검은 테두리 = 현재 대운)</a:t>
            </a:r>
          </a:p>
        </p:txBody>
      </p:sp>
      <p:sp>
        <p:nvSpPr>
          <p:cNvPr id="38" name="Text 38"/>
          <p:cNvSpPr/>
          <p:nvPr/>
        </p:nvSpPr>
        <p:spPr>
          <a:xfrm>
            <a:off x="762000" y="5410200"/>
            <a:ext cx="10668000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실제 간지·대운수는 만세력이 자동 계산합니다. 여기서는 용신 관점의 “읽는 연습”입니다.</a:t>
            </a:r>
          </a:p>
        </p:txBody>
      </p:sp>
      <p:sp>
        <p:nvSpPr>
          <p:cNvPr id="39" name="Shape 39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40" name="Text 40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41" name="Text 41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048750" y="3048000"/>
            <a:ext cx="3810000" cy="3810000"/>
          </a:xfrm>
          <a:prstGeom prst="ellipse">
            <a:avLst/>
          </a:prstGeom>
          <a:solidFill>
            <a:srgbClr val="F4C5A8">
              <a:alpha val="15000"/>
            </a:srgbClr>
          </a:solidFill>
          <a:ln/>
        </p:spPr>
      </p:sp>
      <p:sp>
        <p:nvSpPr>
          <p:cNvPr id="3" name="Text 3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수수 사주교육</a:t>
            </a:r>
          </a:p>
        </p:txBody>
      </p:sp>
      <p:sp>
        <p:nvSpPr>
          <p:cNvPr id="4" name="Text 4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REVIEW</a:t>
            </a:r>
          </a:p>
        </p:txBody>
      </p:sp>
      <p:sp>
        <p:nvSpPr>
          <p:cNvPr id="5" name="Text 5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WRAP-UP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3회차 핵심 요약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 순서만 지키면 어떤 사주도 푼다</a:t>
            </a:r>
          </a:p>
        </p:txBody>
      </p:sp>
      <p:sp>
        <p:nvSpPr>
          <p:cNvPr id="8" name="Shape 8"/>
          <p:cNvSpPr/>
          <p:nvPr/>
        </p:nvSpPr>
        <p:spPr>
          <a:xfrm>
            <a:off x="762000" y="2750820"/>
            <a:ext cx="609600" cy="609600"/>
          </a:xfrm>
          <a:prstGeom prst="ellipse">
            <a:avLst/>
          </a:prstGeom>
          <a:solidFill>
            <a:srgbClr val="A7E5D3">
              <a:alpha val="80000"/>
            </a:srgbClr>
          </a:solidFill>
          <a:ln/>
        </p:spPr>
      </p:sp>
      <p:sp>
        <p:nvSpPr>
          <p:cNvPr id="9" name="Text 9"/>
          <p:cNvSpPr/>
          <p:nvPr/>
        </p:nvSpPr>
        <p:spPr>
          <a:xfrm>
            <a:off x="762000" y="275082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1</a:t>
            </a:r>
          </a:p>
        </p:txBody>
      </p:sp>
      <p:sp>
        <p:nvSpPr>
          <p:cNvPr id="10" name="Text 10"/>
          <p:cNvSpPr/>
          <p:nvPr/>
        </p:nvSpPr>
        <p:spPr>
          <a:xfrm>
            <a:off x="1600200" y="2743200"/>
            <a:ext cx="9829800" cy="32491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일간 → 주인공 정하기</a:t>
            </a:r>
          </a:p>
        </p:txBody>
      </p:sp>
      <p:sp>
        <p:nvSpPr>
          <p:cNvPr id="11" name="Text 11"/>
          <p:cNvSpPr/>
          <p:nvPr/>
        </p:nvSpPr>
        <p:spPr>
          <a:xfrm>
            <a:off x="1600200" y="3055620"/>
            <a:ext cx="9829800" cy="312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해석은 일간(나)에서 시작</a:t>
            </a:r>
          </a:p>
        </p:txBody>
      </p:sp>
      <p:sp>
        <p:nvSpPr>
          <p:cNvPr id="12" name="Shape 12"/>
          <p:cNvSpPr/>
          <p:nvPr/>
        </p:nvSpPr>
        <p:spPr>
          <a:xfrm>
            <a:off x="1600200" y="3406140"/>
            <a:ext cx="98298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13" name="Shape 13"/>
          <p:cNvSpPr/>
          <p:nvPr/>
        </p:nvSpPr>
        <p:spPr>
          <a:xfrm>
            <a:off x="762000" y="3451860"/>
            <a:ext cx="609600" cy="609600"/>
          </a:xfrm>
          <a:prstGeom prst="ellipse">
            <a:avLst/>
          </a:prstGeom>
          <a:solidFill>
            <a:srgbClr val="A8C8E8">
              <a:alpha val="80000"/>
            </a:srgbClr>
          </a:solidFill>
          <a:ln/>
        </p:spPr>
      </p:sp>
      <p:sp>
        <p:nvSpPr>
          <p:cNvPr id="14" name="Text 14"/>
          <p:cNvSpPr/>
          <p:nvPr/>
        </p:nvSpPr>
        <p:spPr>
          <a:xfrm>
            <a:off x="762000" y="345186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2</a:t>
            </a:r>
          </a:p>
        </p:txBody>
      </p:sp>
      <p:sp>
        <p:nvSpPr>
          <p:cNvPr id="15" name="Text 15"/>
          <p:cNvSpPr/>
          <p:nvPr/>
        </p:nvSpPr>
        <p:spPr>
          <a:xfrm>
            <a:off x="1600200" y="3444240"/>
            <a:ext cx="9829800" cy="32491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월지 → 계절·조후 보기</a:t>
            </a:r>
          </a:p>
        </p:txBody>
      </p:sp>
      <p:sp>
        <p:nvSpPr>
          <p:cNvPr id="16" name="Text 16"/>
          <p:cNvSpPr/>
          <p:nvPr/>
        </p:nvSpPr>
        <p:spPr>
          <a:xfrm>
            <a:off x="1600200" y="3756660"/>
            <a:ext cx="9829800" cy="312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힘센 자리, 격국과 온도의 뿌리</a:t>
            </a:r>
          </a:p>
        </p:txBody>
      </p:sp>
      <p:sp>
        <p:nvSpPr>
          <p:cNvPr id="17" name="Shape 17"/>
          <p:cNvSpPr/>
          <p:nvPr/>
        </p:nvSpPr>
        <p:spPr>
          <a:xfrm>
            <a:off x="1600200" y="4107180"/>
            <a:ext cx="98298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18" name="Shape 18"/>
          <p:cNvSpPr/>
          <p:nvPr/>
        </p:nvSpPr>
        <p:spPr>
          <a:xfrm>
            <a:off x="762000" y="4152900"/>
            <a:ext cx="609600" cy="609600"/>
          </a:xfrm>
          <a:prstGeom prst="ellipse">
            <a:avLst/>
          </a:prstGeom>
          <a:solidFill>
            <a:srgbClr val="F4C5A8">
              <a:alpha val="80000"/>
            </a:srgbClr>
          </a:solidFill>
          <a:ln/>
        </p:spPr>
      </p:sp>
      <p:sp>
        <p:nvSpPr>
          <p:cNvPr id="19" name="Text 19"/>
          <p:cNvSpPr/>
          <p:nvPr/>
        </p:nvSpPr>
        <p:spPr>
          <a:xfrm>
            <a:off x="762000" y="415290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3</a:t>
            </a:r>
          </a:p>
        </p:txBody>
      </p:sp>
      <p:sp>
        <p:nvSpPr>
          <p:cNvPr id="20" name="Text 20"/>
          <p:cNvSpPr/>
          <p:nvPr/>
        </p:nvSpPr>
        <p:spPr>
          <a:xfrm>
            <a:off x="1600200" y="4145280"/>
            <a:ext cx="9829800" cy="32491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신강·신약 → 힘 재기</a:t>
            </a:r>
          </a:p>
        </p:txBody>
      </p:sp>
      <p:sp>
        <p:nvSpPr>
          <p:cNvPr id="21" name="Text 21"/>
          <p:cNvSpPr/>
          <p:nvPr/>
        </p:nvSpPr>
        <p:spPr>
          <a:xfrm>
            <a:off x="1600200" y="4457700"/>
            <a:ext cx="9829800" cy="312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득령·득지·득세로 내 편의 비율을 센다</a:t>
            </a:r>
          </a:p>
        </p:txBody>
      </p:sp>
      <p:sp>
        <p:nvSpPr>
          <p:cNvPr id="22" name="Shape 22"/>
          <p:cNvSpPr/>
          <p:nvPr/>
        </p:nvSpPr>
        <p:spPr>
          <a:xfrm>
            <a:off x="1600200" y="4808220"/>
            <a:ext cx="98298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3" name="Shape 23"/>
          <p:cNvSpPr/>
          <p:nvPr/>
        </p:nvSpPr>
        <p:spPr>
          <a:xfrm>
            <a:off x="762000" y="4853940"/>
            <a:ext cx="609600" cy="609600"/>
          </a:xfrm>
          <a:prstGeom prst="ellipse">
            <a:avLst/>
          </a:prstGeom>
          <a:solidFill>
            <a:srgbClr val="C8B8E0">
              <a:alpha val="80000"/>
            </a:srgbClr>
          </a:solidFill>
          <a:ln/>
        </p:spPr>
      </p:sp>
      <p:sp>
        <p:nvSpPr>
          <p:cNvPr id="24" name="Text 24"/>
          <p:cNvSpPr/>
          <p:nvPr/>
        </p:nvSpPr>
        <p:spPr>
          <a:xfrm>
            <a:off x="762000" y="485394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4</a:t>
            </a:r>
          </a:p>
        </p:txBody>
      </p:sp>
      <p:sp>
        <p:nvSpPr>
          <p:cNvPr id="25" name="Text 25"/>
          <p:cNvSpPr/>
          <p:nvPr/>
        </p:nvSpPr>
        <p:spPr>
          <a:xfrm>
            <a:off x="1600200" y="4846320"/>
            <a:ext cx="9829800" cy="32491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용신 → 열쇠 오행</a:t>
            </a:r>
          </a:p>
        </p:txBody>
      </p:sp>
      <p:sp>
        <p:nvSpPr>
          <p:cNvPr id="26" name="Text 26"/>
          <p:cNvSpPr/>
          <p:nvPr/>
        </p:nvSpPr>
        <p:spPr>
          <a:xfrm>
            <a:off x="1600200" y="5158740"/>
            <a:ext cx="9829800" cy="312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신강이면 덜고(식재관), 신약이면 채운다(인비)</a:t>
            </a:r>
          </a:p>
        </p:txBody>
      </p:sp>
      <p:sp>
        <p:nvSpPr>
          <p:cNvPr id="27" name="Shape 27"/>
          <p:cNvSpPr/>
          <p:nvPr/>
        </p:nvSpPr>
        <p:spPr>
          <a:xfrm>
            <a:off x="1600200" y="5509260"/>
            <a:ext cx="98298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8" name="Shape 28"/>
          <p:cNvSpPr/>
          <p:nvPr/>
        </p:nvSpPr>
        <p:spPr>
          <a:xfrm>
            <a:off x="762000" y="5554980"/>
            <a:ext cx="609600" cy="609600"/>
          </a:xfrm>
          <a:prstGeom prst="ellipse">
            <a:avLst/>
          </a:prstGeom>
          <a:solidFill>
            <a:srgbClr val="E8B8C4">
              <a:alpha val="80000"/>
            </a:srgbClr>
          </a:solidFill>
          <a:ln/>
        </p:spPr>
      </p:sp>
      <p:sp>
        <p:nvSpPr>
          <p:cNvPr id="29" name="Text 29"/>
          <p:cNvSpPr/>
          <p:nvPr/>
        </p:nvSpPr>
        <p:spPr>
          <a:xfrm>
            <a:off x="762000" y="555498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5</a:t>
            </a:r>
          </a:p>
        </p:txBody>
      </p:sp>
      <p:sp>
        <p:nvSpPr>
          <p:cNvPr id="30" name="Text 30"/>
          <p:cNvSpPr/>
          <p:nvPr/>
        </p:nvSpPr>
        <p:spPr>
          <a:xfrm>
            <a:off x="1600200" y="5547360"/>
            <a:ext cx="9829800" cy="32491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C0A0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대운 대입 → 시기 읽기</a:t>
            </a:r>
          </a:p>
        </p:txBody>
      </p:sp>
      <p:sp>
        <p:nvSpPr>
          <p:cNvPr id="31" name="Text 31"/>
          <p:cNvSpPr/>
          <p:nvPr/>
        </p:nvSpPr>
        <p:spPr>
          <a:xfrm>
            <a:off x="1600200" y="5859780"/>
            <a:ext cx="9829800" cy="312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용신·희신 운은 순풍, 기신 운은 조심</a:t>
            </a:r>
          </a:p>
        </p:txBody>
      </p:sp>
      <p:sp>
        <p:nvSpPr>
          <p:cNvPr id="32" name="Shape 32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33" name="Text 33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34" name="Text 34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810500" y="-1143000"/>
            <a:ext cx="5715000" cy="5715000"/>
          </a:xfrm>
          <a:prstGeom prst="ellipse">
            <a:avLst/>
          </a:prstGeom>
          <a:solidFill>
            <a:srgbClr val="A7E5D3">
              <a:alpha val="20000"/>
            </a:srgbClr>
          </a:solidFill>
          <a:ln/>
        </p:spPr>
      </p:sp>
      <p:sp>
        <p:nvSpPr>
          <p:cNvPr id="3" name="Shape 3"/>
          <p:cNvSpPr/>
          <p:nvPr/>
        </p:nvSpPr>
        <p:spPr>
          <a:xfrm>
            <a:off x="-1524000" y="3810000"/>
            <a:ext cx="5334000" cy="5334000"/>
          </a:xfrm>
          <a:prstGeom prst="ellipse">
            <a:avLst/>
          </a:prstGeom>
          <a:solidFill>
            <a:srgbClr val="A8C8E8">
              <a:alpha val="16000"/>
            </a:srgbClr>
          </a:solidFill>
          <a:ln/>
        </p:spPr>
      </p:sp>
      <p:sp>
        <p:nvSpPr>
          <p:cNvPr id="4" name="Shape 4"/>
          <p:cNvSpPr/>
          <p:nvPr/>
        </p:nvSpPr>
        <p:spPr>
          <a:xfrm>
            <a:off x="5715000" y="3048000"/>
            <a:ext cx="4572000" cy="4572000"/>
          </a:xfrm>
          <a:prstGeom prst="ellipse">
            <a:avLst/>
          </a:prstGeom>
          <a:solidFill>
            <a:srgbClr val="F4C5A8">
              <a:alpha val="16000"/>
            </a:srgbClr>
          </a:solidFill>
          <a:ln/>
        </p:spPr>
      </p:sp>
      <p:sp>
        <p:nvSpPr>
          <p:cNvPr id="5" name="Text 5"/>
          <p:cNvSpPr/>
          <p:nvPr/>
        </p:nvSpPr>
        <p:spPr>
          <a:xfrm>
            <a:off x="762000" y="533400"/>
            <a:ext cx="5715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수수 사주교육</a:t>
            </a:r>
          </a:p>
        </p:txBody>
      </p:sp>
      <p:sp>
        <p:nvSpPr>
          <p:cNvPr id="6" name="Text 6"/>
          <p:cNvSpPr/>
          <p:nvPr/>
        </p:nvSpPr>
        <p:spPr>
          <a:xfrm>
            <a:off x="7620000" y="5334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300" dirty="0">
                <a:solidFill>
                  <a:srgbClr val="A8A29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COURSE COMPLETE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2286000"/>
            <a:ext cx="9525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spc="400" dirty="0">
                <a:solidFill>
                  <a:srgbClr val="A7E5D3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전 3회차 완주</a:t>
            </a:r>
          </a:p>
        </p:txBody>
      </p:sp>
      <p:sp>
        <p:nvSpPr>
          <p:cNvPr id="8" name="Text 8"/>
          <p:cNvSpPr/>
          <p:nvPr/>
        </p:nvSpPr>
        <p:spPr>
          <a:xfrm>
            <a:off x="723900" y="2571750"/>
            <a:ext cx="106680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5400" kern="0" spc="-100" dirty="0">
                <a:solidFill>
                  <a:srgbClr val="FFFFFF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이제 리딩이 손에 있다</a:t>
            </a:r>
          </a:p>
        </p:txBody>
      </p:sp>
      <p:sp>
        <p:nvSpPr>
          <p:cNvPr id="9" name="Text 9"/>
          <p:cNvSpPr/>
          <p:nvPr/>
        </p:nvSpPr>
        <p:spPr>
          <a:xfrm>
            <a:off x="762000" y="3733800"/>
            <a:ext cx="10668000" cy="495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A8A29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원국 → 대운·세운 → 4단계 리딩까지, 사주를 읽는 뼈대가 완성됐습니다</a:t>
            </a:r>
          </a:p>
        </p:txBody>
      </p:sp>
      <p:sp>
        <p:nvSpPr>
          <p:cNvPr id="10" name="Shape 10"/>
          <p:cNvSpPr/>
          <p:nvPr/>
        </p:nvSpPr>
        <p:spPr>
          <a:xfrm>
            <a:off x="762000" y="4419600"/>
            <a:ext cx="3403600" cy="1143000"/>
          </a:xfrm>
          <a:prstGeom prst="roundRect">
            <a:avLst>
              <a:gd name="adj" fmla="val 8000"/>
            </a:avLst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1" name="Text 11"/>
          <p:cNvSpPr/>
          <p:nvPr/>
        </p:nvSpPr>
        <p:spPr>
          <a:xfrm>
            <a:off x="1028700" y="4648200"/>
            <a:ext cx="28702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A7E5D3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原</a:t>
            </a:r>
          </a:p>
        </p:txBody>
      </p:sp>
      <p:sp>
        <p:nvSpPr>
          <p:cNvPr id="12" name="Text 12"/>
          <p:cNvSpPr/>
          <p:nvPr/>
        </p:nvSpPr>
        <p:spPr>
          <a:xfrm>
            <a:off x="1028700" y="5029200"/>
            <a:ext cx="2870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1회차 · 원국</a:t>
            </a:r>
          </a:p>
        </p:txBody>
      </p:sp>
      <p:sp>
        <p:nvSpPr>
          <p:cNvPr id="13" name="Text 13"/>
          <p:cNvSpPr/>
          <p:nvPr/>
        </p:nvSpPr>
        <p:spPr>
          <a:xfrm>
            <a:off x="1028700" y="5276850"/>
            <a:ext cx="287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타고난 여덟 글자</a:t>
            </a:r>
          </a:p>
        </p:txBody>
      </p:sp>
      <p:sp>
        <p:nvSpPr>
          <p:cNvPr id="14" name="Shape 14"/>
          <p:cNvSpPr/>
          <p:nvPr/>
        </p:nvSpPr>
        <p:spPr>
          <a:xfrm>
            <a:off x="4394200" y="4419600"/>
            <a:ext cx="3403600" cy="1143000"/>
          </a:xfrm>
          <a:prstGeom prst="roundRect">
            <a:avLst>
              <a:gd name="adj" fmla="val 8000"/>
            </a:avLst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5" name="Text 15"/>
          <p:cNvSpPr/>
          <p:nvPr/>
        </p:nvSpPr>
        <p:spPr>
          <a:xfrm>
            <a:off x="4660900" y="4648200"/>
            <a:ext cx="28702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A7E5D3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運</a:t>
            </a:r>
          </a:p>
        </p:txBody>
      </p:sp>
      <p:sp>
        <p:nvSpPr>
          <p:cNvPr id="16" name="Text 16"/>
          <p:cNvSpPr/>
          <p:nvPr/>
        </p:nvSpPr>
        <p:spPr>
          <a:xfrm>
            <a:off x="4660900" y="5029200"/>
            <a:ext cx="2870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2회차 · 대운·세운</a:t>
            </a:r>
          </a:p>
        </p:txBody>
      </p:sp>
      <p:sp>
        <p:nvSpPr>
          <p:cNvPr id="17" name="Text 17"/>
          <p:cNvSpPr/>
          <p:nvPr/>
        </p:nvSpPr>
        <p:spPr>
          <a:xfrm>
            <a:off x="4660900" y="5276850"/>
            <a:ext cx="287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시간의 흐름 읽기</a:t>
            </a:r>
          </a:p>
        </p:txBody>
      </p:sp>
      <p:sp>
        <p:nvSpPr>
          <p:cNvPr id="18" name="Shape 18"/>
          <p:cNvSpPr/>
          <p:nvPr/>
        </p:nvSpPr>
        <p:spPr>
          <a:xfrm>
            <a:off x="8026400" y="4419600"/>
            <a:ext cx="3403600" cy="1143000"/>
          </a:xfrm>
          <a:prstGeom prst="roundRect">
            <a:avLst>
              <a:gd name="adj" fmla="val 8000"/>
            </a:avLst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9" name="Text 19"/>
          <p:cNvSpPr/>
          <p:nvPr/>
        </p:nvSpPr>
        <p:spPr>
          <a:xfrm>
            <a:off x="8293100" y="4648200"/>
            <a:ext cx="28702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A7E5D3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讀</a:t>
            </a:r>
          </a:p>
        </p:txBody>
      </p:sp>
      <p:sp>
        <p:nvSpPr>
          <p:cNvPr id="20" name="Text 20"/>
          <p:cNvSpPr/>
          <p:nvPr/>
        </p:nvSpPr>
        <p:spPr>
          <a:xfrm>
            <a:off x="8293100" y="5029200"/>
            <a:ext cx="2870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3회차 · 리딩</a:t>
            </a:r>
          </a:p>
        </p:txBody>
      </p:sp>
      <p:sp>
        <p:nvSpPr>
          <p:cNvPr id="21" name="Text 21"/>
          <p:cNvSpPr/>
          <p:nvPr/>
        </p:nvSpPr>
        <p:spPr>
          <a:xfrm>
            <a:off x="8293100" y="5276850"/>
            <a:ext cx="287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4단계로 직접 풀기</a:t>
            </a:r>
          </a:p>
        </p:txBody>
      </p:sp>
      <p:sp>
        <p:nvSpPr>
          <p:cNvPr id="22" name="Shape 22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1C1917"/>
            </a:solidFill>
            <a:prstDash val="solid"/>
          </a:ln>
        </p:spPr>
      </p:sp>
      <p:sp>
        <p:nvSpPr>
          <p:cNvPr id="23" name="Text 23"/>
          <p:cNvSpPr/>
          <p:nvPr/>
        </p:nvSpPr>
        <p:spPr>
          <a:xfrm>
            <a:off x="762000" y="6438900"/>
            <a:ext cx="762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수고하셨습니다 · 이제 실전 — 여러 사주를 직접 풀며 익히세요</a:t>
            </a:r>
          </a:p>
        </p:txBody>
      </p:sp>
      <p:sp>
        <p:nvSpPr>
          <p:cNvPr id="24" name="Text 24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와이드스크린</PresentationFormat>
  <Slides>26</Slides>
  <Company>수수 사주교육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사주교육 3회차 — 실전 사주 리딩</dc:title>
  <dc:creator>수수 사주교육</dc:creator>
  <cp:lastModifiedBy>수수 사주교육</cp:lastModifiedBy>
</cp:coreProperties>
</file>